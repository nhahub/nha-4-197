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review committee and introduce the team by name. This is the full technical review: every dataset, both trained models (CO2 regression + waste image classifier), the live API, the deployed frontend, and deployment architecture. State upfront that every number in this deck comes directly from the project's notebooks and code — nothing invented, and gaps are flagged rather than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four headline stats — open dumping dominates globally (33.6%), recycling is rare (9.7%), collection infrastructure fails in nearly a fifth of countries, and a quarter of cities studied have poor air quality. These aren't abstractions; they come directly from cleaning and analyzing the real municipal-waste and city-quality datasets. Then walk the four challenges box: the core gap is that there's no simple, science-based decision tool for individuals or city planners, and the Egypt statistic (3rd globally in mismanaged plastic waste per capita) makes this personally relevant to this audience rather than a distant global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real capabilities, not aspirational ones: the CO2 simulator, vision analysis (both a trained classifier and vision-LLM services), the Eco AI Advisor chatbot, and the unified web app connecting all of them. Objectives box: the north star is making environmental data actionable in under 30 seconds, giving city planners a simulation tool, and — importantly — moving from a collection of separate notebooks and scripts to one connected platform, which is exactly what the deployment and live-demo slides later in this deck demonstrate.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datasets covering the environmental and waste-management side of the project. Confidence levels are stated honestly: only the mismanaged-plastic-waste-per-capita OWID link is a confirmed match, since the cleaned CSV literally has a column named mismanaged_plastic_waste_kg_person_day — that's that exact OWID indicator. The municipal waste and cities datasets are real and used throughout the EDA, but their precise origin isn't documented inside the notebooks themselves, so each is labeled by confidence rather than asserted as a match to a specific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materials recycling dataset — 25,000 individual item records with two potential targets (is it recyclable, and what disposal method was actually used). The most important engineering note here is the 12 excluded outcome columns — CO2 saved, revenue, eco-scores — which are computed FROM the outcome and would leak information if used as features. Right: the image dataset — 12,259 photos across 10 classes, shown here as a sample grid, matching Kaggle's garbage-classification-v2 by class overlap even though the notebook doesn't name its source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directly justified the product direction: since open dumping — not recycling — is the dominant real-world outcome globally, the AI tools needed to help with practical disposal decisions and pollution detection rather than assuming recycling infrastructure is universally available. The collection-gap stat (49 of 239 countries below 50% collection) reinforced that infrastructure, not just individual behavior, is a major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fresh from the cleaned 107-country plastic waste dataset to highlight the worst performers; Egypt is highlighted in coral since it ranks 3rd worldwide and is directly relevant to this audience. Two structural relationships in the underlying data are worth mentioning if asked: coastal population size correlates with total mismanaged plastic tonnage (more coastline exposure, more ocean-bound pollution risk), and economic status correlates with mismanagement efficiency — lower and lower-middle income countries mismanage a higher proportion of the plastic they generate.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histograms show real spread, not just averages — a city at the 25th percentile for air quality is a very different place to live than one at the 75th. The extremes are worth naming directly: Finland's cities average 95.8 on air quality versus China's 10.8, and Sweden's water pollution score of 18.8 versus Lebanon's 90.8. This dataset (3,937 cities, 176 countries) is what makes the next slide's correlation analysis possible — connecting disposal-method choices to measurable environmental outcomes rather than just assuming a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arguably the single most important EDA slide for justifying the product's direction. By matching the municipal-waste-methods dataset to the city air/water-quality dataset on 120 shared countries, a real (not assumed) relationship emerges: countries that rely more on open dumping have measurably worse air quality (r=-0.50) and worse water pollution (r=+0.51), while countries with higher recycling rates have measurably better air quality (r=+0.43). These are moderate, not perfect, correlations — worth being precise about that if asked — but they're strong enough to justify building tools that nudge disposal behavior rather than just tracking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charts justify the preprocessing decisions covered two slides later. Missing-values chart: energy_per_gdp and gas_co2 were worst at ~47.5% missing — small/non-industrial countries simply don't report or have gas emissions, which is why the later fill strategy uses structural zeros rather than dropping those countries entirely. Outlier chart: co2_growth_prct is a percentage-change column that can explode mathematically when a near-zero value moves slightly — capping at the 1st/99th percentile fixed 259 extreme points without touching genuine underlying emissions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(generated fresh from the actual groupby table in the notebook, not the raw output): electronic waste stands out dramatically — 48,407 kg CO2e average GHG reduction per item, an order of magnitude above every other material type, and it also has the highest average net revenue at $6,714, making it the clearest impact-plus-profit case in the whole materials dataset. Right chart: regional share of total CO2 saved, with Asia-Pacific leading. This EDA is exploratory only in the current project — this materials dataset has not yet been used to train a supervised recyclability or disposal-method model, which is one of the clear next steps covered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deck. Ten stages, read left to right then top to bottom: data collection across 6 datasets, exploration (the six EDA slides just shown), cleaning, preprocessing, feature engineering, training two models (5 regression candidates plus one CV classifier), evaluation, deployment via FastAPI in Docker (highlighted), the Next.js application layer, and finally the end user making a prediction through chat, an image scan, or a city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preprocessing decisions for the tabular/regression data, each justified by WHY rather than implementation detail. The two worth emphasizing if asked: the 'fix impossible values' step deliberately excludes total_ghg, methane, and nitrous_oxide from the non-negative rule because OWID's codebook defines them as including land-use absorption, so a real negative value is scientifically valid for some countries. And the last card — encoding country/iso_code — is flagged here because it directly connects to the leakage caveat discussed under Model Selection; it's listed as a real preprocessing step, not hidden, even though it turned out to have an important side effect on the final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preprocessing decisions for the computer-vision side. The folder-naming convention (standardized_2569) reflects PyTorch's ImageFolder pattern, where each class gets its own subdirectory and labels are assigned automatically from folder names. Resize-and-normalize is required for transfer learning from an ImageNet-pretrained backbone to work at all. The 80/20 split is a simple random split, not stratified by class — worth noting if any class is underrepresented. Most importantly, no data augmentation was applied at all — this is called out honestly as a real limitation, and it's very likely part of why training accuracy (93%) pulled ahead of validation accuracy (88%): augmentation is one of the most standard ways to close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table plainly — Ridge wins on R²/RMSE, Random Forest actually has the lowest MAE, XGBoost surprisingly underperforms simpler models here. Then spend real time on the caveat box, the most important thing on this slide: the feature matrix includes one-hot encoded country and iso_code columns, and since a country's CO2 per capita doesn't change dramatically year to year, a linear model with a country-identity feature can achieve a very high R² partly by learning a per-country baseline rather than the causal drivers. This doesn't invalidate the result, but it means R²=0.99 shouldn't be read as 'the model deeply understands emissions physics' — flag this honestly if asked, exactly as the brief requires for imperfect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the regression task, only one architecture was tried for the image classifier — MobileNetV2 with transfer learning. The reasoning for this choice is practical: it's lightweight enough to train on CPU (no GPU was available), it's a well-proven transfer-learning approach, and it handles a 10-class problem with a moderate-sized dataset (12,259 images) reasonably well. The honest gap, worth stating directly: there's no architecture comparison in the provided files — no evidence that ResNet, EfficientNet or other backbones were tried and benchmarked against MobileNetV2. This is named as a Future Work item rather than glossed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training workflows side by side, since this project has two independent trained models. Left: the regression models — a single fixed 80/20 split, no cross-validation and no hyperparameter search grid in this notebook (each model uses one manually chosen configuration), and no MLflow-style tracking. Right: the CV classifier — a straightforward transfer-learning run, 10 epochs, no augmentation, CPU-only. Both sides end on the same honest note: no experiment-tracking tool exists anywhere in the provided files, only final model artifacts. If asked why no cross-validation or tuning was done, be straightforward: the provided notebooks simply don't show that step — it's a natural next improvement, covered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the head-to-head comparison across all 5 models. Point out that Ridge wins on R² and RMSE, but Random Forest actually has the single lowest MAE — meaning Random Forest's typical error is smaller even though its worst-case errors (captured by RMSE) are larger than Ridge's. This nuance matters: which metric to optimize for depends on whether occasional large errors or consistent typical error matters more for the use case. The next slide covers the important caveats behind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on the weaknesses box — the brief explicitly requires not hiding poor or ambiguous results. Two points deserve the most emphasis: first, the notebook's own printed output (X_train shape of 9,780 rows by 354 columns) can't be reproduced from the visible code, which only manipulates about 32 original columns — this strongly suggests the notebook was edited after the cells that actually produced that output were run, a real reproducibility issue worth fixing. Second, the country/iso_code encoding caveat from the Model Selection slide directly limits how much to trust the R²=0.99 headline number as evidence of true predictive understanding versus per-country memorization. Presenting both transparently is more credible than presenting clean-looking numbers without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training curves: accuracy climbs steadily from about 76% to a peak near 93.5% over 10 epochs, with loss dropping correspondingly — a healthy training run. The headline number is 87.89% validation accuracy on 2,452 held-out images. Don't skip the limitation box: a single-image sanity check in the notebook actually got a wrong prediction (a metal item misclassified as battery at 56% confidence) — this is included to show scientific honesty rather than cherry-picking success. Also note there's no confusion matrix or per-class breakdown anywhere in the provided files, so it's not possible to say which of the 10 classes the model struggles with most — a good Future Work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generic User → Frontend → API → Docker → Model → Result flow first, then immediately ground it in what's actually confirmed versus not. Confirmed and real: the Dockerfile serves the FastAPI app via uvicorn on port 7860, four endpoints genuinely work end-to-end using Groq-hosted LLMs, and a real Next.js frontend (covered on the Live Demo slide) calls them directly thanks to open CORS. The honest gap: the two models actually trained in this project — the CO2 regressor and the waste-image classifier — are not the models being served by the live API today; the deployed chat/simulation/vision features go through Groq's hosted models instead. This is a real and important distinction: the trained models and the deployed API are currently two separate tracks of work that haven't been merged — exactly what Future Work should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four headline numbers, then walk the three cards. Main Findings restates the two biggest data insights: open dumping dominates global waste disposal, and country identity turned out to be a suspiciously strong predictor of CO2 per capita. Selected Models &amp; Why: Ridge for regression on test-set R² (with the leakage caveat noted honestly), MobileNetV2 for the image classifier for practical CPU training. Impact &amp; Lessons Learned: the most important lesson from this whole review is that a working demo (the frontend + LLM-backed API) and the actual trained models are currently two separate tracks — that gap, and how to close it, is the clearest, most honest takeaway for the review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generic flow first — user input, API request, model/LLM response, displayed result — then ground it in the real, working frontend built for this project: a Next.js application with 7 connected pages (landing, dashboard, city simulator, vision lab with pollution/recycling tabs, chatbot, about, contact, plus a custom 404), each wired to the actual live FastAPI endpoints with proper loading, error, and empty states. Be transparent that no screenshots are included in this deck — they weren't available to capture in this environment — but the frontend code itself is a real, build-verified deliverable, not a mockup. If doing a live walkthrough, the natural demo order is: dashboard → simulator (structured input) → vision lab (image upload) → chatbot (open-ended).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all six required items plainly — green means delivered, amber means partial, red means not provided. Working API and Trained Models are solid green: four endpoints genuinely run, and both models are saved as real artifacts. MLOps and Dataset Access are amber/partial: Docker is real and confirmed, but there's no MLflow or similar tracking tool anywhere, and only one dataset source URL is fully confirmed by name-matching. GitHub Repository and Final Report are honestly marked as not provided — no repo link or standalone documentation file was included, so rather than fabricate one, it's flagged directly. The bonus item at the bottom is worth mentioning proudly: a full working frontend was also built and verified in this project, beyond what the required deliverables list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review committee and open the floor. Likely questions to be ready for: why Ridge over the tree ensembles despite the country-encoding caveat (test-set R² was simply highest, but flag it as worth re-testing without country identity); why the live API and frontend don't yet serve the two trained models (they're a separate track from the LLM-based endpoints — a clear next step); why no data augmentation was used for the image classifier; and what's missing for a full production handoff (GitHub repo link, a written report, and an experiment-tracking tool, all named honestly on the deliverables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2.png"/><Relationship Id="rId5" Type="http://schemas.openxmlformats.org/officeDocument/2006/relationships/image" Target="../media/image-12-5.png"/><Relationship Id="rId6" Type="http://schemas.openxmlformats.org/officeDocument/2006/relationships/image" Target="../media/image-12-2.png"/><Relationship Id="rId7" Type="http://schemas.openxmlformats.org/officeDocument/2006/relationships/image" Target="../media/image-12-7.png"/><Relationship Id="rId8" Type="http://schemas.openxmlformats.org/officeDocument/2006/relationships/image" Target="../media/image-12-2.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2.png"/><Relationship Id="rId12" Type="http://schemas.openxmlformats.org/officeDocument/2006/relationships/image" Target="../media/image-12-12.png"/><Relationship Id="rId13" Type="http://schemas.openxmlformats.org/officeDocument/2006/relationships/image" Target="../media/image-12-2.png"/><Relationship Id="rId14" Type="http://schemas.openxmlformats.org/officeDocument/2006/relationships/image" Target="../media/image-12-14.png"/><Relationship Id="rId15" Type="http://schemas.openxmlformats.org/officeDocument/2006/relationships/image" Target="../media/image-12-2.png"/><Relationship Id="rId16" Type="http://schemas.openxmlformats.org/officeDocument/2006/relationships/image" Target="../media/image-12-16.png"/><Relationship Id="rId17" Type="http://schemas.openxmlformats.org/officeDocument/2006/relationships/image" Target="../media/image-12-2.png"/><Relationship Id="rId18" Type="http://schemas.openxmlformats.org/officeDocument/2006/relationships/image" Target="../media/image-12-18.png"/><Relationship Id="rId19" Type="http://schemas.openxmlformats.org/officeDocument/2006/relationships/image" Target="../media/image-12-2.png"/><Relationship Id="rId20" Type="http://schemas.openxmlformats.org/officeDocument/2006/relationships/slideLayout" Target="../slideLayouts/slideLayout1.xml"/><Relationship Id="rId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2.png"/><Relationship Id="rId5" Type="http://schemas.openxmlformats.org/officeDocument/2006/relationships/image" Target="../media/image-21-5.png"/><Relationship Id="rId6" Type="http://schemas.openxmlformats.org/officeDocument/2006/relationships/image" Target="../media/image-21-2.png"/><Relationship Id="rId7" Type="http://schemas.openxmlformats.org/officeDocument/2006/relationships/image" Target="../media/image-21-7.png"/><Relationship Id="rId8" Type="http://schemas.openxmlformats.org/officeDocument/2006/relationships/image" Target="../media/image-21-2.png"/><Relationship Id="rId9" Type="http://schemas.openxmlformats.org/officeDocument/2006/relationships/image" Target="../media/image-21-9.png"/><Relationship Id="rId10" Type="http://schemas.openxmlformats.org/officeDocument/2006/relationships/image" Target="../media/image-21-2.png"/><Relationship Id="rId11" Type="http://schemas.openxmlformats.org/officeDocument/2006/relationships/image" Target="../media/image-21-11.png"/><Relationship Id="rId12" Type="http://schemas.openxmlformats.org/officeDocument/2006/relationships/slideLayout" Target="../slideLayouts/slideLayout1.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2.png"/><Relationship Id="rId5" Type="http://schemas.openxmlformats.org/officeDocument/2006/relationships/image" Target="../media/image-23-5.png"/><Relationship Id="rId6" Type="http://schemas.openxmlformats.org/officeDocument/2006/relationships/image" Target="../media/image-23-2.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1.png"/><Relationship Id="rId4" Type="http://schemas.openxmlformats.org/officeDocument/2006/relationships/image" Target="../media/image-24-4.png"/><Relationship Id="rId5" Type="http://schemas.openxmlformats.org/officeDocument/2006/relationships/image" Target="../media/image-24-1.png"/><Relationship Id="rId6" Type="http://schemas.openxmlformats.org/officeDocument/2006/relationships/image" Target="../media/image-24-2.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2E"/>
        </a:solidFill>
      </p:bgPr>
    </p:bg>
    <p:spTree>
      <p:nvGrpSpPr>
        <p:cNvPr id="1" name=""/>
        <p:cNvGrpSpPr/>
        <p:nvPr/>
      </p:nvGrpSpPr>
      <p:grpSpPr>
        <a:xfrm>
          <a:off x="0" y="0"/>
          <a:ext cx="0" cy="0"/>
          <a:chOff x="0" y="0"/>
          <a:chExt cx="0" cy="0"/>
        </a:xfrm>
      </p:grpSpPr>
      <p:sp>
        <p:nvSpPr>
          <p:cNvPr id="2" name="Shape 0"/>
          <p:cNvSpPr/>
          <p:nvPr/>
        </p:nvSpPr>
        <p:spPr>
          <a:xfrm>
            <a:off x="8778240" y="-2103120"/>
            <a:ext cx="5943600" cy="5943600"/>
          </a:xfrm>
          <a:prstGeom prst="ellipse">
            <a:avLst/>
          </a:prstGeom>
          <a:solidFill>
            <a:srgbClr val="2E7D5B">
              <a:alpha val="22000"/>
            </a:srgbClr>
          </a:solidFill>
          <a:ln/>
        </p:spPr>
      </p:sp>
      <p:sp>
        <p:nvSpPr>
          <p:cNvPr id="3" name="Shape 1"/>
          <p:cNvSpPr/>
          <p:nvPr/>
        </p:nvSpPr>
        <p:spPr>
          <a:xfrm>
            <a:off x="-2377440" y="3840480"/>
            <a:ext cx="5120640" cy="5120640"/>
          </a:xfrm>
          <a:prstGeom prst="ellipse">
            <a:avLst/>
          </a:prstGeom>
          <a:solidFill>
            <a:srgbClr val="8FD9B6">
              <a:alpha val="12000"/>
            </a:srgbClr>
          </a:solidFill>
          <a:ln/>
        </p:spPr>
      </p:sp>
      <p:sp>
        <p:nvSpPr>
          <p:cNvPr id="4" name="Shape 2"/>
          <p:cNvSpPr/>
          <p:nvPr/>
        </p:nvSpPr>
        <p:spPr>
          <a:xfrm>
            <a:off x="822960" y="731520"/>
            <a:ext cx="777240" cy="777240"/>
          </a:xfrm>
          <a:prstGeom prst="ellipse">
            <a:avLst/>
          </a:prstGeom>
          <a:solidFill>
            <a:srgbClr val="1B5E42"/>
          </a:solidFill>
          <a:ln/>
        </p:spPr>
      </p:sp>
      <p:pic>
        <p:nvPicPr>
          <p:cNvPr id="5" name="Image 0" descr="/home/claude/greencycle_deck2/assets/FaRecycle_white.png">    </p:cNvPr>
          <p:cNvPicPr>
            <a:picLocks noChangeAspect="1"/>
          </p:cNvPicPr>
          <p:nvPr/>
        </p:nvPicPr>
        <p:blipFill>
          <a:blip r:embed="rId1"/>
          <a:stretch>
            <a:fillRect/>
          </a:stretch>
        </p:blipFill>
        <p:spPr>
          <a:xfrm>
            <a:off x="924001" y="832561"/>
            <a:ext cx="575158" cy="575158"/>
          </a:xfrm>
          <a:prstGeom prst="rect">
            <a:avLst/>
          </a:prstGeom>
        </p:spPr>
      </p:pic>
      <p:sp>
        <p:nvSpPr>
          <p:cNvPr id="6" name="Text 3"/>
          <p:cNvSpPr/>
          <p:nvPr/>
        </p:nvSpPr>
        <p:spPr>
          <a:xfrm>
            <a:off x="1783080" y="777240"/>
            <a:ext cx="7315200" cy="640080"/>
          </a:xfrm>
          <a:prstGeom prst="rect">
            <a:avLst/>
          </a:prstGeom>
          <a:noFill/>
          <a:ln/>
        </p:spPr>
        <p:txBody>
          <a:bodyPr wrap="square" lIns="0" tIns="0" rIns="0" bIns="0" rtlCol="0" anchor="ctr"/>
          <a:lstStyle/>
          <a:p>
            <a:pPr indent="0" marL="0">
              <a:buNone/>
            </a:pPr>
            <a:r>
              <a:rPr lang="en-US" sz="1500" b="1" spc="300" kern="0" dirty="0">
                <a:solidFill>
                  <a:srgbClr val="8FD9B6"/>
                </a:solidFill>
                <a:latin typeface="Calibri" pitchFamily="34" charset="0"/>
                <a:ea typeface="Calibri" pitchFamily="34" charset="-122"/>
                <a:cs typeface="Calibri" pitchFamily="34" charset="-120"/>
              </a:rPr>
              <a:t>GREENCYCLE</a:t>
            </a:r>
            <a:endParaRPr lang="en-US" sz="1500" dirty="0"/>
          </a:p>
        </p:txBody>
      </p:sp>
      <p:sp>
        <p:nvSpPr>
          <p:cNvPr id="7" name="Text 4"/>
          <p:cNvSpPr/>
          <p:nvPr/>
        </p:nvSpPr>
        <p:spPr>
          <a:xfrm>
            <a:off x="822960" y="205740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GreenCycle</a:t>
            </a:r>
            <a:endParaRPr lang="en-US" sz="5400" dirty="0"/>
          </a:p>
        </p:txBody>
      </p:sp>
      <p:sp>
        <p:nvSpPr>
          <p:cNvPr id="8" name="Text 5"/>
          <p:cNvSpPr/>
          <p:nvPr/>
        </p:nvSpPr>
        <p:spPr>
          <a:xfrm>
            <a:off x="822960" y="2971800"/>
            <a:ext cx="9784080" cy="502920"/>
          </a:xfrm>
          <a:prstGeom prst="rect">
            <a:avLst/>
          </a:prstGeom>
          <a:noFill/>
          <a:ln/>
        </p:spPr>
        <p:txBody>
          <a:bodyPr wrap="square" lIns="0" tIns="0" rIns="0" bIns="0" rtlCol="0" anchor="ctr"/>
          <a:lstStyle/>
          <a:p>
            <a:pPr indent="0" marL="0">
              <a:buNone/>
            </a:pPr>
            <a:r>
              <a:rPr lang="en-US" sz="1800" i="1" dirty="0">
                <a:solidFill>
                  <a:srgbClr val="8FD9B6"/>
                </a:solidFill>
                <a:latin typeface="Calibri" pitchFamily="34" charset="0"/>
                <a:ea typeface="Calibri" pitchFamily="34" charset="-122"/>
                <a:cs typeface="Calibri" pitchFamily="34" charset="-120"/>
              </a:rPr>
              <a:t>AI-Powered Environmental Intelligence Platform</a:t>
            </a:r>
            <a:endParaRPr lang="en-US" sz="1800" dirty="0"/>
          </a:p>
        </p:txBody>
      </p:sp>
      <p:sp>
        <p:nvSpPr>
          <p:cNvPr id="9" name="Text 6"/>
          <p:cNvSpPr/>
          <p:nvPr/>
        </p:nvSpPr>
        <p:spPr>
          <a:xfrm>
            <a:off x="822960" y="3429000"/>
            <a:ext cx="9601200" cy="457200"/>
          </a:xfrm>
          <a:prstGeom prst="rect">
            <a:avLst/>
          </a:prstGeom>
          <a:noFill/>
          <a:ln/>
        </p:spPr>
        <p:txBody>
          <a:bodyPr wrap="square" lIns="0" tIns="0" rIns="0" bIns="0" rtlCol="0" anchor="ctr"/>
          <a:lstStyle/>
          <a:p>
            <a:pPr indent="0" marL="0">
              <a:buNone/>
            </a:pPr>
            <a:r>
              <a:rPr lang="en-US" sz="1250" dirty="0">
                <a:solidFill>
                  <a:srgbClr val="B7DDC9"/>
                </a:solidFill>
                <a:latin typeface="Calibri" pitchFamily="34" charset="0"/>
                <a:ea typeface="Calibri" pitchFamily="34" charset="-122"/>
                <a:cs typeface="Calibri" pitchFamily="34" charset="-120"/>
              </a:rPr>
              <a:t>A full technical review: data pipeline, trained models, live API, and deployed web application.</a:t>
            </a:r>
            <a:endParaRPr lang="en-US" sz="1250" dirty="0"/>
          </a:p>
        </p:txBody>
      </p:sp>
      <p:sp>
        <p:nvSpPr>
          <p:cNvPr id="10" name="Shape 7"/>
          <p:cNvSpPr/>
          <p:nvPr/>
        </p:nvSpPr>
        <p:spPr>
          <a:xfrm>
            <a:off x="841248" y="4069080"/>
            <a:ext cx="4023360" cy="0"/>
          </a:xfrm>
          <a:prstGeom prst="line">
            <a:avLst/>
          </a:prstGeom>
          <a:noFill/>
          <a:ln w="12700">
            <a:solidFill>
              <a:srgbClr val="2E7D5B"/>
            </a:solidFill>
            <a:prstDash val="solid"/>
          </a:ln>
        </p:spPr>
      </p:sp>
      <p:sp>
        <p:nvSpPr>
          <p:cNvPr id="11" name="Text 8"/>
          <p:cNvSpPr/>
          <p:nvPr/>
        </p:nvSpPr>
        <p:spPr>
          <a:xfrm>
            <a:off x="822960" y="4251960"/>
            <a:ext cx="3657600" cy="320040"/>
          </a:xfrm>
          <a:prstGeom prst="rect">
            <a:avLst/>
          </a:prstGeom>
          <a:noFill/>
          <a:ln/>
        </p:spPr>
        <p:txBody>
          <a:bodyPr wrap="square" lIns="0" tIns="0" rIns="0" bIns="0" rtlCol="0" anchor="ctr"/>
          <a:lstStyle/>
          <a:p>
            <a:pPr indent="0" marL="0">
              <a:buNone/>
            </a:pPr>
            <a:r>
              <a:rPr lang="en-US" sz="1100" b="1" spc="200" kern="0" dirty="0">
                <a:solidFill>
                  <a:srgbClr val="9FC9B3"/>
                </a:solidFill>
                <a:latin typeface="Calibri" pitchFamily="34" charset="0"/>
                <a:ea typeface="Calibri" pitchFamily="34" charset="-122"/>
                <a:cs typeface="Calibri" pitchFamily="34" charset="-120"/>
              </a:rPr>
              <a:t>PROJECT TEAM</a:t>
            </a:r>
            <a:endParaRPr lang="en-US" sz="1100" dirty="0"/>
          </a:p>
        </p:txBody>
      </p:sp>
      <p:sp>
        <p:nvSpPr>
          <p:cNvPr id="12" name="Text 9"/>
          <p:cNvSpPr/>
          <p:nvPr/>
        </p:nvSpPr>
        <p:spPr>
          <a:xfrm>
            <a:off x="822960" y="4617720"/>
            <a:ext cx="3108960" cy="347472"/>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Ziad Omran</a:t>
            </a:r>
            <a:endParaRPr lang="en-US" sz="1450" dirty="0"/>
          </a:p>
        </p:txBody>
      </p:sp>
      <p:sp>
        <p:nvSpPr>
          <p:cNvPr id="13" name="Text 10"/>
          <p:cNvSpPr/>
          <p:nvPr/>
        </p:nvSpPr>
        <p:spPr>
          <a:xfrm>
            <a:off x="4114800" y="4617720"/>
            <a:ext cx="3108960" cy="347472"/>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Abdelrahman Kewan</a:t>
            </a:r>
            <a:endParaRPr lang="en-US" sz="1450" dirty="0"/>
          </a:p>
        </p:txBody>
      </p:sp>
      <p:sp>
        <p:nvSpPr>
          <p:cNvPr id="14" name="Text 11"/>
          <p:cNvSpPr/>
          <p:nvPr/>
        </p:nvSpPr>
        <p:spPr>
          <a:xfrm>
            <a:off x="822960" y="5001768"/>
            <a:ext cx="3108960" cy="347472"/>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Mostafa Shalan</a:t>
            </a:r>
            <a:endParaRPr lang="en-US" sz="1450" dirty="0"/>
          </a:p>
        </p:txBody>
      </p:sp>
      <p:sp>
        <p:nvSpPr>
          <p:cNvPr id="15" name="Text 12"/>
          <p:cNvSpPr/>
          <p:nvPr/>
        </p:nvSpPr>
        <p:spPr>
          <a:xfrm>
            <a:off x="4114800" y="5001768"/>
            <a:ext cx="3108960" cy="347472"/>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Mahmoud Amer</a:t>
            </a:r>
            <a:endParaRPr lang="en-US" sz="1450" dirty="0"/>
          </a:p>
        </p:txBody>
      </p:sp>
      <p:sp>
        <p:nvSpPr>
          <p:cNvPr id="16" name="Text 13"/>
          <p:cNvSpPr/>
          <p:nvPr/>
        </p:nvSpPr>
        <p:spPr>
          <a:xfrm>
            <a:off x="822960" y="5385816"/>
            <a:ext cx="3108960" cy="347472"/>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Sohila Ihab</a:t>
            </a:r>
            <a:endParaRPr lang="en-US" sz="1450" dirty="0"/>
          </a:p>
        </p:txBody>
      </p:sp>
      <p:sp>
        <p:nvSpPr>
          <p:cNvPr id="17" name="Text 14"/>
          <p:cNvSpPr/>
          <p:nvPr/>
        </p:nvSpPr>
        <p:spPr>
          <a:xfrm>
            <a:off x="4114800" y="5385816"/>
            <a:ext cx="3108960" cy="347472"/>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Shaza Beder</a:t>
            </a:r>
            <a:endParaRPr lang="en-US" sz="1450" dirty="0"/>
          </a:p>
        </p:txBody>
      </p:sp>
      <p:sp>
        <p:nvSpPr>
          <p:cNvPr id="18" name="Text 15"/>
          <p:cNvSpPr/>
          <p:nvPr/>
        </p:nvSpPr>
        <p:spPr>
          <a:xfrm>
            <a:off x="8348472" y="6355080"/>
            <a:ext cx="3474720" cy="320040"/>
          </a:xfrm>
          <a:prstGeom prst="rect">
            <a:avLst/>
          </a:prstGeom>
          <a:noFill/>
          <a:ln/>
        </p:spPr>
        <p:txBody>
          <a:bodyPr wrap="square" lIns="0" tIns="0" rIns="0" bIns="0" rtlCol="0" anchor="ctr"/>
          <a:lstStyle/>
          <a:p>
            <a:pPr algn="r" indent="0" marL="0">
              <a:buNone/>
            </a:pPr>
            <a:r>
              <a:rPr lang="en-US" sz="1050" dirty="0">
                <a:solidFill>
                  <a:srgbClr val="7FAF98"/>
                </a:solidFill>
                <a:latin typeface="Calibri" pitchFamily="34" charset="0"/>
                <a:ea typeface="Calibri" pitchFamily="34" charset="-122"/>
                <a:cs typeface="Calibri" pitchFamily="34" charset="-120"/>
              </a:rPr>
              <a:t>GreenCycle  •  Technical Review</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1. PROJECT DESCRIPTION  ·  PART 1</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The Problem, and Why It's Urgent</a:t>
            </a:r>
            <a:endParaRPr lang="en-US" sz="3000" dirty="0"/>
          </a:p>
        </p:txBody>
      </p:sp>
      <p:sp>
        <p:nvSpPr>
          <p:cNvPr id="4" name="Text 2"/>
          <p:cNvSpPr/>
          <p:nvPr/>
        </p:nvSpPr>
        <p:spPr>
          <a:xfrm>
            <a:off x="548640" y="1417320"/>
            <a:ext cx="11064240" cy="777240"/>
          </a:xfrm>
          <a:prstGeom prst="rect">
            <a:avLst/>
          </a:prstGeom>
          <a:noFill/>
          <a:ln/>
        </p:spPr>
        <p:txBody>
          <a:bodyPr wrap="square" lIns="0" tIns="0" rIns="0" bIns="0" rtlCol="0" anchor="ctr"/>
          <a:lstStyle/>
          <a:p>
            <a:pPr indent="0" marL="0">
              <a:buNone/>
            </a:pPr>
            <a:r>
              <a:rPr lang="en-US" sz="1250" dirty="0">
                <a:solidFill>
                  <a:srgbClr val="17261F"/>
                </a:solidFill>
                <a:latin typeface="Calibri" pitchFamily="34" charset="0"/>
                <a:ea typeface="Calibri" pitchFamily="34" charset="-122"/>
                <a:cs typeface="Calibri" pitchFamily="34" charset="-120"/>
              </a:rPr>
              <a:t>Across every dataset analyzed in this project — 239 countries' waste-management methods, 3,937 cities' air/water quality, and 107 countries' plastic-pollution figures — the same pattern repeats: waste is generated and mismanaged faster than it's tracked, and the environmental cost is measurable, not abstract.</a:t>
            </a:r>
            <a:endParaRPr lang="en-US" sz="1250" dirty="0"/>
          </a:p>
        </p:txBody>
      </p:sp>
      <p:sp>
        <p:nvSpPr>
          <p:cNvPr id="5" name="Shape 3"/>
          <p:cNvSpPr/>
          <p:nvPr/>
        </p:nvSpPr>
        <p:spPr>
          <a:xfrm>
            <a:off x="502920" y="2377440"/>
            <a:ext cx="2606040" cy="1234440"/>
          </a:xfrm>
          <a:prstGeom prst="roundRect">
            <a:avLst>
              <a:gd name="adj" fmla="val 5926"/>
            </a:avLst>
          </a:prstGeom>
          <a:solidFill>
            <a:srgbClr val="FCEAE5"/>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6" name="Text 4"/>
          <p:cNvSpPr/>
          <p:nvPr/>
        </p:nvSpPr>
        <p:spPr>
          <a:xfrm>
            <a:off x="502920" y="2496312"/>
            <a:ext cx="2606040" cy="502920"/>
          </a:xfrm>
          <a:prstGeom prst="rect">
            <a:avLst/>
          </a:prstGeom>
          <a:noFill/>
          <a:ln/>
        </p:spPr>
        <p:txBody>
          <a:bodyPr wrap="square" lIns="0" tIns="0" rIns="0" bIns="0" rtlCol="0" anchor="ctr"/>
          <a:lstStyle/>
          <a:p>
            <a:pPr algn="ctr" indent="0" marL="0">
              <a:buNone/>
            </a:pPr>
            <a:r>
              <a:rPr lang="en-US" sz="2500" b="1" dirty="0">
                <a:solidFill>
                  <a:srgbClr val="E76F51"/>
                </a:solidFill>
                <a:latin typeface="Cambria" pitchFamily="34" charset="0"/>
                <a:ea typeface="Cambria" pitchFamily="34" charset="-122"/>
                <a:cs typeface="Cambria" pitchFamily="34" charset="-120"/>
              </a:rPr>
              <a:t>33.6%</a:t>
            </a:r>
            <a:endParaRPr lang="en-US" sz="2500" dirty="0"/>
          </a:p>
        </p:txBody>
      </p:sp>
      <p:sp>
        <p:nvSpPr>
          <p:cNvPr id="7" name="Text 5"/>
          <p:cNvSpPr/>
          <p:nvPr/>
        </p:nvSpPr>
        <p:spPr>
          <a:xfrm>
            <a:off x="640080" y="3017520"/>
            <a:ext cx="2331720" cy="548640"/>
          </a:xfrm>
          <a:prstGeom prst="rect">
            <a:avLst/>
          </a:prstGeom>
          <a:noFill/>
          <a:ln/>
        </p:spPr>
        <p:txBody>
          <a:bodyPr wrap="square" lIns="0" tIns="0" rIns="0" bIns="0" rtlCol="0" anchor="ctr"/>
          <a:lstStyle/>
          <a:p>
            <a:pPr algn="ctr" indent="0" marL="0">
              <a:buNone/>
            </a:pPr>
            <a:r>
              <a:rPr lang="en-US" sz="900" dirty="0">
                <a:solidFill>
                  <a:srgbClr val="5B6F65"/>
                </a:solidFill>
                <a:latin typeface="Calibri" pitchFamily="34" charset="0"/>
                <a:ea typeface="Calibri" pitchFamily="34" charset="-122"/>
                <a:cs typeface="Calibri" pitchFamily="34" charset="-120"/>
              </a:rPr>
              <a:t>of global waste ends up in open dumps — the #1 disposal method worldwide</a:t>
            </a:r>
            <a:endParaRPr lang="en-US" sz="900" dirty="0"/>
          </a:p>
        </p:txBody>
      </p:sp>
      <p:sp>
        <p:nvSpPr>
          <p:cNvPr id="8" name="Shape 6"/>
          <p:cNvSpPr/>
          <p:nvPr/>
        </p:nvSpPr>
        <p:spPr>
          <a:xfrm>
            <a:off x="3291840" y="2377440"/>
            <a:ext cx="2606040" cy="1234440"/>
          </a:xfrm>
          <a:prstGeom prst="roundRect">
            <a:avLst>
              <a:gd name="adj" fmla="val 5926"/>
            </a:avLst>
          </a:prstGeom>
          <a:solidFill>
            <a:srgbClr val="FCEAE5"/>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9" name="Text 7"/>
          <p:cNvSpPr/>
          <p:nvPr/>
        </p:nvSpPr>
        <p:spPr>
          <a:xfrm>
            <a:off x="3291840" y="2496312"/>
            <a:ext cx="2606040" cy="502920"/>
          </a:xfrm>
          <a:prstGeom prst="rect">
            <a:avLst/>
          </a:prstGeom>
          <a:noFill/>
          <a:ln/>
        </p:spPr>
        <p:txBody>
          <a:bodyPr wrap="square" lIns="0" tIns="0" rIns="0" bIns="0" rtlCol="0" anchor="ctr"/>
          <a:lstStyle/>
          <a:p>
            <a:pPr algn="ctr" indent="0" marL="0">
              <a:buNone/>
            </a:pPr>
            <a:r>
              <a:rPr lang="en-US" sz="2500" b="1" dirty="0">
                <a:solidFill>
                  <a:srgbClr val="E76F51"/>
                </a:solidFill>
                <a:latin typeface="Cambria" pitchFamily="34" charset="0"/>
                <a:ea typeface="Cambria" pitchFamily="34" charset="-122"/>
                <a:cs typeface="Cambria" pitchFamily="34" charset="-120"/>
              </a:rPr>
              <a:t>9.7%</a:t>
            </a:r>
            <a:endParaRPr lang="en-US" sz="2500" dirty="0"/>
          </a:p>
        </p:txBody>
      </p:sp>
      <p:sp>
        <p:nvSpPr>
          <p:cNvPr id="10" name="Text 8"/>
          <p:cNvSpPr/>
          <p:nvPr/>
        </p:nvSpPr>
        <p:spPr>
          <a:xfrm>
            <a:off x="3429000" y="3017520"/>
            <a:ext cx="2331720" cy="548640"/>
          </a:xfrm>
          <a:prstGeom prst="rect">
            <a:avLst/>
          </a:prstGeom>
          <a:noFill/>
          <a:ln/>
        </p:spPr>
        <p:txBody>
          <a:bodyPr wrap="square" lIns="0" tIns="0" rIns="0" bIns="0" rtlCol="0" anchor="ctr"/>
          <a:lstStyle/>
          <a:p>
            <a:pPr algn="ctr" indent="0" marL="0">
              <a:buNone/>
            </a:pPr>
            <a:r>
              <a:rPr lang="en-US" sz="900" dirty="0">
                <a:solidFill>
                  <a:srgbClr val="5B6F65"/>
                </a:solidFill>
                <a:latin typeface="Calibri" pitchFamily="34" charset="0"/>
                <a:ea typeface="Calibri" pitchFamily="34" charset="-122"/>
                <a:cs typeface="Calibri" pitchFamily="34" charset="-120"/>
              </a:rPr>
              <a:t>of global waste is actually recycled</a:t>
            </a:r>
            <a:endParaRPr lang="en-US" sz="900" dirty="0"/>
          </a:p>
        </p:txBody>
      </p:sp>
      <p:sp>
        <p:nvSpPr>
          <p:cNvPr id="11" name="Shape 9"/>
          <p:cNvSpPr/>
          <p:nvPr/>
        </p:nvSpPr>
        <p:spPr>
          <a:xfrm>
            <a:off x="6080760" y="2377440"/>
            <a:ext cx="2606040" cy="1234440"/>
          </a:xfrm>
          <a:prstGeom prst="roundRect">
            <a:avLst>
              <a:gd name="adj" fmla="val 5926"/>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2" name="Text 10"/>
          <p:cNvSpPr/>
          <p:nvPr/>
        </p:nvSpPr>
        <p:spPr>
          <a:xfrm>
            <a:off x="6080760" y="2496312"/>
            <a:ext cx="2606040" cy="502920"/>
          </a:xfrm>
          <a:prstGeom prst="rect">
            <a:avLst/>
          </a:prstGeom>
          <a:noFill/>
          <a:ln/>
        </p:spPr>
        <p:txBody>
          <a:bodyPr wrap="square" lIns="0" tIns="0" rIns="0" bIns="0" rtlCol="0" anchor="ctr"/>
          <a:lstStyle/>
          <a:p>
            <a:pPr algn="ctr" indent="0" marL="0">
              <a:buNone/>
            </a:pPr>
            <a:r>
              <a:rPr lang="en-US" sz="2500" b="1" dirty="0">
                <a:solidFill>
                  <a:srgbClr val="1B5E42"/>
                </a:solidFill>
                <a:latin typeface="Cambria" pitchFamily="34" charset="0"/>
                <a:ea typeface="Cambria" pitchFamily="34" charset="-122"/>
                <a:cs typeface="Cambria" pitchFamily="34" charset="-120"/>
              </a:rPr>
              <a:t>49</a:t>
            </a:r>
            <a:endParaRPr lang="en-US" sz="2500" dirty="0"/>
          </a:p>
        </p:txBody>
      </p:sp>
      <p:sp>
        <p:nvSpPr>
          <p:cNvPr id="13" name="Text 11"/>
          <p:cNvSpPr/>
          <p:nvPr/>
        </p:nvSpPr>
        <p:spPr>
          <a:xfrm>
            <a:off x="6217920" y="3017520"/>
            <a:ext cx="2331720" cy="548640"/>
          </a:xfrm>
          <a:prstGeom prst="rect">
            <a:avLst/>
          </a:prstGeom>
          <a:noFill/>
          <a:ln/>
        </p:spPr>
        <p:txBody>
          <a:bodyPr wrap="square" lIns="0" tIns="0" rIns="0" bIns="0" rtlCol="0" anchor="ctr"/>
          <a:lstStyle/>
          <a:p>
            <a:pPr algn="ctr" indent="0" marL="0">
              <a:buNone/>
            </a:pPr>
            <a:r>
              <a:rPr lang="en-US" sz="900" dirty="0">
                <a:solidFill>
                  <a:srgbClr val="5B6F65"/>
                </a:solidFill>
                <a:latin typeface="Calibri" pitchFamily="34" charset="0"/>
                <a:ea typeface="Calibri" pitchFamily="34" charset="-122"/>
                <a:cs typeface="Calibri" pitchFamily="34" charset="-120"/>
              </a:rPr>
              <a:t>of 239 countries collect less than half their waste</a:t>
            </a:r>
            <a:endParaRPr lang="en-US" sz="900" dirty="0"/>
          </a:p>
        </p:txBody>
      </p:sp>
      <p:sp>
        <p:nvSpPr>
          <p:cNvPr id="14" name="Shape 12"/>
          <p:cNvSpPr/>
          <p:nvPr/>
        </p:nvSpPr>
        <p:spPr>
          <a:xfrm>
            <a:off x="8869680" y="2377440"/>
            <a:ext cx="2606040" cy="1234440"/>
          </a:xfrm>
          <a:prstGeom prst="roundRect">
            <a:avLst>
              <a:gd name="adj" fmla="val 5926"/>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5" name="Text 13"/>
          <p:cNvSpPr/>
          <p:nvPr/>
        </p:nvSpPr>
        <p:spPr>
          <a:xfrm>
            <a:off x="8869680" y="2496312"/>
            <a:ext cx="2606040" cy="502920"/>
          </a:xfrm>
          <a:prstGeom prst="rect">
            <a:avLst/>
          </a:prstGeom>
          <a:noFill/>
          <a:ln/>
        </p:spPr>
        <p:txBody>
          <a:bodyPr wrap="square" lIns="0" tIns="0" rIns="0" bIns="0" rtlCol="0" anchor="ctr"/>
          <a:lstStyle/>
          <a:p>
            <a:pPr algn="ctr" indent="0" marL="0">
              <a:buNone/>
            </a:pPr>
            <a:r>
              <a:rPr lang="en-US" sz="2500" b="1" dirty="0">
                <a:solidFill>
                  <a:srgbClr val="1B5E42"/>
                </a:solidFill>
                <a:latin typeface="Cambria" pitchFamily="34" charset="0"/>
                <a:ea typeface="Cambria" pitchFamily="34" charset="-122"/>
                <a:cs typeface="Cambria" pitchFamily="34" charset="-120"/>
              </a:rPr>
              <a:t>25.2%</a:t>
            </a:r>
            <a:endParaRPr lang="en-US" sz="2500" dirty="0"/>
          </a:p>
        </p:txBody>
      </p:sp>
      <p:sp>
        <p:nvSpPr>
          <p:cNvPr id="16" name="Text 14"/>
          <p:cNvSpPr/>
          <p:nvPr/>
        </p:nvSpPr>
        <p:spPr>
          <a:xfrm>
            <a:off x="9006840" y="3017520"/>
            <a:ext cx="2331720" cy="548640"/>
          </a:xfrm>
          <a:prstGeom prst="rect">
            <a:avLst/>
          </a:prstGeom>
          <a:noFill/>
          <a:ln/>
        </p:spPr>
        <p:txBody>
          <a:bodyPr wrap="square" lIns="0" tIns="0" rIns="0" bIns="0" rtlCol="0" anchor="ctr"/>
          <a:lstStyle/>
          <a:p>
            <a:pPr algn="ctr" indent="0" marL="0">
              <a:buNone/>
            </a:pPr>
            <a:r>
              <a:rPr lang="en-US" sz="900" dirty="0">
                <a:solidFill>
                  <a:srgbClr val="5B6F65"/>
                </a:solidFill>
                <a:latin typeface="Calibri" pitchFamily="34" charset="0"/>
                <a:ea typeface="Calibri" pitchFamily="34" charset="-122"/>
                <a:cs typeface="Calibri" pitchFamily="34" charset="-120"/>
              </a:rPr>
              <a:t>of 3,937 cities studied have poor air quality</a:t>
            </a:r>
            <a:endParaRPr lang="en-US" sz="900" dirty="0"/>
          </a:p>
        </p:txBody>
      </p:sp>
      <p:sp>
        <p:nvSpPr>
          <p:cNvPr id="17" name="Shape 15"/>
          <p:cNvSpPr/>
          <p:nvPr/>
        </p:nvSpPr>
        <p:spPr>
          <a:xfrm>
            <a:off x="502920" y="3931920"/>
            <a:ext cx="11201400" cy="2286000"/>
          </a:xfrm>
          <a:prstGeom prst="roundRect">
            <a:avLst>
              <a:gd name="adj" fmla="val 3200"/>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8" name="Text 16"/>
          <p:cNvSpPr/>
          <p:nvPr/>
        </p:nvSpPr>
        <p:spPr>
          <a:xfrm>
            <a:off x="777240" y="4096512"/>
            <a:ext cx="5486400" cy="365760"/>
          </a:xfrm>
          <a:prstGeom prst="rect">
            <a:avLst/>
          </a:prstGeom>
          <a:noFill/>
          <a:ln/>
        </p:spPr>
        <p:txBody>
          <a:bodyPr wrap="square" lIns="0" tIns="0" rIns="0" bIns="0" rtlCol="0" anchor="ctr"/>
          <a:lstStyle/>
          <a:p>
            <a:pPr indent="0" marL="0">
              <a:buNone/>
            </a:pPr>
            <a:r>
              <a:rPr lang="en-US" sz="1400" b="1" dirty="0">
                <a:solidFill>
                  <a:srgbClr val="1B5E42"/>
                </a:solidFill>
                <a:latin typeface="Cambria" pitchFamily="34" charset="0"/>
                <a:ea typeface="Cambria" pitchFamily="34" charset="-122"/>
                <a:cs typeface="Cambria" pitchFamily="34" charset="-120"/>
              </a:rPr>
              <a:t>Existing Challenges</a:t>
            </a:r>
            <a:endParaRPr lang="en-US" sz="1400" dirty="0"/>
          </a:p>
        </p:txBody>
      </p:sp>
      <p:sp>
        <p:nvSpPr>
          <p:cNvPr id="19" name="Text 17"/>
          <p:cNvSpPr/>
          <p:nvPr/>
        </p:nvSpPr>
        <p:spPr>
          <a:xfrm>
            <a:off x="777240" y="4498848"/>
            <a:ext cx="10607040" cy="164592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17261F"/>
                </a:solidFill>
                <a:latin typeface="Calibri" pitchFamily="34" charset="0"/>
                <a:ea typeface="Calibri" pitchFamily="34" charset="-122"/>
                <a:cs typeface="Calibri" pitchFamily="34" charset="-120"/>
              </a:rPr>
              <a:t>No simple, science-based tool exists for a person to decide what to do with a specific item after use.</a:t>
            </a:r>
            <a:endParaRPr lang="en-US" sz="1100" dirty="0"/>
          </a:p>
          <a:p>
            <a:pPr marL="342900" indent="-342900">
              <a:spcAft>
                <a:spcPts val="800"/>
              </a:spcAft>
              <a:buSzPct val="100000"/>
              <a:buChar char="✦"/>
            </a:pPr>
            <a:r>
              <a:rPr lang="en-US" sz="1100" dirty="0">
                <a:solidFill>
                  <a:srgbClr val="17261F"/>
                </a:solidFill>
                <a:latin typeface="Calibri" pitchFamily="34" charset="0"/>
                <a:ea typeface="Calibri" pitchFamily="34" charset="-122"/>
                <a:cs typeface="Calibri" pitchFamily="34" charset="-120"/>
              </a:rPr>
              <a:t>City planners lack an accessible way to simulate the long-term environmental cost of infrastructure decisions.</a:t>
            </a:r>
            <a:endParaRPr lang="en-US" sz="1100" dirty="0"/>
          </a:p>
          <a:p>
            <a:pPr marL="342900" indent="-342900">
              <a:spcAft>
                <a:spcPts val="800"/>
              </a:spcAft>
              <a:buSzPct val="100000"/>
              <a:buChar char="✦"/>
            </a:pPr>
            <a:r>
              <a:rPr lang="en-US" sz="1100" dirty="0">
                <a:solidFill>
                  <a:srgbClr val="17261F"/>
                </a:solidFill>
                <a:latin typeface="Calibri" pitchFamily="34" charset="0"/>
                <a:ea typeface="Calibri" pitchFamily="34" charset="-122"/>
                <a:cs typeface="Calibri" pitchFamily="34" charset="-120"/>
              </a:rPr>
              <a:t>Egypt itself ranks 3rd globally in mismanaged plastic waste per capita — this is a locally relevant problem, not just a global statistic.</a:t>
            </a:r>
            <a:endParaRPr lang="en-US" sz="1100" dirty="0"/>
          </a:p>
          <a:p>
            <a:pPr marL="342900" indent="-342900">
              <a:spcAft>
                <a:spcPts val="800"/>
              </a:spcAft>
              <a:buSzPct val="100000"/>
              <a:buChar char="✦"/>
            </a:pPr>
            <a:r>
              <a:rPr lang="en-US" sz="1100" dirty="0">
                <a:solidFill>
                  <a:srgbClr val="17261F"/>
                </a:solidFill>
                <a:latin typeface="Calibri" pitchFamily="34" charset="0"/>
                <a:ea typeface="Calibri" pitchFamily="34" charset="-122"/>
                <a:cs typeface="Calibri" pitchFamily="34" charset="-120"/>
              </a:rPr>
              <a:t>Public environmental datasets (OWID, municipal waste stats) are technical and disconnected from everyday, actionable decisions.</a:t>
            </a:r>
            <a:endParaRPr lang="en-US" sz="1100" dirty="0"/>
          </a:p>
        </p:txBody>
      </p:sp>
      <p:sp>
        <p:nvSpPr>
          <p:cNvPr id="20" name="Text 18"/>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1. PROJECT DESCRIPTION  ·  PART 2</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The GreenCycle AI Solution</a:t>
            </a:r>
            <a:endParaRPr lang="en-US" sz="3000" dirty="0"/>
          </a:p>
        </p:txBody>
      </p:sp>
      <p:sp>
        <p:nvSpPr>
          <p:cNvPr id="4" name="Shape 2"/>
          <p:cNvSpPr/>
          <p:nvPr/>
        </p:nvSpPr>
        <p:spPr>
          <a:xfrm>
            <a:off x="548640" y="1508760"/>
            <a:ext cx="2670048" cy="2788920"/>
          </a:xfrm>
          <a:prstGeom prst="roundRect">
            <a:avLst>
              <a:gd name="adj" fmla="val 2740"/>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Shape 3"/>
          <p:cNvSpPr/>
          <p:nvPr/>
        </p:nvSpPr>
        <p:spPr>
          <a:xfrm>
            <a:off x="1517904" y="1764792"/>
            <a:ext cx="731520" cy="731520"/>
          </a:xfrm>
          <a:prstGeom prst="ellipse">
            <a:avLst/>
          </a:prstGeom>
          <a:solidFill>
            <a:srgbClr val="1B5E42"/>
          </a:solidFill>
          <a:ln/>
        </p:spPr>
      </p:sp>
      <p:pic>
        <p:nvPicPr>
          <p:cNvPr id="6" name="Image 0" descr="/home/claude/greencycle_deck2/assets/FaChartLine_white.png">    </p:cNvPr>
          <p:cNvPicPr>
            <a:picLocks noChangeAspect="1"/>
          </p:cNvPicPr>
          <p:nvPr/>
        </p:nvPicPr>
        <p:blipFill>
          <a:blip r:embed="rId1"/>
          <a:stretch>
            <a:fillRect/>
          </a:stretch>
        </p:blipFill>
        <p:spPr>
          <a:xfrm>
            <a:off x="1613002" y="1859890"/>
            <a:ext cx="541325" cy="541325"/>
          </a:xfrm>
          <a:prstGeom prst="rect">
            <a:avLst/>
          </a:prstGeom>
        </p:spPr>
      </p:pic>
      <p:sp>
        <p:nvSpPr>
          <p:cNvPr id="7" name="Text 4"/>
          <p:cNvSpPr/>
          <p:nvPr/>
        </p:nvSpPr>
        <p:spPr>
          <a:xfrm>
            <a:off x="694944" y="2651760"/>
            <a:ext cx="2377440" cy="457200"/>
          </a:xfrm>
          <a:prstGeom prst="rect">
            <a:avLst/>
          </a:prstGeom>
          <a:noFill/>
          <a:ln/>
        </p:spPr>
        <p:txBody>
          <a:bodyPr wrap="square" lIns="0" tIns="0" rIns="0" bIns="0" rtlCol="0" anchor="ctr"/>
          <a:lstStyle/>
          <a:p>
            <a:pPr algn="ctr" indent="0" marL="0">
              <a:buNone/>
            </a:pPr>
            <a:r>
              <a:rPr lang="en-US" sz="1300" b="1" dirty="0">
                <a:solidFill>
                  <a:srgbClr val="17261F"/>
                </a:solidFill>
                <a:latin typeface="Cambria" pitchFamily="34" charset="0"/>
                <a:ea typeface="Cambria" pitchFamily="34" charset="-122"/>
                <a:cs typeface="Cambria" pitchFamily="34" charset="-120"/>
              </a:rPr>
              <a:t>CO2 Impact Simulator</a:t>
            </a:r>
            <a:endParaRPr lang="en-US" sz="1300" dirty="0"/>
          </a:p>
        </p:txBody>
      </p:sp>
      <p:sp>
        <p:nvSpPr>
          <p:cNvPr id="8" name="Text 5"/>
          <p:cNvSpPr/>
          <p:nvPr/>
        </p:nvSpPr>
        <p:spPr>
          <a:xfrm>
            <a:off x="731520" y="3108960"/>
            <a:ext cx="2304288" cy="1097280"/>
          </a:xfrm>
          <a:prstGeom prst="rect">
            <a:avLst/>
          </a:prstGeom>
          <a:noFill/>
          <a:ln/>
        </p:spPr>
        <p:txBody>
          <a:bodyPr wrap="square" lIns="0" tIns="0" rIns="0" bIns="0" rtlCol="0" anchor="ctr"/>
          <a:lstStyle/>
          <a:p>
            <a:pPr algn="ctr" indent="0" marL="0">
              <a:buNone/>
            </a:pPr>
            <a:r>
              <a:rPr lang="en-US" sz="970" dirty="0">
                <a:solidFill>
                  <a:srgbClr val="5B6F65"/>
                </a:solidFill>
                <a:latin typeface="Calibri" pitchFamily="34" charset="0"/>
                <a:ea typeface="Calibri" pitchFamily="34" charset="-122"/>
                <a:cs typeface="Calibri" pitchFamily="34" charset="-120"/>
              </a:rPr>
              <a:t>A trained regression model plus an LLM-powered narrative simulator estimate a city's CO2 emissions, air-quality index, and 5/10-year trajectory from its population and infrastructure profile.</a:t>
            </a:r>
            <a:endParaRPr lang="en-US" sz="970" dirty="0"/>
          </a:p>
        </p:txBody>
      </p:sp>
      <p:sp>
        <p:nvSpPr>
          <p:cNvPr id="9" name="Shape 6"/>
          <p:cNvSpPr/>
          <p:nvPr/>
        </p:nvSpPr>
        <p:spPr>
          <a:xfrm>
            <a:off x="3419856" y="1508760"/>
            <a:ext cx="2670048" cy="2788920"/>
          </a:xfrm>
          <a:prstGeom prst="roundRect">
            <a:avLst>
              <a:gd name="adj" fmla="val 2740"/>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0" name="Shape 7"/>
          <p:cNvSpPr/>
          <p:nvPr/>
        </p:nvSpPr>
        <p:spPr>
          <a:xfrm>
            <a:off x="4389120" y="1764792"/>
            <a:ext cx="731520" cy="731520"/>
          </a:xfrm>
          <a:prstGeom prst="ellipse">
            <a:avLst/>
          </a:prstGeom>
          <a:solidFill>
            <a:srgbClr val="1B5E42"/>
          </a:solidFill>
          <a:ln/>
        </p:spPr>
      </p:sp>
      <p:pic>
        <p:nvPicPr>
          <p:cNvPr id="11" name="Image 1" descr="/home/claude/greencycle_deck2/assets/FaCamera_white.png">    </p:cNvPr>
          <p:cNvPicPr>
            <a:picLocks noChangeAspect="1"/>
          </p:cNvPicPr>
          <p:nvPr/>
        </p:nvPicPr>
        <p:blipFill>
          <a:blip r:embed="rId2"/>
          <a:stretch>
            <a:fillRect/>
          </a:stretch>
        </p:blipFill>
        <p:spPr>
          <a:xfrm>
            <a:off x="4484218" y="1859890"/>
            <a:ext cx="541325" cy="541325"/>
          </a:xfrm>
          <a:prstGeom prst="rect">
            <a:avLst/>
          </a:prstGeom>
        </p:spPr>
      </p:pic>
      <p:sp>
        <p:nvSpPr>
          <p:cNvPr id="12" name="Text 8"/>
          <p:cNvSpPr/>
          <p:nvPr/>
        </p:nvSpPr>
        <p:spPr>
          <a:xfrm>
            <a:off x="3566160" y="2651760"/>
            <a:ext cx="2377440" cy="457200"/>
          </a:xfrm>
          <a:prstGeom prst="rect">
            <a:avLst/>
          </a:prstGeom>
          <a:noFill/>
          <a:ln/>
        </p:spPr>
        <p:txBody>
          <a:bodyPr wrap="square" lIns="0" tIns="0" rIns="0" bIns="0" rtlCol="0" anchor="ctr"/>
          <a:lstStyle/>
          <a:p>
            <a:pPr algn="ctr" indent="0" marL="0">
              <a:buNone/>
            </a:pPr>
            <a:r>
              <a:rPr lang="en-US" sz="1300" b="1" dirty="0">
                <a:solidFill>
                  <a:srgbClr val="17261F"/>
                </a:solidFill>
                <a:latin typeface="Cambria" pitchFamily="34" charset="0"/>
                <a:ea typeface="Cambria" pitchFamily="34" charset="-122"/>
                <a:cs typeface="Cambria" pitchFamily="34" charset="-120"/>
              </a:rPr>
              <a:t>Vision Analysis</a:t>
            </a:r>
            <a:endParaRPr lang="en-US" sz="1300" dirty="0"/>
          </a:p>
        </p:txBody>
      </p:sp>
      <p:sp>
        <p:nvSpPr>
          <p:cNvPr id="13" name="Text 9"/>
          <p:cNvSpPr/>
          <p:nvPr/>
        </p:nvSpPr>
        <p:spPr>
          <a:xfrm>
            <a:off x="3602736" y="3108960"/>
            <a:ext cx="2304288" cy="1097280"/>
          </a:xfrm>
          <a:prstGeom prst="rect">
            <a:avLst/>
          </a:prstGeom>
          <a:noFill/>
          <a:ln/>
        </p:spPr>
        <p:txBody>
          <a:bodyPr wrap="square" lIns="0" tIns="0" rIns="0" bIns="0" rtlCol="0" anchor="ctr"/>
          <a:lstStyle/>
          <a:p>
            <a:pPr algn="ctr" indent="0" marL="0">
              <a:buNone/>
            </a:pPr>
            <a:r>
              <a:rPr lang="en-US" sz="970" dirty="0">
                <a:solidFill>
                  <a:srgbClr val="5B6F65"/>
                </a:solidFill>
                <a:latin typeface="Calibri" pitchFamily="34" charset="0"/>
                <a:ea typeface="Calibri" pitchFamily="34" charset="-122"/>
                <a:cs typeface="Calibri" pitchFamily="34" charset="-120"/>
              </a:rPr>
              <a:t>A trained image classifier (10 waste classes) and vision-LLM services detect pollution severity and identify recyclable materials directly from a photo.</a:t>
            </a:r>
            <a:endParaRPr lang="en-US" sz="970" dirty="0"/>
          </a:p>
        </p:txBody>
      </p:sp>
      <p:sp>
        <p:nvSpPr>
          <p:cNvPr id="14" name="Shape 10"/>
          <p:cNvSpPr/>
          <p:nvPr/>
        </p:nvSpPr>
        <p:spPr>
          <a:xfrm>
            <a:off x="6291072" y="1508760"/>
            <a:ext cx="2670048" cy="2788920"/>
          </a:xfrm>
          <a:prstGeom prst="roundRect">
            <a:avLst>
              <a:gd name="adj" fmla="val 2740"/>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5" name="Shape 11"/>
          <p:cNvSpPr/>
          <p:nvPr/>
        </p:nvSpPr>
        <p:spPr>
          <a:xfrm>
            <a:off x="7260336" y="1764792"/>
            <a:ext cx="731520" cy="731520"/>
          </a:xfrm>
          <a:prstGeom prst="ellipse">
            <a:avLst/>
          </a:prstGeom>
          <a:solidFill>
            <a:srgbClr val="1B5E42"/>
          </a:solidFill>
          <a:ln/>
        </p:spPr>
      </p:sp>
      <p:pic>
        <p:nvPicPr>
          <p:cNvPr id="16" name="Image 2" descr="/home/claude/greencycle_deck2/assets/FaComments_white.png">    </p:cNvPr>
          <p:cNvPicPr>
            <a:picLocks noChangeAspect="1"/>
          </p:cNvPicPr>
          <p:nvPr/>
        </p:nvPicPr>
        <p:blipFill>
          <a:blip r:embed="rId3"/>
          <a:stretch>
            <a:fillRect/>
          </a:stretch>
        </p:blipFill>
        <p:spPr>
          <a:xfrm>
            <a:off x="7355434" y="1859890"/>
            <a:ext cx="541325" cy="541325"/>
          </a:xfrm>
          <a:prstGeom prst="rect">
            <a:avLst/>
          </a:prstGeom>
        </p:spPr>
      </p:pic>
      <p:sp>
        <p:nvSpPr>
          <p:cNvPr id="17" name="Text 12"/>
          <p:cNvSpPr/>
          <p:nvPr/>
        </p:nvSpPr>
        <p:spPr>
          <a:xfrm>
            <a:off x="6437376" y="2651760"/>
            <a:ext cx="2377440" cy="457200"/>
          </a:xfrm>
          <a:prstGeom prst="rect">
            <a:avLst/>
          </a:prstGeom>
          <a:noFill/>
          <a:ln/>
        </p:spPr>
        <p:txBody>
          <a:bodyPr wrap="square" lIns="0" tIns="0" rIns="0" bIns="0" rtlCol="0" anchor="ctr"/>
          <a:lstStyle/>
          <a:p>
            <a:pPr algn="ctr" indent="0" marL="0">
              <a:buNone/>
            </a:pPr>
            <a:r>
              <a:rPr lang="en-US" sz="1300" b="1" dirty="0">
                <a:solidFill>
                  <a:srgbClr val="17261F"/>
                </a:solidFill>
                <a:latin typeface="Cambria" pitchFamily="34" charset="0"/>
                <a:ea typeface="Cambria" pitchFamily="34" charset="-122"/>
                <a:cs typeface="Cambria" pitchFamily="34" charset="-120"/>
              </a:rPr>
              <a:t>Eco AI Advisor</a:t>
            </a:r>
            <a:endParaRPr lang="en-US" sz="1300" dirty="0"/>
          </a:p>
        </p:txBody>
      </p:sp>
      <p:sp>
        <p:nvSpPr>
          <p:cNvPr id="18" name="Text 13"/>
          <p:cNvSpPr/>
          <p:nvPr/>
        </p:nvSpPr>
        <p:spPr>
          <a:xfrm>
            <a:off x="6473952" y="3108960"/>
            <a:ext cx="2304288" cy="1097280"/>
          </a:xfrm>
          <a:prstGeom prst="rect">
            <a:avLst/>
          </a:prstGeom>
          <a:noFill/>
          <a:ln/>
        </p:spPr>
        <p:txBody>
          <a:bodyPr wrap="square" lIns="0" tIns="0" rIns="0" bIns="0" rtlCol="0" anchor="ctr"/>
          <a:lstStyle/>
          <a:p>
            <a:pPr algn="ctr" indent="0" marL="0">
              <a:buNone/>
            </a:pPr>
            <a:r>
              <a:rPr lang="en-US" sz="970" dirty="0">
                <a:solidFill>
                  <a:srgbClr val="5B6F65"/>
                </a:solidFill>
                <a:latin typeface="Calibri" pitchFamily="34" charset="0"/>
                <a:ea typeface="Calibri" pitchFamily="34" charset="-122"/>
                <a:cs typeface="Calibri" pitchFamily="34" charset="-120"/>
              </a:rPr>
              <a:t>A conversational assistant answers pollution, recycling, and sustainability questions with real numbers, grounded in an environmental-science system prompt.</a:t>
            </a:r>
            <a:endParaRPr lang="en-US" sz="970" dirty="0"/>
          </a:p>
        </p:txBody>
      </p:sp>
      <p:sp>
        <p:nvSpPr>
          <p:cNvPr id="19" name="Shape 14"/>
          <p:cNvSpPr/>
          <p:nvPr/>
        </p:nvSpPr>
        <p:spPr>
          <a:xfrm>
            <a:off x="9162288" y="1508760"/>
            <a:ext cx="2670048" cy="2788920"/>
          </a:xfrm>
          <a:prstGeom prst="roundRect">
            <a:avLst>
              <a:gd name="adj" fmla="val 2740"/>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0" name="Shape 15"/>
          <p:cNvSpPr/>
          <p:nvPr/>
        </p:nvSpPr>
        <p:spPr>
          <a:xfrm>
            <a:off x="10131552" y="1764792"/>
            <a:ext cx="731520" cy="731520"/>
          </a:xfrm>
          <a:prstGeom prst="ellipse">
            <a:avLst/>
          </a:prstGeom>
          <a:solidFill>
            <a:srgbClr val="1B5E42"/>
          </a:solidFill>
          <a:ln/>
        </p:spPr>
      </p:sp>
      <p:pic>
        <p:nvPicPr>
          <p:cNvPr id="21" name="Image 3" descr="/home/claude/greencycle_deck2/assets/FaServer_white.png">    </p:cNvPr>
          <p:cNvPicPr>
            <a:picLocks noChangeAspect="1"/>
          </p:cNvPicPr>
          <p:nvPr/>
        </p:nvPicPr>
        <p:blipFill>
          <a:blip r:embed="rId4"/>
          <a:stretch>
            <a:fillRect/>
          </a:stretch>
        </p:blipFill>
        <p:spPr>
          <a:xfrm>
            <a:off x="10226650" y="1859890"/>
            <a:ext cx="541325" cy="541325"/>
          </a:xfrm>
          <a:prstGeom prst="rect">
            <a:avLst/>
          </a:prstGeom>
        </p:spPr>
      </p:pic>
      <p:sp>
        <p:nvSpPr>
          <p:cNvPr id="22" name="Text 16"/>
          <p:cNvSpPr/>
          <p:nvPr/>
        </p:nvSpPr>
        <p:spPr>
          <a:xfrm>
            <a:off x="9308592" y="2651760"/>
            <a:ext cx="2377440" cy="457200"/>
          </a:xfrm>
          <a:prstGeom prst="rect">
            <a:avLst/>
          </a:prstGeom>
          <a:noFill/>
          <a:ln/>
        </p:spPr>
        <p:txBody>
          <a:bodyPr wrap="square" lIns="0" tIns="0" rIns="0" bIns="0" rtlCol="0" anchor="ctr"/>
          <a:lstStyle/>
          <a:p>
            <a:pPr algn="ctr" indent="0" marL="0">
              <a:buNone/>
            </a:pPr>
            <a:r>
              <a:rPr lang="en-US" sz="1300" b="1" dirty="0">
                <a:solidFill>
                  <a:srgbClr val="17261F"/>
                </a:solidFill>
                <a:latin typeface="Cambria" pitchFamily="34" charset="0"/>
                <a:ea typeface="Cambria" pitchFamily="34" charset="-122"/>
                <a:cs typeface="Cambria" pitchFamily="34" charset="-120"/>
              </a:rPr>
              <a:t>Unified Web App</a:t>
            </a:r>
            <a:endParaRPr lang="en-US" sz="1300" dirty="0"/>
          </a:p>
        </p:txBody>
      </p:sp>
      <p:sp>
        <p:nvSpPr>
          <p:cNvPr id="23" name="Text 17"/>
          <p:cNvSpPr/>
          <p:nvPr/>
        </p:nvSpPr>
        <p:spPr>
          <a:xfrm>
            <a:off x="9345168" y="3108960"/>
            <a:ext cx="2304288" cy="1097280"/>
          </a:xfrm>
          <a:prstGeom prst="rect">
            <a:avLst/>
          </a:prstGeom>
          <a:noFill/>
          <a:ln/>
        </p:spPr>
        <p:txBody>
          <a:bodyPr wrap="square" lIns="0" tIns="0" rIns="0" bIns="0" rtlCol="0" anchor="ctr"/>
          <a:lstStyle/>
          <a:p>
            <a:pPr algn="ctr" indent="0" marL="0">
              <a:buNone/>
            </a:pPr>
            <a:r>
              <a:rPr lang="en-US" sz="970" dirty="0">
                <a:solidFill>
                  <a:srgbClr val="5B6F65"/>
                </a:solidFill>
                <a:latin typeface="Calibri" pitchFamily="34" charset="0"/>
                <a:ea typeface="Calibri" pitchFamily="34" charset="-122"/>
                <a:cs typeface="Calibri" pitchFamily="34" charset="-120"/>
              </a:rPr>
              <a:t>All three capabilities are exposed through one FastAPI backend and one Next.js frontend — landing page, dashboard, and dedicated tool pages.</a:t>
            </a:r>
            <a:endParaRPr lang="en-US" sz="970" dirty="0"/>
          </a:p>
        </p:txBody>
      </p:sp>
      <p:sp>
        <p:nvSpPr>
          <p:cNvPr id="24" name="Shape 18"/>
          <p:cNvSpPr/>
          <p:nvPr/>
        </p:nvSpPr>
        <p:spPr>
          <a:xfrm>
            <a:off x="502920" y="4526280"/>
            <a:ext cx="11201400" cy="1691640"/>
          </a:xfrm>
          <a:prstGeom prst="roundRect">
            <a:avLst>
              <a:gd name="adj" fmla="val 4324"/>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5" name="Text 19"/>
          <p:cNvSpPr/>
          <p:nvPr/>
        </p:nvSpPr>
        <p:spPr>
          <a:xfrm>
            <a:off x="777240" y="4690872"/>
            <a:ext cx="5486400" cy="365760"/>
          </a:xfrm>
          <a:prstGeom prst="rect">
            <a:avLst/>
          </a:prstGeom>
          <a:noFill/>
          <a:ln/>
        </p:spPr>
        <p:txBody>
          <a:bodyPr wrap="square" lIns="0" tIns="0" rIns="0" bIns="0" rtlCol="0" anchor="ctr"/>
          <a:lstStyle/>
          <a:p>
            <a:pPr indent="0" marL="0">
              <a:buNone/>
            </a:pPr>
            <a:r>
              <a:rPr lang="en-US" sz="1350" b="1" dirty="0">
                <a:solidFill>
                  <a:srgbClr val="1B5E42"/>
                </a:solidFill>
                <a:latin typeface="Cambria" pitchFamily="34" charset="0"/>
                <a:ea typeface="Cambria" pitchFamily="34" charset="-122"/>
                <a:cs typeface="Cambria" pitchFamily="34" charset="-120"/>
              </a:rPr>
              <a:t>Objectives &amp; Expected Impact</a:t>
            </a:r>
            <a:endParaRPr lang="en-US" sz="1350" dirty="0"/>
          </a:p>
        </p:txBody>
      </p:sp>
      <p:sp>
        <p:nvSpPr>
          <p:cNvPr id="26" name="Text 20"/>
          <p:cNvSpPr/>
          <p:nvPr/>
        </p:nvSpPr>
        <p:spPr>
          <a:xfrm>
            <a:off x="777240" y="5074920"/>
            <a:ext cx="10607040" cy="105156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7261F"/>
                </a:solidFill>
                <a:latin typeface="Calibri" pitchFamily="34" charset="0"/>
                <a:ea typeface="Calibri" pitchFamily="34" charset="-122"/>
                <a:cs typeface="Calibri" pitchFamily="34" charset="-120"/>
              </a:rPr>
              <a:t>Make environmental data actionable for non-experts in under 30 seconds per request.</a:t>
            </a:r>
            <a:endParaRPr lang="en-US" sz="1050" dirty="0"/>
          </a:p>
          <a:p>
            <a:pPr marL="342900" indent="-342900">
              <a:spcAft>
                <a:spcPts val="600"/>
              </a:spcAft>
              <a:buSzPct val="100000"/>
              <a:buChar char="✦"/>
            </a:pPr>
            <a:r>
              <a:rPr lang="en-US" sz="1050" dirty="0">
                <a:solidFill>
                  <a:srgbClr val="17261F"/>
                </a:solidFill>
                <a:latin typeface="Calibri" pitchFamily="34" charset="0"/>
                <a:ea typeface="Calibri" pitchFamily="34" charset="-122"/>
                <a:cs typeface="Calibri" pitchFamily="34" charset="-120"/>
              </a:rPr>
              <a:t>Give city planners a fast way to see the consequences of infrastructure choices.</a:t>
            </a:r>
            <a:endParaRPr lang="en-US" sz="1050" dirty="0"/>
          </a:p>
          <a:p>
            <a:pPr marL="342900" indent="-342900">
              <a:spcAft>
                <a:spcPts val="600"/>
              </a:spcAft>
              <a:buSzPct val="100000"/>
              <a:buChar char="✦"/>
            </a:pPr>
            <a:r>
              <a:rPr lang="en-US" sz="1050" dirty="0">
                <a:solidFill>
                  <a:srgbClr val="17261F"/>
                </a:solidFill>
                <a:latin typeface="Calibri" pitchFamily="34" charset="0"/>
                <a:ea typeface="Calibri" pitchFamily="34" charset="-122"/>
                <a:cs typeface="Calibri" pitchFamily="34" charset="-120"/>
              </a:rPr>
              <a:t>Provide a single, connected platform rather than isolated notebooks and scripts.</a:t>
            </a:r>
            <a:endParaRPr lang="en-US" sz="1050" dirty="0"/>
          </a:p>
        </p:txBody>
      </p:sp>
      <p:sp>
        <p:nvSpPr>
          <p:cNvPr id="27" name="Text 21"/>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2. DATASET SOURCE &amp; DESCRIPTION  ·  PART 1</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Environmental &amp; Waste Datasets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92840" cy="914400"/>
        </p:xfrm>
        <a:graphic>
          <a:graphicData uri="http://schemas.openxmlformats.org/drawingml/2006/table">
            <a:tbl>
              <a:tblPr/>
              <a:tblGrid>
                <a:gridCol w="2377440"/>
                <a:gridCol w="4709160"/>
                <a:gridCol w="1874520"/>
                <a:gridCol w="2331720"/>
              </a:tblGrid>
              <a:tr h="10515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Dataset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 / URL</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Purpose / Target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r>
              <a:tr h="1051560">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OWID CO2 &amp; GHG Emissions</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i="1" dirty="0">
                          <a:solidFill>
                            <a:srgbClr val="5B6F65"/>
                          </a:solidFill>
                          <a:latin typeface="Calibri" pitchFamily="34" charset="0"/>
                          <a:ea typeface="Calibri" pitchFamily="34" charset="-122"/>
                          <a:cs typeface="Calibri" pitchFamily="34" charset="-120"/>
                        </a:rPr>
                        <a:t>ourworldindata.org/co2-and-greenhouse-gas-emissions (owid-co2-data.csv)</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12,225 rows × 33 cols</a:t>
                      </a:r>
                      <a:endParaRPr lang="en-US" sz="1050" dirty="0">
                        <a:latin typeface="Calibri" charset="0"/>
                        <a:ea typeface="Calibri" charset="0"/>
                        <a:cs typeface="Calibri" charset="0"/>
                      </a:endParaRPr>
                    </a:p>
                    <a:p>
                      <a:pPr indent="0" marL="0">
                        <a:buNone/>
                      </a:pPr>
                      <a:r>
                        <a:rPr lang="en-US" sz="1050" dirty="0">
                          <a:solidFill>
                            <a:srgbClr val="17261F"/>
                          </a:solidFill>
                          <a:latin typeface="Calibri" pitchFamily="34" charset="0"/>
                          <a:ea typeface="Calibri" pitchFamily="34" charset="-122"/>
                          <a:cs typeface="Calibri" pitchFamily="34" charset="-120"/>
                        </a:rPr>
                        <a:t>163 countries, 1950–2024</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co2_per_capita — regression target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r>
              <a:tr h="1051560">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Mismanaged Plastic Waste</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i="1" dirty="0">
                          <a:solidFill>
                            <a:srgbClr val="5B6F65"/>
                          </a:solidFill>
                          <a:latin typeface="Calibri" pitchFamily="34" charset="0"/>
                          <a:ea typeface="Calibri" pitchFamily="34" charset="-122"/>
                          <a:cs typeface="Calibri" pitchFamily="34" charset="-120"/>
                        </a:rPr>
                        <a:t>OWID: mismanaged-plastic-waste-per-capita ✓ confirmed (column name matches exactly)</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107 rows × 13 cols</a:t>
                      </a:r>
                      <a:endParaRPr lang="en-US" sz="1050" dirty="0">
                        <a:latin typeface="Calibri" charset="0"/>
                        <a:ea typeface="Calibri" charset="0"/>
                        <a:cs typeface="Calibri" charset="0"/>
                      </a:endParaRPr>
                    </a:p>
                    <a:p>
                      <a:pPr indent="0" marL="0">
                        <a:buNone/>
                      </a:pPr>
                      <a:r>
                        <a:rPr lang="en-US" sz="1050" dirty="0">
                          <a:solidFill>
                            <a:srgbClr val="17261F"/>
                          </a:solidFill>
                          <a:latin typeface="Calibri" pitchFamily="34" charset="0"/>
                          <a:ea typeface="Calibri" pitchFamily="34" charset="-122"/>
                          <a:cs typeface="Calibri" pitchFamily="34" charset="-120"/>
                        </a:rPr>
                        <a:t>(107 countries)</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EDA — plastic pollution by country</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r>
              <a:tr h="1051560">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Municipal Waste Management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i="1" dirty="0">
                          <a:solidFill>
                            <a:srgbClr val="5B6F65"/>
                          </a:solidFill>
                          <a:latin typeface="Calibri" pitchFamily="34" charset="0"/>
                          <a:ea typeface="Calibri" pitchFamily="34" charset="-122"/>
                          <a:cs typeface="Calibri" pitchFamily="34" charset="-120"/>
                        </a:rPr>
                        <a:t>Kaggle "warp-waste-recycling-plant-dataset" — thematically related; not explicitly named in the notebook</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239 countries, 2020</a:t>
                      </a:r>
                      <a:endParaRPr lang="en-US" sz="1050" dirty="0">
                        <a:latin typeface="Calibri" charset="0"/>
                        <a:ea typeface="Calibri" charset="0"/>
                        <a:cs typeface="Calibri" charset="0"/>
                      </a:endParaRPr>
                    </a:p>
                    <a:p>
                      <a:pPr indent="0" marL="0">
                        <a:buNone/>
                      </a:pPr>
                      <a:r>
                        <a:rPr lang="en-US" sz="1050" dirty="0">
                          <a:solidFill>
                            <a:srgbClr val="17261F"/>
                          </a:solidFill>
                          <a:latin typeface="Calibri" pitchFamily="34" charset="0"/>
                          <a:ea typeface="Calibri" pitchFamily="34" charset="-122"/>
                          <a:cs typeface="Calibri" pitchFamily="34" charset="-120"/>
                        </a:rPr>
                        <a:t>+ OECD generation trend</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EDA — global disposal methods</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r>
              <a:tr h="1051560">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City Air &amp; Water Quality</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i="1" dirty="0">
                          <a:solidFill>
                            <a:srgbClr val="5B6F65"/>
                          </a:solidFill>
                          <a:latin typeface="Calibri" pitchFamily="34" charset="0"/>
                          <a:ea typeface="Calibri" pitchFamily="34" charset="-122"/>
                          <a:cs typeface="Calibri" pitchFamily="34" charset="-120"/>
                        </a:rPr>
                        <a:t>Not in the supplied URL list — source filename only (Cities1.csv)</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3,446 rows (cleaned)</a:t>
                      </a:r>
                      <a:endParaRPr lang="en-US" sz="1050" dirty="0">
                        <a:latin typeface="Calibri" charset="0"/>
                        <a:ea typeface="Calibri" charset="0"/>
                        <a:cs typeface="Calibri" charset="0"/>
                      </a:endParaRPr>
                    </a:p>
                    <a:p>
                      <a:pPr indent="0" marL="0">
                        <a:buNone/>
                      </a:pPr>
                      <a:r>
                        <a:rPr lang="en-US" sz="1050" dirty="0">
                          <a:solidFill>
                            <a:srgbClr val="17261F"/>
                          </a:solidFill>
                          <a:latin typeface="Calibri" pitchFamily="34" charset="0"/>
                          <a:ea typeface="Calibri" pitchFamily="34" charset="-122"/>
                          <a:cs typeface="Calibri" pitchFamily="34" charset="-120"/>
                        </a:rPr>
                        <a:t>176 countries</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EDA — pollution vs. environment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r>
            </a:tbl>
          </a:graphicData>
        </a:graphic>
      </p:graphicFrame>
      <p:sp>
        <p:nvSpPr>
          <p:cNvPr id="5" name="Text 2"/>
          <p:cNvSpPr/>
          <p:nvPr/>
        </p:nvSpPr>
        <p:spPr>
          <a:xfrm>
            <a:off x="457200" y="5989320"/>
            <a:ext cx="11292840" cy="548640"/>
          </a:xfrm>
          <a:prstGeom prst="rect">
            <a:avLst/>
          </a:prstGeom>
          <a:noFill/>
          <a:ln/>
        </p:spPr>
        <p:txBody>
          <a:bodyPr wrap="square" lIns="0" tIns="0" rIns="0" bIns="0" rtlCol="0" anchor="ctr"/>
          <a:lstStyle/>
          <a:p>
            <a:pPr indent="0" marL="0">
              <a:buNone/>
            </a:pPr>
            <a:r>
              <a:rPr lang="en-US" sz="950" i="1" dirty="0">
                <a:solidFill>
                  <a:srgbClr val="5B6F65"/>
                </a:solidFill>
                <a:latin typeface="Calibri" pitchFamily="34" charset="0"/>
                <a:ea typeface="Calibri" pitchFamily="34" charset="-122"/>
                <a:cs typeface="Calibri" pitchFamily="34" charset="-120"/>
              </a:rPr>
              <a:t>✓ = URL provided matches the data exactly. Unmarked = plausible/related but not explicitly confirmed in the notebook code — flagged rather than assumed, per project instructions not to invent sources.</a:t>
            </a:r>
            <a:endParaRPr lang="en-US" sz="950" dirty="0"/>
          </a:p>
        </p:txBody>
      </p:sp>
      <p:sp>
        <p:nvSpPr>
          <p:cNvPr id="6" name="Text 3"/>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2. DATASET SOURCE &amp; DESCRIPTION  ·  PART 2</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Recommendation &amp; Vision Datasets</a:t>
            </a:r>
            <a:endParaRPr lang="en-US" sz="3000" dirty="0"/>
          </a:p>
        </p:txBody>
      </p:sp>
      <p:sp>
        <p:nvSpPr>
          <p:cNvPr id="4" name="Shape 2"/>
          <p:cNvSpPr/>
          <p:nvPr/>
        </p:nvSpPr>
        <p:spPr>
          <a:xfrm>
            <a:off x="548640" y="1508760"/>
            <a:ext cx="5577840" cy="4526280"/>
          </a:xfrm>
          <a:prstGeom prst="roundRect">
            <a:avLst>
              <a:gd name="adj" fmla="val 1616"/>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Shape 3"/>
          <p:cNvSpPr/>
          <p:nvPr/>
        </p:nvSpPr>
        <p:spPr>
          <a:xfrm>
            <a:off x="822960" y="1783080"/>
            <a:ext cx="594360" cy="594360"/>
          </a:xfrm>
          <a:prstGeom prst="ellipse">
            <a:avLst/>
          </a:prstGeom>
          <a:solidFill>
            <a:srgbClr val="1B5E42"/>
          </a:solidFill>
          <a:ln/>
        </p:spPr>
      </p:sp>
      <p:pic>
        <p:nvPicPr>
          <p:cNvPr id="6" name="Image 0" descr="/home/claude/greencycle_deck2/assets/FaBoxes_white.png">    </p:cNvPr>
          <p:cNvPicPr>
            <a:picLocks noChangeAspect="1"/>
          </p:cNvPicPr>
          <p:nvPr/>
        </p:nvPicPr>
        <p:blipFill>
          <a:blip r:embed="rId1"/>
          <a:stretch>
            <a:fillRect/>
          </a:stretch>
        </p:blipFill>
        <p:spPr>
          <a:xfrm>
            <a:off x="900227" y="1860347"/>
            <a:ext cx="439826" cy="439826"/>
          </a:xfrm>
          <a:prstGeom prst="rect">
            <a:avLst/>
          </a:prstGeom>
        </p:spPr>
      </p:pic>
      <p:sp>
        <p:nvSpPr>
          <p:cNvPr id="7" name="Text 4"/>
          <p:cNvSpPr/>
          <p:nvPr/>
        </p:nvSpPr>
        <p:spPr>
          <a:xfrm>
            <a:off x="1554480" y="1783080"/>
            <a:ext cx="4389120" cy="365760"/>
          </a:xfrm>
          <a:prstGeom prst="rect">
            <a:avLst/>
          </a:prstGeom>
          <a:noFill/>
          <a:ln/>
        </p:spPr>
        <p:txBody>
          <a:bodyPr wrap="square" lIns="0" tIns="0" rIns="0" bIns="0" rtlCol="0" anchor="ctr"/>
          <a:lstStyle/>
          <a:p>
            <a:pPr indent="0" marL="0">
              <a:buNone/>
            </a:pPr>
            <a:r>
              <a:rPr lang="en-US" sz="1500" b="1" dirty="0">
                <a:solidFill>
                  <a:srgbClr val="17261F"/>
                </a:solidFill>
                <a:latin typeface="Cambria" pitchFamily="34" charset="0"/>
                <a:ea typeface="Cambria" pitchFamily="34" charset="-122"/>
                <a:cs typeface="Cambria" pitchFamily="34" charset="-120"/>
              </a:rPr>
              <a:t>Materials Recycling Core Dataset</a:t>
            </a:r>
            <a:endParaRPr lang="en-US" sz="1500" dirty="0"/>
          </a:p>
        </p:txBody>
      </p:sp>
      <p:sp>
        <p:nvSpPr>
          <p:cNvPr id="8" name="Text 5"/>
          <p:cNvSpPr/>
          <p:nvPr/>
        </p:nvSpPr>
        <p:spPr>
          <a:xfrm>
            <a:off x="1554480" y="2130552"/>
            <a:ext cx="4389120" cy="274320"/>
          </a:xfrm>
          <a:prstGeom prst="rect">
            <a:avLst/>
          </a:prstGeom>
          <a:noFill/>
          <a:ln/>
        </p:spPr>
        <p:txBody>
          <a:bodyPr wrap="square" lIns="0" tIns="0" rIns="0" bIns="0" rtlCol="0" anchor="ctr"/>
          <a:lstStyle/>
          <a:p>
            <a:pPr indent="0" marL="0">
              <a:buNone/>
            </a:pPr>
            <a:r>
              <a:rPr lang="en-US" sz="1100" b="1" dirty="0">
                <a:solidFill>
                  <a:srgbClr val="1B5E42"/>
                </a:solidFill>
                <a:latin typeface="Calibri" pitchFamily="34" charset="0"/>
                <a:ea typeface="Calibri" pitchFamily="34" charset="-122"/>
                <a:cs typeface="Calibri" pitchFamily="34" charset="-120"/>
              </a:rPr>
              <a:t>25,000 records  ·  74 columns after cleaning</a:t>
            </a:r>
            <a:endParaRPr lang="en-US" sz="1100" dirty="0"/>
          </a:p>
        </p:txBody>
      </p:sp>
      <p:sp>
        <p:nvSpPr>
          <p:cNvPr id="9" name="Text 6"/>
          <p:cNvSpPr/>
          <p:nvPr/>
        </p:nvSpPr>
        <p:spPr>
          <a:xfrm>
            <a:off x="868680" y="2560320"/>
            <a:ext cx="5029200" cy="3291840"/>
          </a:xfrm>
          <a:prstGeom prst="rect">
            <a:avLst/>
          </a:prstGeom>
          <a:noFill/>
          <a:ln/>
        </p:spPr>
        <p:txBody>
          <a:bodyPr wrap="square" lIns="0" tIns="0" rIns="0" bIns="0" rtlCol="0" anchor="ctr"/>
          <a:lstStyle/>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Source: materials_recycling_core.csv — no Kaggle/OWID URL named in the notebook; thematically close to "warp-waste-recycling-plant-dataset" but unconfirmed.</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Targets: recyclable (85.2% positive class) and actual_disposal_method (9 categories).</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Features: 12 material types, 20 countries, 6 world regions, contamination level/type, condition, moisture content.</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12 outcome columns (CO2 saved, revenue, eco-scores) explicitly excluded from modeling as data leakage.</a:t>
            </a:r>
            <a:endParaRPr lang="en-US" sz="1030" dirty="0"/>
          </a:p>
        </p:txBody>
      </p:sp>
      <p:sp>
        <p:nvSpPr>
          <p:cNvPr id="10" name="Shape 7"/>
          <p:cNvSpPr/>
          <p:nvPr/>
        </p:nvSpPr>
        <p:spPr>
          <a:xfrm>
            <a:off x="6355080" y="1508760"/>
            <a:ext cx="5285232" cy="4526280"/>
          </a:xfrm>
          <a:prstGeom prst="roundRect">
            <a:avLst>
              <a:gd name="adj" fmla="val 1616"/>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1" name="Shape 8"/>
          <p:cNvSpPr/>
          <p:nvPr/>
        </p:nvSpPr>
        <p:spPr>
          <a:xfrm>
            <a:off x="6629400" y="1783080"/>
            <a:ext cx="594360" cy="594360"/>
          </a:xfrm>
          <a:prstGeom prst="ellipse">
            <a:avLst/>
          </a:prstGeom>
          <a:solidFill>
            <a:srgbClr val="1B5E42"/>
          </a:solidFill>
          <a:ln/>
        </p:spPr>
      </p:sp>
      <p:pic>
        <p:nvPicPr>
          <p:cNvPr id="12" name="Image 1" descr="/home/claude/greencycle_deck2/assets/FaCamera_white.png">    </p:cNvPr>
          <p:cNvPicPr>
            <a:picLocks noChangeAspect="1"/>
          </p:cNvPicPr>
          <p:nvPr/>
        </p:nvPicPr>
        <p:blipFill>
          <a:blip r:embed="rId2"/>
          <a:stretch>
            <a:fillRect/>
          </a:stretch>
        </p:blipFill>
        <p:spPr>
          <a:xfrm>
            <a:off x="6706667" y="1860347"/>
            <a:ext cx="439826" cy="439826"/>
          </a:xfrm>
          <a:prstGeom prst="rect">
            <a:avLst/>
          </a:prstGeom>
        </p:spPr>
      </p:pic>
      <p:sp>
        <p:nvSpPr>
          <p:cNvPr id="13" name="Text 9"/>
          <p:cNvSpPr/>
          <p:nvPr/>
        </p:nvSpPr>
        <p:spPr>
          <a:xfrm>
            <a:off x="7360920" y="1783080"/>
            <a:ext cx="4114800" cy="365760"/>
          </a:xfrm>
          <a:prstGeom prst="rect">
            <a:avLst/>
          </a:prstGeom>
          <a:noFill/>
          <a:ln/>
        </p:spPr>
        <p:txBody>
          <a:bodyPr wrap="square" lIns="0" tIns="0" rIns="0" bIns="0" rtlCol="0" anchor="ctr"/>
          <a:lstStyle/>
          <a:p>
            <a:pPr indent="0" marL="0">
              <a:buNone/>
            </a:pPr>
            <a:r>
              <a:rPr lang="en-US" sz="1500" b="1" dirty="0">
                <a:solidFill>
                  <a:srgbClr val="17261F"/>
                </a:solidFill>
                <a:latin typeface="Cambria" pitchFamily="34" charset="0"/>
                <a:ea typeface="Cambria" pitchFamily="34" charset="-122"/>
                <a:cs typeface="Cambria" pitchFamily="34" charset="-120"/>
              </a:rPr>
              <a:t>Waste Image Dataset</a:t>
            </a:r>
            <a:endParaRPr lang="en-US" sz="1500" dirty="0"/>
          </a:p>
        </p:txBody>
      </p:sp>
      <p:sp>
        <p:nvSpPr>
          <p:cNvPr id="14" name="Text 10"/>
          <p:cNvSpPr/>
          <p:nvPr/>
        </p:nvSpPr>
        <p:spPr>
          <a:xfrm>
            <a:off x="7360920" y="2130552"/>
            <a:ext cx="4114800" cy="274320"/>
          </a:xfrm>
          <a:prstGeom prst="rect">
            <a:avLst/>
          </a:prstGeom>
          <a:noFill/>
          <a:ln/>
        </p:spPr>
        <p:txBody>
          <a:bodyPr wrap="square" lIns="0" tIns="0" rIns="0" bIns="0" rtlCol="0" anchor="ctr"/>
          <a:lstStyle/>
          <a:p>
            <a:pPr indent="0" marL="0">
              <a:buNone/>
            </a:pPr>
            <a:r>
              <a:rPr lang="en-US" sz="1100" b="1" dirty="0">
                <a:solidFill>
                  <a:srgbClr val="1B5E42"/>
                </a:solidFill>
                <a:latin typeface="Calibri" pitchFamily="34" charset="0"/>
                <a:ea typeface="Calibri" pitchFamily="34" charset="-122"/>
                <a:cs typeface="Calibri" pitchFamily="34" charset="-120"/>
              </a:rPr>
              <a:t>12,259 images  ·  10 classes</a:t>
            </a:r>
            <a:endParaRPr lang="en-US" sz="1100" dirty="0"/>
          </a:p>
        </p:txBody>
      </p:sp>
      <p:pic>
        <p:nvPicPr>
          <p:cNvPr id="15" name="Image 2" descr="/home/claude/greencycle_deck2/assets/wc_cell8_0.png">    </p:cNvPr>
          <p:cNvPicPr>
            <a:picLocks noChangeAspect="1"/>
          </p:cNvPicPr>
          <p:nvPr/>
        </p:nvPicPr>
        <p:blipFill>
          <a:blip r:embed="rId3"/>
          <a:stretch>
            <a:fillRect/>
          </a:stretch>
        </p:blipFill>
        <p:spPr>
          <a:xfrm>
            <a:off x="6629400" y="2542032"/>
            <a:ext cx="4709160" cy="2011680"/>
          </a:xfrm>
          <a:prstGeom prst="rect">
            <a:avLst/>
          </a:prstGeom>
        </p:spPr>
      </p:pic>
      <p:sp>
        <p:nvSpPr>
          <p:cNvPr id="16" name="Text 11"/>
          <p:cNvSpPr/>
          <p:nvPr/>
        </p:nvSpPr>
        <p:spPr>
          <a:xfrm>
            <a:off x="6629400" y="4590288"/>
            <a:ext cx="4709160" cy="457200"/>
          </a:xfrm>
          <a:prstGeom prst="rect">
            <a:avLst/>
          </a:prstGeom>
          <a:noFill/>
          <a:ln/>
        </p:spPr>
        <p:txBody>
          <a:bodyPr wrap="square" lIns="0" tIns="0" rIns="0" bIns="0" rtlCol="0" anchor="ctr"/>
          <a:lstStyle/>
          <a:p>
            <a:pPr indent="0" marL="0">
              <a:buNone/>
            </a:pPr>
            <a:r>
              <a:rPr lang="en-US" sz="1000" i="1" dirty="0">
                <a:solidFill>
                  <a:srgbClr val="5B6F65"/>
                </a:solidFill>
                <a:latin typeface="Calibri" pitchFamily="34" charset="0"/>
                <a:ea typeface="Calibri" pitchFamily="34" charset="-122"/>
                <a:cs typeface="Calibri" pitchFamily="34" charset="-120"/>
              </a:rPr>
              <a:t>battery · biological · cardboard · clothes · glass · metal · paper · plastic · shoes · trash</a:t>
            </a:r>
            <a:endParaRPr lang="en-US" sz="1000" dirty="0"/>
          </a:p>
        </p:txBody>
      </p:sp>
      <p:sp>
        <p:nvSpPr>
          <p:cNvPr id="17" name="Text 12"/>
          <p:cNvSpPr/>
          <p:nvPr/>
        </p:nvSpPr>
        <p:spPr>
          <a:xfrm>
            <a:off x="6629400" y="5074920"/>
            <a:ext cx="4709160" cy="777240"/>
          </a:xfrm>
          <a:prstGeom prst="rect">
            <a:avLst/>
          </a:prstGeom>
          <a:noFill/>
          <a:ln/>
        </p:spPr>
        <p:txBody>
          <a:bodyPr wrap="square" lIns="0" tIns="0" rIns="0" bIns="0" rtlCol="0" anchor="ctr"/>
          <a:lstStyle/>
          <a:p>
            <a:pPr indent="0" marL="0">
              <a:buNone/>
            </a:pPr>
            <a:r>
              <a:rPr lang="en-US" sz="970" dirty="0">
                <a:solidFill>
                  <a:srgbClr val="5B6F65"/>
                </a:solidFill>
                <a:latin typeface="Calibri" pitchFamily="34" charset="0"/>
                <a:ea typeface="Calibri" pitchFamily="34" charset="-122"/>
                <a:cs typeface="Calibri" pitchFamily="34" charset="-120"/>
              </a:rPr>
              <a:t>Source: Kaggle "garbage-classification-v2" — likely match (10 classes align); code folder is named standardized_2569. Split 80/20 → 9,807 train / 2,452 validation.</a:t>
            </a:r>
            <a:endParaRPr lang="en-US" sz="970" dirty="0"/>
          </a:p>
        </p:txBody>
      </p:sp>
      <p:sp>
        <p:nvSpPr>
          <p:cNvPr id="18" name="Text 13"/>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3. EDA  ·  I OF VI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How the World Actually Disposes of Waste</a:t>
            </a:r>
            <a:endParaRPr lang="en-US" sz="3000" dirty="0"/>
          </a:p>
        </p:txBody>
      </p:sp>
      <p:pic>
        <p:nvPicPr>
          <p:cNvPr id="4" name="Image 0" descr="/home/claude/greencycle_deck2/assets/mwa_cell8_0.png">    </p:cNvPr>
          <p:cNvPicPr>
            <a:picLocks noChangeAspect="1"/>
          </p:cNvPicPr>
          <p:nvPr/>
        </p:nvPicPr>
        <p:blipFill>
          <a:blip r:embed="rId1"/>
          <a:stretch>
            <a:fillRect/>
          </a:stretch>
        </p:blipFill>
        <p:spPr>
          <a:xfrm>
            <a:off x="1280160" y="1417320"/>
            <a:ext cx="4846320" cy="3931920"/>
          </a:xfrm>
          <a:prstGeom prst="rect">
            <a:avLst/>
          </a:prstGeom>
        </p:spPr>
      </p:pic>
      <p:sp>
        <p:nvSpPr>
          <p:cNvPr id="5" name="Text 2"/>
          <p:cNvSpPr/>
          <p:nvPr/>
        </p:nvSpPr>
        <p:spPr>
          <a:xfrm>
            <a:off x="6400800" y="1600200"/>
            <a:ext cx="5303520" cy="365760"/>
          </a:xfrm>
          <a:prstGeom prst="rect">
            <a:avLst/>
          </a:prstGeom>
          <a:noFill/>
          <a:ln/>
        </p:spPr>
        <p:txBody>
          <a:bodyPr wrap="square" lIns="0" tIns="0" rIns="0" bIns="0" rtlCol="0" anchor="ctr"/>
          <a:lstStyle/>
          <a:p>
            <a:pPr indent="0" marL="0">
              <a:buNone/>
            </a:pPr>
            <a:r>
              <a:rPr lang="en-US" sz="1400" b="1" dirty="0">
                <a:solidFill>
                  <a:srgbClr val="17261F"/>
                </a:solidFill>
                <a:latin typeface="Cambria" pitchFamily="34" charset="0"/>
                <a:ea typeface="Cambria" pitchFamily="34" charset="-122"/>
                <a:cs typeface="Cambria" pitchFamily="34" charset="-120"/>
              </a:rPr>
              <a:t>Global Waste Disposal Mix (239 countries, 2020)</a:t>
            </a:r>
            <a:endParaRPr lang="en-US" sz="1400" dirty="0"/>
          </a:p>
        </p:txBody>
      </p:sp>
      <p:sp>
        <p:nvSpPr>
          <p:cNvPr id="6" name="Text 3"/>
          <p:cNvSpPr/>
          <p:nvPr/>
        </p:nvSpPr>
        <p:spPr>
          <a:xfrm>
            <a:off x="6400800" y="2103120"/>
            <a:ext cx="530352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What it shows:</a:t>
            </a:r>
            <a:endParaRPr lang="en-US" sz="1100" dirty="0"/>
          </a:p>
        </p:txBody>
      </p:sp>
      <p:sp>
        <p:nvSpPr>
          <p:cNvPr id="7" name="Text 4"/>
          <p:cNvSpPr/>
          <p:nvPr/>
        </p:nvSpPr>
        <p:spPr>
          <a:xfrm>
            <a:off x="6400800" y="2423160"/>
            <a:ext cx="5303520" cy="594360"/>
          </a:xfrm>
          <a:prstGeom prst="rect">
            <a:avLst/>
          </a:prstGeom>
          <a:noFill/>
          <a:ln/>
        </p:spPr>
        <p:txBody>
          <a:bodyPr wrap="square" lIns="0" tIns="0" rIns="0" bIns="0" rtlCol="0" anchor="ctr"/>
          <a:lstStyle/>
          <a:p>
            <a:pPr indent="0" marL="0">
              <a:buNone/>
            </a:pPr>
            <a:r>
              <a:rPr lang="en-US" sz="1050" dirty="0">
                <a:solidFill>
                  <a:srgbClr val="5B6F65"/>
                </a:solidFill>
                <a:latin typeface="Calibri" pitchFamily="34" charset="0"/>
                <a:ea typeface="Calibri" pitchFamily="34" charset="-122"/>
                <a:cs typeface="Calibri" pitchFamily="34" charset="-120"/>
              </a:rPr>
              <a:t>The average share of municipal waste routed to each disposal method, averaged across 239 countries.</a:t>
            </a:r>
            <a:endParaRPr lang="en-US" sz="1050" dirty="0"/>
          </a:p>
        </p:txBody>
      </p:sp>
      <p:sp>
        <p:nvSpPr>
          <p:cNvPr id="8" name="Text 5"/>
          <p:cNvSpPr/>
          <p:nvPr/>
        </p:nvSpPr>
        <p:spPr>
          <a:xfrm>
            <a:off x="6400800" y="3108960"/>
            <a:ext cx="530352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Key observation:</a:t>
            </a:r>
            <a:endParaRPr lang="en-US" sz="1100" dirty="0"/>
          </a:p>
        </p:txBody>
      </p:sp>
      <p:sp>
        <p:nvSpPr>
          <p:cNvPr id="9" name="Text 6"/>
          <p:cNvSpPr/>
          <p:nvPr/>
        </p:nvSpPr>
        <p:spPr>
          <a:xfrm>
            <a:off x="6400800" y="3429000"/>
            <a:ext cx="5303520" cy="1188720"/>
          </a:xfrm>
          <a:prstGeom prst="rect">
            <a:avLst/>
          </a:prstGeom>
          <a:noFill/>
          <a:ln/>
        </p:spPr>
        <p:txBody>
          <a:bodyPr wrap="square" lIns="0" tIns="0" rIns="0" bIns="0" rtlCol="0" anchor="ctr"/>
          <a:lstStyle/>
          <a:p>
            <a:pPr indent="0" marL="0">
              <a:buNone/>
            </a:pPr>
            <a:r>
              <a:rPr lang="en-US" sz="1050" dirty="0">
                <a:solidFill>
                  <a:srgbClr val="5B6F65"/>
                </a:solidFill>
                <a:latin typeface="Calibri" pitchFamily="34" charset="0"/>
                <a:ea typeface="Calibri" pitchFamily="34" charset="-122"/>
                <a:cs typeface="Calibri" pitchFamily="34" charset="-120"/>
              </a:rPr>
              <a:t>Open dumping (33.6%) is the single largest method worldwide — larger than controlled landfills (20.6%), and far larger than recycling (9.7%). 49 of 239 countries collect less than half their waste; the Faroe Islands recycle 66.9% while Kuwait relies on open dumping for 100%.</a:t>
            </a:r>
            <a:endParaRPr lang="en-US" sz="1050" dirty="0"/>
          </a:p>
        </p:txBody>
      </p:sp>
      <p:sp>
        <p:nvSpPr>
          <p:cNvPr id="10" name="Text 7"/>
          <p:cNvSpPr/>
          <p:nvPr/>
        </p:nvSpPr>
        <p:spPr>
          <a:xfrm>
            <a:off x="6400800" y="4663440"/>
            <a:ext cx="530352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How this shaped the project:</a:t>
            </a:r>
            <a:endParaRPr lang="en-US" sz="1100" dirty="0"/>
          </a:p>
        </p:txBody>
      </p:sp>
      <p:sp>
        <p:nvSpPr>
          <p:cNvPr id="11" name="Text 8"/>
          <p:cNvSpPr/>
          <p:nvPr/>
        </p:nvSpPr>
        <p:spPr>
          <a:xfrm>
            <a:off x="6400800" y="4983480"/>
            <a:ext cx="5303520" cy="731520"/>
          </a:xfrm>
          <a:prstGeom prst="rect">
            <a:avLst/>
          </a:prstGeom>
          <a:noFill/>
          <a:ln/>
        </p:spPr>
        <p:txBody>
          <a:bodyPr wrap="square" lIns="0" tIns="0" rIns="0" bIns="0" rtlCol="0" anchor="ctr"/>
          <a:lstStyle/>
          <a:p>
            <a:pPr indent="0" marL="0">
              <a:buNone/>
            </a:pPr>
            <a:r>
              <a:rPr lang="en-US" sz="1050" dirty="0">
                <a:solidFill>
                  <a:srgbClr val="5B6F65"/>
                </a:solidFill>
                <a:latin typeface="Calibri" pitchFamily="34" charset="0"/>
                <a:ea typeface="Calibri" pitchFamily="34" charset="-122"/>
                <a:cs typeface="Calibri" pitchFamily="34" charset="-120"/>
              </a:rPr>
              <a:t>This confirmed the product should focus on practical disposal guidance and pollution detection, not assume recycling infrastructure exists everywhere.</a:t>
            </a:r>
            <a:endParaRPr lang="en-US" sz="1050" dirty="0"/>
          </a:p>
        </p:txBody>
      </p:sp>
      <p:sp>
        <p:nvSpPr>
          <p:cNvPr id="12" name="Text 9"/>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3. EDA  ·  II OF VI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Plastic Pollution Is Concentrated, Not Even</a:t>
            </a:r>
            <a:endParaRPr lang="en-US" sz="3000" dirty="0"/>
          </a:p>
        </p:txBody>
      </p:sp>
      <p:pic>
        <p:nvPicPr>
          <p:cNvPr id="4" name="Image 0" descr="/home/claude/greencycle_deck2/assets/custom_top10_plastic.png">    </p:cNvPr>
          <p:cNvPicPr>
            <a:picLocks noChangeAspect="1"/>
          </p:cNvPicPr>
          <p:nvPr/>
        </p:nvPicPr>
        <p:blipFill>
          <a:blip r:embed="rId1"/>
          <a:stretch>
            <a:fillRect/>
          </a:stretch>
        </p:blipFill>
        <p:spPr>
          <a:xfrm>
            <a:off x="502920" y="1417320"/>
            <a:ext cx="6126480" cy="4087368"/>
          </a:xfrm>
          <a:prstGeom prst="rect">
            <a:avLst/>
          </a:prstGeom>
        </p:spPr>
      </p:pic>
      <p:sp>
        <p:nvSpPr>
          <p:cNvPr id="5" name="Text 2"/>
          <p:cNvSpPr/>
          <p:nvPr/>
        </p:nvSpPr>
        <p:spPr>
          <a:xfrm>
            <a:off x="6903720" y="1600200"/>
            <a:ext cx="4800600" cy="502920"/>
          </a:xfrm>
          <a:prstGeom prst="rect">
            <a:avLst/>
          </a:prstGeom>
          <a:noFill/>
          <a:ln/>
        </p:spPr>
        <p:txBody>
          <a:bodyPr wrap="square" lIns="0" tIns="0" rIns="0" bIns="0" rtlCol="0" anchor="ctr"/>
          <a:lstStyle/>
          <a:p>
            <a:pPr indent="0" marL="0">
              <a:buNone/>
            </a:pPr>
            <a:r>
              <a:rPr lang="en-US" sz="1350" b="1" dirty="0">
                <a:solidFill>
                  <a:srgbClr val="17261F"/>
                </a:solidFill>
                <a:latin typeface="Cambria" pitchFamily="34" charset="0"/>
                <a:ea typeface="Cambria" pitchFamily="34" charset="-122"/>
                <a:cs typeface="Cambria" pitchFamily="34" charset="-120"/>
              </a:rPr>
              <a:t>Top 10 Countries — Mismanaged Plastic Waste per Capita</a:t>
            </a:r>
            <a:endParaRPr lang="en-US" sz="1350" dirty="0"/>
          </a:p>
        </p:txBody>
      </p:sp>
      <p:sp>
        <p:nvSpPr>
          <p:cNvPr id="6" name="Text 3"/>
          <p:cNvSpPr/>
          <p:nvPr/>
        </p:nvSpPr>
        <p:spPr>
          <a:xfrm>
            <a:off x="6903720" y="2194560"/>
            <a:ext cx="480060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What it shows:</a:t>
            </a:r>
            <a:endParaRPr lang="en-US" sz="1100" dirty="0"/>
          </a:p>
        </p:txBody>
      </p:sp>
      <p:sp>
        <p:nvSpPr>
          <p:cNvPr id="7" name="Text 4"/>
          <p:cNvSpPr/>
          <p:nvPr/>
        </p:nvSpPr>
        <p:spPr>
          <a:xfrm>
            <a:off x="6903720" y="2514600"/>
            <a:ext cx="4800600" cy="594360"/>
          </a:xfrm>
          <a:prstGeom prst="rect">
            <a:avLst/>
          </a:prstGeom>
          <a:noFill/>
          <a:ln/>
        </p:spPr>
        <p:txBody>
          <a:bodyPr wrap="square" lIns="0" tIns="0" rIns="0" bIns="0" rtlCol="0" anchor="ctr"/>
          <a:lstStyle/>
          <a:p>
            <a:pPr indent="0" marL="0">
              <a:buNone/>
            </a:pPr>
            <a:r>
              <a:rPr lang="en-US" sz="1050" dirty="0">
                <a:solidFill>
                  <a:srgbClr val="5B6F65"/>
                </a:solidFill>
                <a:latin typeface="Calibri" pitchFamily="34" charset="0"/>
                <a:ea typeface="Calibri" pitchFamily="34" charset="-122"/>
                <a:cs typeface="Calibri" pitchFamily="34" charset="-120"/>
              </a:rPr>
              <a:t>Kg of mismanaged plastic waste per person per day, ranked across the 107 countries in the cleaned dataset.</a:t>
            </a:r>
            <a:endParaRPr lang="en-US" sz="1050" dirty="0"/>
          </a:p>
        </p:txBody>
      </p:sp>
      <p:sp>
        <p:nvSpPr>
          <p:cNvPr id="8" name="Text 5"/>
          <p:cNvSpPr/>
          <p:nvPr/>
        </p:nvSpPr>
        <p:spPr>
          <a:xfrm>
            <a:off x="6903720" y="3200400"/>
            <a:ext cx="480060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Key observation:</a:t>
            </a:r>
            <a:endParaRPr lang="en-US" sz="1100" dirty="0"/>
          </a:p>
        </p:txBody>
      </p:sp>
      <p:sp>
        <p:nvSpPr>
          <p:cNvPr id="9" name="Text 6"/>
          <p:cNvSpPr/>
          <p:nvPr/>
        </p:nvSpPr>
        <p:spPr>
          <a:xfrm>
            <a:off x="6903720" y="3520440"/>
            <a:ext cx="4800600" cy="1188720"/>
          </a:xfrm>
          <a:prstGeom prst="rect">
            <a:avLst/>
          </a:prstGeom>
          <a:noFill/>
          <a:ln/>
        </p:spPr>
        <p:txBody>
          <a:bodyPr wrap="square" lIns="0" tIns="0" rIns="0" bIns="0" rtlCol="0" anchor="ctr"/>
          <a:lstStyle/>
          <a:p>
            <a:pPr indent="0" marL="0">
              <a:buNone/>
            </a:pPr>
            <a:r>
              <a:rPr lang="en-US" sz="1050" dirty="0">
                <a:solidFill>
                  <a:srgbClr val="5B6F65"/>
                </a:solidFill>
                <a:latin typeface="Calibri" pitchFamily="34" charset="0"/>
                <a:ea typeface="Calibri" pitchFamily="34" charset="-122"/>
                <a:cs typeface="Calibri" pitchFamily="34" charset="-120"/>
              </a:rPr>
              <a:t>Egypt ranks 3rd globally (0.122 kg/person/day). The dataset also shows a direct relationship between coastal population size and mismanaged plastic tonnage, and between economic status (LMI/UMI/HIC) and mismanagement efficiency.</a:t>
            </a:r>
            <a:endParaRPr lang="en-US" sz="1050" dirty="0"/>
          </a:p>
        </p:txBody>
      </p:sp>
      <p:sp>
        <p:nvSpPr>
          <p:cNvPr id="10" name="Text 7"/>
          <p:cNvSpPr/>
          <p:nvPr/>
        </p:nvSpPr>
        <p:spPr>
          <a:xfrm>
            <a:off x="6903720" y="4800600"/>
            <a:ext cx="480060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How this shaped the project:</a:t>
            </a:r>
            <a:endParaRPr lang="en-US" sz="1100" dirty="0"/>
          </a:p>
        </p:txBody>
      </p:sp>
      <p:sp>
        <p:nvSpPr>
          <p:cNvPr id="11" name="Text 8"/>
          <p:cNvSpPr/>
          <p:nvPr/>
        </p:nvSpPr>
        <p:spPr>
          <a:xfrm>
            <a:off x="6903720" y="5120640"/>
            <a:ext cx="4800600" cy="731520"/>
          </a:xfrm>
          <a:prstGeom prst="rect">
            <a:avLst/>
          </a:prstGeom>
          <a:noFill/>
          <a:ln/>
        </p:spPr>
        <p:txBody>
          <a:bodyPr wrap="square" lIns="0" tIns="0" rIns="0" bIns="0" rtlCol="0" anchor="ctr"/>
          <a:lstStyle/>
          <a:p>
            <a:pPr indent="0" marL="0">
              <a:buNone/>
            </a:pPr>
            <a:r>
              <a:rPr lang="en-US" sz="1050" dirty="0">
                <a:solidFill>
                  <a:srgbClr val="5B6F65"/>
                </a:solidFill>
                <a:latin typeface="Calibri" pitchFamily="34" charset="0"/>
                <a:ea typeface="Calibri" pitchFamily="34" charset="-122"/>
                <a:cs typeface="Calibri" pitchFamily="34" charset="-120"/>
              </a:rPr>
              <a:t>Confirmed this is a regionally relevant problem, motivating the vision-based recycling/pollution scanner as a core feature rather than a generic add-on.</a:t>
            </a:r>
            <a:endParaRPr lang="en-US" sz="1050" dirty="0"/>
          </a:p>
        </p:txBody>
      </p:sp>
      <p:sp>
        <p:nvSpPr>
          <p:cNvPr id="12" name="Text 9"/>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3. EDA  ·  III OF VI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Urban Air &amp; Water Quality Vary Widely</a:t>
            </a:r>
            <a:endParaRPr lang="en-US" sz="3000" dirty="0"/>
          </a:p>
        </p:txBody>
      </p:sp>
      <p:pic>
        <p:nvPicPr>
          <p:cNvPr id="4" name="Image 0" descr="/home/claude/greencycle_deck2/assets/mwa_cell20_4.png">    </p:cNvPr>
          <p:cNvPicPr>
            <a:picLocks noChangeAspect="1"/>
          </p:cNvPicPr>
          <p:nvPr/>
        </p:nvPicPr>
        <p:blipFill>
          <a:blip r:embed="rId1"/>
          <a:stretch>
            <a:fillRect/>
          </a:stretch>
        </p:blipFill>
        <p:spPr>
          <a:xfrm>
            <a:off x="502920" y="1463040"/>
            <a:ext cx="8229600" cy="3236976"/>
          </a:xfrm>
          <a:prstGeom prst="rect">
            <a:avLst/>
          </a:prstGeom>
        </p:spPr>
      </p:pic>
      <p:sp>
        <p:nvSpPr>
          <p:cNvPr id="5" name="Text 2"/>
          <p:cNvSpPr/>
          <p:nvPr/>
        </p:nvSpPr>
        <p:spPr>
          <a:xfrm>
            <a:off x="502920" y="4828032"/>
            <a:ext cx="8229600" cy="32004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Air Quality and Water Pollution Score Distributions (3,937 cities)</a:t>
            </a:r>
            <a:endParaRPr lang="en-US" sz="1250" dirty="0"/>
          </a:p>
        </p:txBody>
      </p:sp>
      <p:sp>
        <p:nvSpPr>
          <p:cNvPr id="6" name="Text 3"/>
          <p:cNvSpPr/>
          <p:nvPr/>
        </p:nvSpPr>
        <p:spPr>
          <a:xfrm>
            <a:off x="502920" y="5212080"/>
            <a:ext cx="822960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Key observations:</a:t>
            </a:r>
            <a:endParaRPr lang="en-US" sz="1100" dirty="0"/>
          </a:p>
        </p:txBody>
      </p:sp>
      <p:sp>
        <p:nvSpPr>
          <p:cNvPr id="7" name="Text 4"/>
          <p:cNvSpPr/>
          <p:nvPr/>
        </p:nvSpPr>
        <p:spPr>
          <a:xfrm>
            <a:off x="502920" y="5532120"/>
            <a:ext cx="11155680" cy="822960"/>
          </a:xfrm>
          <a:prstGeom prst="rect">
            <a:avLst/>
          </a:prstGeom>
          <a:noFill/>
          <a:ln/>
        </p:spPr>
        <p:txBody>
          <a:bodyPr wrap="square" lIns="0" tIns="0" rIns="0" bIns="0" rtlCol="0" anchor="ctr"/>
          <a:lstStyle/>
          <a:p>
            <a:pPr indent="0" marL="0">
              <a:buNone/>
            </a:pPr>
            <a:r>
              <a:rPr lang="en-US" sz="1000" dirty="0">
                <a:solidFill>
                  <a:srgbClr val="5B6F65"/>
                </a:solidFill>
                <a:latin typeface="Calibri" pitchFamily="34" charset="0"/>
                <a:ea typeface="Calibri" pitchFamily="34" charset="-122"/>
                <a:cs typeface="Calibri" pitchFamily="34" charset="-120"/>
              </a:rPr>
              <a:t>Mean air quality 62.4 (median 70.0) — but 25.2% of cities score below 40 (poor). Mean water pollution 44.6 (median 50.0) — 19.3% of cities score above 66 (highly polluted). Best air quality: Finland (95.8). Worst: China (10.8). Cleanest water: Sweden (18.8). Most polluted: Lebanon (90.8).</a:t>
            </a:r>
            <a:endParaRPr lang="en-US" sz="1000" dirty="0"/>
          </a:p>
        </p:txBody>
      </p:sp>
      <p:sp>
        <p:nvSpPr>
          <p:cNvPr id="8" name="Shape 5"/>
          <p:cNvSpPr/>
          <p:nvPr/>
        </p:nvSpPr>
        <p:spPr>
          <a:xfrm>
            <a:off x="9006840" y="1463040"/>
            <a:ext cx="2697480" cy="3236976"/>
          </a:xfrm>
          <a:prstGeom prst="rect">
            <a:avLst/>
          </a:prstGeom>
          <a:solidFill>
            <a:srgbClr val="EAF5EE"/>
          </a:solidFill>
          <a:ln/>
        </p:spPr>
      </p:sp>
      <p:sp>
        <p:nvSpPr>
          <p:cNvPr id="9" name="Text 6"/>
          <p:cNvSpPr/>
          <p:nvPr/>
        </p:nvSpPr>
        <p:spPr>
          <a:xfrm>
            <a:off x="9189720" y="1691640"/>
            <a:ext cx="2331720" cy="2834640"/>
          </a:xfrm>
          <a:prstGeom prst="rect">
            <a:avLst/>
          </a:prstGeom>
          <a:noFill/>
          <a:ln/>
        </p:spPr>
        <p:txBody>
          <a:bodyPr wrap="square" lIns="0" tIns="0" rIns="0" bIns="0" rtlCol="0" anchor="t"/>
          <a:lstStyle/>
          <a:p>
            <a:pPr indent="0" marL="0">
              <a:buNone/>
            </a:pPr>
            <a:r>
              <a:rPr lang="en-US" sz="1000" i="1" dirty="0">
                <a:solidFill>
                  <a:srgbClr val="17261F"/>
                </a:solidFill>
                <a:latin typeface="Calibri" pitchFamily="34" charset="0"/>
                <a:ea typeface="Calibri" pitchFamily="34" charset="-122"/>
                <a:cs typeface="Calibri" pitchFamily="34" charset="-120"/>
              </a:rPr>
              <a:t>This dataset feeds directly into the correlation analysis on the next slide, linking waste-management practices to real air and water outcomes.</a:t>
            </a:r>
            <a:endParaRPr lang="en-US" sz="1000" dirty="0"/>
          </a:p>
        </p:txBody>
      </p:sp>
      <p:sp>
        <p:nvSpPr>
          <p:cNvPr id="10" name="Text 7"/>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3. EDA  ·  IV OF VI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Disposal Choices Correlate With Environmental Outcomes</a:t>
            </a:r>
            <a:endParaRPr lang="en-US" sz="3000" dirty="0"/>
          </a:p>
        </p:txBody>
      </p:sp>
      <p:pic>
        <p:nvPicPr>
          <p:cNvPr id="4" name="Image 0" descr="/home/claude/greencycle_deck2/assets/mwa_cell29_7.png">    </p:cNvPr>
          <p:cNvPicPr>
            <a:picLocks noChangeAspect="1"/>
          </p:cNvPicPr>
          <p:nvPr/>
        </p:nvPicPr>
        <p:blipFill>
          <a:blip r:embed="rId1"/>
          <a:stretch>
            <a:fillRect/>
          </a:stretch>
        </p:blipFill>
        <p:spPr>
          <a:xfrm>
            <a:off x="1920240" y="1371600"/>
            <a:ext cx="5394960" cy="4233672"/>
          </a:xfrm>
          <a:prstGeom prst="rect">
            <a:avLst/>
          </a:prstGeom>
        </p:spPr>
      </p:pic>
      <p:sp>
        <p:nvSpPr>
          <p:cNvPr id="5" name="Text 2"/>
          <p:cNvSpPr/>
          <p:nvPr/>
        </p:nvSpPr>
        <p:spPr>
          <a:xfrm>
            <a:off x="7498080" y="1554480"/>
            <a:ext cx="4206240" cy="502920"/>
          </a:xfrm>
          <a:prstGeom prst="rect">
            <a:avLst/>
          </a:prstGeom>
          <a:noFill/>
          <a:ln/>
        </p:spPr>
        <p:txBody>
          <a:bodyPr wrap="square" lIns="0" tIns="0" rIns="0" bIns="0" rtlCol="0" anchor="ctr"/>
          <a:lstStyle/>
          <a:p>
            <a:pPr indent="0" marL="0">
              <a:buNone/>
            </a:pPr>
            <a:r>
              <a:rPr lang="en-US" sz="1300" b="1" dirty="0">
                <a:solidFill>
                  <a:srgbClr val="17261F"/>
                </a:solidFill>
                <a:latin typeface="Cambria" pitchFamily="34" charset="0"/>
                <a:ea typeface="Cambria" pitchFamily="34" charset="-122"/>
                <a:cs typeface="Cambria" pitchFamily="34" charset="-120"/>
              </a:rPr>
              <a:t>Cross-Dataset Correlations (120 matched countries)</a:t>
            </a:r>
            <a:endParaRPr lang="en-US" sz="1300" dirty="0"/>
          </a:p>
        </p:txBody>
      </p:sp>
      <p:sp>
        <p:nvSpPr>
          <p:cNvPr id="6" name="Text 3"/>
          <p:cNvSpPr/>
          <p:nvPr/>
        </p:nvSpPr>
        <p:spPr>
          <a:xfrm>
            <a:off x="7498080" y="2103120"/>
            <a:ext cx="420624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What it shows:</a:t>
            </a:r>
            <a:endParaRPr lang="en-US" sz="1100" dirty="0"/>
          </a:p>
        </p:txBody>
      </p:sp>
      <p:sp>
        <p:nvSpPr>
          <p:cNvPr id="7" name="Text 4"/>
          <p:cNvSpPr/>
          <p:nvPr/>
        </p:nvSpPr>
        <p:spPr>
          <a:xfrm>
            <a:off x="7498080" y="2423160"/>
            <a:ext cx="4206240" cy="777240"/>
          </a:xfrm>
          <a:prstGeom prst="rect">
            <a:avLst/>
          </a:prstGeom>
          <a:noFill/>
          <a:ln/>
        </p:spPr>
        <p:txBody>
          <a:bodyPr wrap="square" lIns="0" tIns="0" rIns="0" bIns="0" rtlCol="0" anchor="ctr"/>
          <a:lstStyle/>
          <a:p>
            <a:pPr indent="0" marL="0">
              <a:buNone/>
            </a:pPr>
            <a:r>
              <a:rPr lang="en-US" sz="1000" dirty="0">
                <a:solidFill>
                  <a:srgbClr val="5B6F65"/>
                </a:solidFill>
                <a:latin typeface="Calibri" pitchFamily="34" charset="0"/>
                <a:ea typeface="Calibri" pitchFamily="34" charset="-122"/>
                <a:cs typeface="Calibri" pitchFamily="34" charset="-120"/>
              </a:rPr>
              <a:t>Pearson correlation between each disposal method's share and city-level air/water quality, across the 120 countries present in both datasets.</a:t>
            </a:r>
            <a:endParaRPr lang="en-US" sz="1000" dirty="0"/>
          </a:p>
        </p:txBody>
      </p:sp>
      <p:sp>
        <p:nvSpPr>
          <p:cNvPr id="8" name="Text 5"/>
          <p:cNvSpPr/>
          <p:nvPr/>
        </p:nvSpPr>
        <p:spPr>
          <a:xfrm>
            <a:off x="7498080" y="3291840"/>
            <a:ext cx="420624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Key observation:</a:t>
            </a:r>
            <a:endParaRPr lang="en-US" sz="1100" dirty="0"/>
          </a:p>
        </p:txBody>
      </p:sp>
      <p:sp>
        <p:nvSpPr>
          <p:cNvPr id="9" name="Text 6"/>
          <p:cNvSpPr/>
          <p:nvPr/>
        </p:nvSpPr>
        <p:spPr>
          <a:xfrm>
            <a:off x="7498080" y="3611880"/>
            <a:ext cx="4206240" cy="1005840"/>
          </a:xfrm>
          <a:prstGeom prst="rect">
            <a:avLst/>
          </a:prstGeom>
          <a:noFill/>
          <a:ln/>
        </p:spPr>
        <p:txBody>
          <a:bodyPr wrap="square" lIns="0" tIns="0" rIns="0" bIns="0" rtlCol="0" anchor="ctr"/>
          <a:lstStyle/>
          <a:p>
            <a:pPr indent="0" marL="0">
              <a:buNone/>
            </a:pPr>
            <a:r>
              <a:rPr lang="en-US" sz="1000" dirty="0">
                <a:solidFill>
                  <a:srgbClr val="5B6F65"/>
                </a:solidFill>
                <a:latin typeface="Calibri" pitchFamily="34" charset="0"/>
                <a:ea typeface="Calibri" pitchFamily="34" charset="-122"/>
                <a:cs typeface="Calibri" pitchFamily="34" charset="-120"/>
              </a:rPr>
              <a:t>Open dumping vs. air quality: r = -0.50. Recycling rate vs. air quality: r = +0.43. Open dumping vs. water pollution: r = +0.51. Open burning vs. air quality: r = -0.30.</a:t>
            </a:r>
            <a:endParaRPr lang="en-US" sz="1000" dirty="0"/>
          </a:p>
        </p:txBody>
      </p:sp>
      <p:sp>
        <p:nvSpPr>
          <p:cNvPr id="10" name="Text 7"/>
          <p:cNvSpPr/>
          <p:nvPr/>
        </p:nvSpPr>
        <p:spPr>
          <a:xfrm>
            <a:off x="7498080" y="4709160"/>
            <a:ext cx="4206240" cy="274320"/>
          </a:xfrm>
          <a:prstGeom prst="rect">
            <a:avLst/>
          </a:prstGeom>
          <a:noFill/>
          <a:ln/>
        </p:spPr>
        <p:txBody>
          <a:bodyPr wrap="square" lIns="0" tIns="0" rIns="0" bIns="0" rtlCol="0" anchor="ctr"/>
          <a:lstStyle/>
          <a:p>
            <a:pPr indent="0" marL="0">
              <a:buNone/>
            </a:pPr>
            <a:r>
              <a:rPr lang="en-US" sz="1100" b="1" dirty="0">
                <a:solidFill>
                  <a:srgbClr val="17261F"/>
                </a:solidFill>
                <a:latin typeface="Calibri" pitchFamily="34" charset="0"/>
                <a:ea typeface="Calibri" pitchFamily="34" charset="-122"/>
                <a:cs typeface="Calibri" pitchFamily="34" charset="-120"/>
              </a:rPr>
              <a:t>How this shaped the project:</a:t>
            </a:r>
            <a:endParaRPr lang="en-US" sz="1100" dirty="0"/>
          </a:p>
        </p:txBody>
      </p:sp>
      <p:sp>
        <p:nvSpPr>
          <p:cNvPr id="11" name="Text 8"/>
          <p:cNvSpPr/>
          <p:nvPr/>
        </p:nvSpPr>
        <p:spPr>
          <a:xfrm>
            <a:off x="7498080" y="5029200"/>
            <a:ext cx="4206240" cy="914400"/>
          </a:xfrm>
          <a:prstGeom prst="rect">
            <a:avLst/>
          </a:prstGeom>
          <a:noFill/>
          <a:ln/>
        </p:spPr>
        <p:txBody>
          <a:bodyPr wrap="square" lIns="0" tIns="0" rIns="0" bIns="0" rtlCol="0" anchor="ctr"/>
          <a:lstStyle/>
          <a:p>
            <a:pPr indent="0" marL="0">
              <a:buNone/>
            </a:pPr>
            <a:r>
              <a:rPr lang="en-US" sz="1000" dirty="0">
                <a:solidFill>
                  <a:srgbClr val="5B6F65"/>
                </a:solidFill>
                <a:latin typeface="Calibri" pitchFamily="34" charset="0"/>
                <a:ea typeface="Calibri" pitchFamily="34" charset="-122"/>
                <a:cs typeface="Calibri" pitchFamily="34" charset="-120"/>
              </a:rPr>
              <a:t>This is the strongest evidence in the whole EDA that disposal method choice, not just waste volume, drives real environmental outcomes — directly motivating the recycling/pollution-focused product features.</a:t>
            </a:r>
            <a:endParaRPr lang="en-US" sz="1000" dirty="0"/>
          </a:p>
        </p:txBody>
      </p:sp>
      <p:sp>
        <p:nvSpPr>
          <p:cNvPr id="12" name="Text 9"/>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3. EDA  ·  V OF VI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Data Quality Checks Behind the CO2 Model</a:t>
            </a:r>
            <a:endParaRPr lang="en-US" sz="3000" dirty="0"/>
          </a:p>
        </p:txBody>
      </p:sp>
      <p:pic>
        <p:nvPicPr>
          <p:cNvPr id="4" name="Image 0" descr="/home/claude/greencycle_deck2/assets/co2v2_cell12_0.png">    </p:cNvPr>
          <p:cNvPicPr>
            <a:picLocks noChangeAspect="1"/>
          </p:cNvPicPr>
          <p:nvPr/>
        </p:nvPicPr>
        <p:blipFill>
          <a:blip r:embed="rId1"/>
          <a:stretch>
            <a:fillRect/>
          </a:stretch>
        </p:blipFill>
        <p:spPr>
          <a:xfrm>
            <a:off x="502920" y="1463040"/>
            <a:ext cx="5577840" cy="3337560"/>
          </a:xfrm>
          <a:prstGeom prst="rect">
            <a:avLst/>
          </a:prstGeom>
        </p:spPr>
      </p:pic>
      <p:sp>
        <p:nvSpPr>
          <p:cNvPr id="5" name="Text 2"/>
          <p:cNvSpPr/>
          <p:nvPr/>
        </p:nvSpPr>
        <p:spPr>
          <a:xfrm>
            <a:off x="502920" y="4892040"/>
            <a:ext cx="5577840" cy="320040"/>
          </a:xfrm>
          <a:prstGeom prst="rect">
            <a:avLst/>
          </a:prstGeom>
          <a:noFill/>
          <a:ln/>
        </p:spPr>
        <p:txBody>
          <a:bodyPr wrap="square" lIns="0" tIns="0" rIns="0" bIns="0" rtlCol="0" anchor="ctr"/>
          <a:lstStyle/>
          <a:p>
            <a:pPr indent="0" marL="0">
              <a:buNone/>
            </a:pPr>
            <a:r>
              <a:rPr lang="en-US" sz="1200" b="1" dirty="0">
                <a:solidFill>
                  <a:srgbClr val="17261F"/>
                </a:solidFill>
                <a:latin typeface="Cambria" pitchFamily="34" charset="0"/>
                <a:ea typeface="Cambria" pitchFamily="34" charset="-122"/>
                <a:cs typeface="Cambria" pitchFamily="34" charset="-120"/>
              </a:rPr>
              <a:t>Missing Values per Column (before cleaning)</a:t>
            </a:r>
            <a:endParaRPr lang="en-US" sz="1200" dirty="0"/>
          </a:p>
        </p:txBody>
      </p:sp>
      <p:sp>
        <p:nvSpPr>
          <p:cNvPr id="6" name="Text 3"/>
          <p:cNvSpPr/>
          <p:nvPr/>
        </p:nvSpPr>
        <p:spPr>
          <a:xfrm>
            <a:off x="502920" y="5212080"/>
            <a:ext cx="5577840" cy="1005840"/>
          </a:xfrm>
          <a:prstGeom prst="rect">
            <a:avLst/>
          </a:prstGeom>
          <a:noFill/>
          <a:ln/>
        </p:spPr>
        <p:txBody>
          <a:bodyPr wrap="square" lIns="0" tIns="0" rIns="0" bIns="0" rtlCol="0" anchor="ctr"/>
          <a:lstStyle/>
          <a:p>
            <a:pPr indent="0" marL="0">
              <a:buNone/>
            </a:pPr>
            <a:r>
              <a:rPr lang="en-US" sz="970" dirty="0">
                <a:solidFill>
                  <a:srgbClr val="5B6F65"/>
                </a:solidFill>
                <a:latin typeface="Calibri" pitchFamily="34" charset="0"/>
                <a:ea typeface="Calibri" pitchFamily="34" charset="-122"/>
                <a:cs typeface="Calibri" pitchFamily="34" charset="-120"/>
              </a:rPr>
              <a:t>Shows % missing across all 33 selected OWID columns. Insight: energy and gas-emission columns were worst (~47.5% missing) — small/non-industrial countries often don't report or have these sources, shaping a tiered fill strategy instead of blind imputation.</a:t>
            </a:r>
            <a:endParaRPr lang="en-US" sz="970" dirty="0"/>
          </a:p>
        </p:txBody>
      </p:sp>
      <p:pic>
        <p:nvPicPr>
          <p:cNvPr id="7" name="Image 1" descr="/home/claude/greencycle_deck2/assets/co2v2_cell20_2.png">    </p:cNvPr>
          <p:cNvPicPr>
            <a:picLocks noChangeAspect="1"/>
          </p:cNvPicPr>
          <p:nvPr/>
        </p:nvPicPr>
        <p:blipFill>
          <a:blip r:embed="rId2"/>
          <a:stretch>
            <a:fillRect/>
          </a:stretch>
        </p:blipFill>
        <p:spPr>
          <a:xfrm>
            <a:off x="6355080" y="1463040"/>
            <a:ext cx="5303520" cy="3538728"/>
          </a:xfrm>
          <a:prstGeom prst="rect">
            <a:avLst/>
          </a:prstGeom>
        </p:spPr>
      </p:pic>
      <p:sp>
        <p:nvSpPr>
          <p:cNvPr id="8" name="Text 4"/>
          <p:cNvSpPr/>
          <p:nvPr/>
        </p:nvSpPr>
        <p:spPr>
          <a:xfrm>
            <a:off x="6355080" y="5138928"/>
            <a:ext cx="5303520" cy="320040"/>
          </a:xfrm>
          <a:prstGeom prst="rect">
            <a:avLst/>
          </a:prstGeom>
          <a:noFill/>
          <a:ln/>
        </p:spPr>
        <p:txBody>
          <a:bodyPr wrap="square" lIns="0" tIns="0" rIns="0" bIns="0" rtlCol="0" anchor="ctr"/>
          <a:lstStyle/>
          <a:p>
            <a:pPr indent="0" marL="0">
              <a:buNone/>
            </a:pPr>
            <a:r>
              <a:rPr lang="en-US" sz="1200" b="1" dirty="0">
                <a:solidFill>
                  <a:srgbClr val="17261F"/>
                </a:solidFill>
                <a:latin typeface="Cambria" pitchFamily="34" charset="0"/>
                <a:ea typeface="Cambria" pitchFamily="34" charset="-122"/>
                <a:cs typeface="Cambria" pitchFamily="34" charset="-120"/>
              </a:rPr>
              <a:t>co2_growth_prct After Outlier Capping</a:t>
            </a:r>
            <a:endParaRPr lang="en-US" sz="1200" dirty="0"/>
          </a:p>
        </p:txBody>
      </p:sp>
      <p:sp>
        <p:nvSpPr>
          <p:cNvPr id="9" name="Text 5"/>
          <p:cNvSpPr/>
          <p:nvPr/>
        </p:nvSpPr>
        <p:spPr>
          <a:xfrm>
            <a:off x="6355080" y="5458968"/>
            <a:ext cx="5303520" cy="1005840"/>
          </a:xfrm>
          <a:prstGeom prst="rect">
            <a:avLst/>
          </a:prstGeom>
          <a:noFill/>
          <a:ln/>
        </p:spPr>
        <p:txBody>
          <a:bodyPr wrap="square" lIns="0" tIns="0" rIns="0" bIns="0" rtlCol="0" anchor="ctr"/>
          <a:lstStyle/>
          <a:p>
            <a:pPr indent="0" marL="0">
              <a:buNone/>
            </a:pPr>
            <a:r>
              <a:rPr lang="en-US" sz="970" dirty="0">
                <a:solidFill>
                  <a:srgbClr val="5B6F65"/>
                </a:solidFill>
                <a:latin typeface="Calibri" pitchFamily="34" charset="0"/>
                <a:ea typeface="Calibri" pitchFamily="34" charset="-122"/>
                <a:cs typeface="Calibri" pitchFamily="34" charset="-120"/>
              </a:rPr>
              <a:t>Before capping, values reached +147,000% (near-zero emissions jumping to a small positive number). Insight: capping at the 1st/99th percentile (259 points) kept the signal usable without deleting real data.</a:t>
            </a:r>
            <a:endParaRPr lang="en-US" sz="970" dirty="0"/>
          </a:p>
        </p:txBody>
      </p:sp>
      <p:sp>
        <p:nvSpPr>
          <p:cNvPr id="10" name="Text 6"/>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3. EDA  ·  VI OF VI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Which Materials Deliver the Most Value?</a:t>
            </a:r>
            <a:endParaRPr lang="en-US" sz="3000" dirty="0"/>
          </a:p>
        </p:txBody>
      </p:sp>
      <p:pic>
        <p:nvPicPr>
          <p:cNvPr id="4" name="Image 0" descr="/home/claude/greencycle_deck2/assets/custom_material_ghg.png">    </p:cNvPr>
          <p:cNvPicPr>
            <a:picLocks noChangeAspect="1"/>
          </p:cNvPicPr>
          <p:nvPr/>
        </p:nvPicPr>
        <p:blipFill>
          <a:blip r:embed="rId1"/>
          <a:stretch>
            <a:fillRect/>
          </a:stretch>
        </p:blipFill>
        <p:spPr>
          <a:xfrm>
            <a:off x="457200" y="1417320"/>
            <a:ext cx="6263640" cy="4352544"/>
          </a:xfrm>
          <a:prstGeom prst="rect">
            <a:avLst/>
          </a:prstGeom>
        </p:spPr>
      </p:pic>
      <p:sp>
        <p:nvSpPr>
          <p:cNvPr id="5" name="Text 2"/>
          <p:cNvSpPr/>
          <p:nvPr/>
        </p:nvSpPr>
        <p:spPr>
          <a:xfrm>
            <a:off x="457200" y="5806440"/>
            <a:ext cx="6263640" cy="274320"/>
          </a:xfrm>
          <a:prstGeom prst="rect">
            <a:avLst/>
          </a:prstGeom>
          <a:noFill/>
          <a:ln/>
        </p:spPr>
        <p:txBody>
          <a:bodyPr wrap="square" lIns="0" tIns="0" rIns="0" bIns="0" rtlCol="0" anchor="ctr"/>
          <a:lstStyle/>
          <a:p>
            <a:pPr indent="0" marL="0">
              <a:buNone/>
            </a:pPr>
            <a:r>
              <a:rPr lang="en-US" sz="1100" b="1" dirty="0">
                <a:solidFill>
                  <a:srgbClr val="17261F"/>
                </a:solidFill>
                <a:latin typeface="Cambria" pitchFamily="34" charset="0"/>
                <a:ea typeface="Cambria" pitchFamily="34" charset="-122"/>
                <a:cs typeface="Cambria" pitchFamily="34" charset="-120"/>
              </a:rPr>
              <a:t>Average GHG Reduction by Material Type (25,000 records)</a:t>
            </a:r>
            <a:endParaRPr lang="en-US" sz="1100" dirty="0"/>
          </a:p>
        </p:txBody>
      </p:sp>
      <p:pic>
        <p:nvPicPr>
          <p:cNvPr id="6" name="Image 1" descr="/home/claude/greencycle_deck2/assets/dp_cell41_3.png">    </p:cNvPr>
          <p:cNvPicPr>
            <a:picLocks noChangeAspect="1"/>
          </p:cNvPicPr>
          <p:nvPr/>
        </p:nvPicPr>
        <p:blipFill>
          <a:blip r:embed="rId2"/>
          <a:stretch>
            <a:fillRect/>
          </a:stretch>
        </p:blipFill>
        <p:spPr>
          <a:xfrm>
            <a:off x="6903720" y="1417320"/>
            <a:ext cx="4800600" cy="3840480"/>
          </a:xfrm>
          <a:prstGeom prst="rect">
            <a:avLst/>
          </a:prstGeom>
        </p:spPr>
      </p:pic>
      <p:sp>
        <p:nvSpPr>
          <p:cNvPr id="7" name="Text 3"/>
          <p:cNvSpPr/>
          <p:nvPr/>
        </p:nvSpPr>
        <p:spPr>
          <a:xfrm>
            <a:off x="6903720" y="5285232"/>
            <a:ext cx="4800600" cy="274320"/>
          </a:xfrm>
          <a:prstGeom prst="rect">
            <a:avLst/>
          </a:prstGeom>
          <a:noFill/>
          <a:ln/>
        </p:spPr>
        <p:txBody>
          <a:bodyPr wrap="square" lIns="0" tIns="0" rIns="0" bIns="0" rtlCol="0" anchor="ctr"/>
          <a:lstStyle/>
          <a:p>
            <a:pPr indent="0" marL="0">
              <a:buNone/>
            </a:pPr>
            <a:r>
              <a:rPr lang="en-US" sz="1100" b="1" dirty="0">
                <a:solidFill>
                  <a:srgbClr val="17261F"/>
                </a:solidFill>
                <a:latin typeface="Cambria" pitchFamily="34" charset="0"/>
                <a:ea typeface="Cambria" pitchFamily="34" charset="-122"/>
                <a:cs typeface="Cambria" pitchFamily="34" charset="-120"/>
              </a:rPr>
              <a:t>CO2 Saved by Region (share of total)</a:t>
            </a:r>
            <a:endParaRPr lang="en-US" sz="1100" dirty="0"/>
          </a:p>
        </p:txBody>
      </p:sp>
      <p:sp>
        <p:nvSpPr>
          <p:cNvPr id="8" name="Text 4"/>
          <p:cNvSpPr/>
          <p:nvPr/>
        </p:nvSpPr>
        <p:spPr>
          <a:xfrm>
            <a:off x="6903720" y="5577840"/>
            <a:ext cx="4800600" cy="1097280"/>
          </a:xfrm>
          <a:prstGeom prst="rect">
            <a:avLst/>
          </a:prstGeom>
          <a:noFill/>
          <a:ln/>
        </p:spPr>
        <p:txBody>
          <a:bodyPr wrap="square" lIns="0" tIns="0" rIns="0" bIns="0" rtlCol="0" anchor="ctr"/>
          <a:lstStyle/>
          <a:p>
            <a:pPr indent="0" marL="0">
              <a:buNone/>
            </a:pPr>
            <a:r>
              <a:rPr lang="en-US" sz="930" dirty="0">
                <a:solidFill>
                  <a:srgbClr val="5B6F65"/>
                </a:solidFill>
                <a:latin typeface="Calibri" pitchFamily="34" charset="0"/>
                <a:ea typeface="Calibri" pitchFamily="34" charset="-122"/>
                <a:cs typeface="Calibri" pitchFamily="34" charset="-120"/>
              </a:rPr>
              <a:t>Insight: Electronic waste delivers by far the highest average GHG reduction per item recycled (48,407 kg CO2e) and also the highest average net revenue ($6,714) — the strongest combined environmental + economic case of all 12 material types. Regionally, Asia-Pacific accounts for the largest share of total CO2 saved.</a:t>
            </a:r>
            <a:endParaRPr lang="en-US" sz="930" dirty="0"/>
          </a:p>
        </p:txBody>
      </p:sp>
      <p:sp>
        <p:nvSpPr>
          <p:cNvPr id="9" name="Text 5"/>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3D2E"/>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8FD9B6"/>
                </a:solidFill>
                <a:latin typeface="Calibri" pitchFamily="34" charset="0"/>
                <a:ea typeface="Calibri" pitchFamily="34" charset="-122"/>
                <a:cs typeface="Calibri" pitchFamily="34" charset="-120"/>
              </a:rPr>
              <a:t>4. FULL PROJECT PIPELINE</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Raw Data to a Working Application</a:t>
            </a:r>
            <a:endParaRPr lang="en-US" sz="3000" dirty="0"/>
          </a:p>
        </p:txBody>
      </p:sp>
      <p:sp>
        <p:nvSpPr>
          <p:cNvPr id="4" name="Shape 2"/>
          <p:cNvSpPr/>
          <p:nvPr/>
        </p:nvSpPr>
        <p:spPr>
          <a:xfrm>
            <a:off x="365760" y="1600200"/>
            <a:ext cx="2157984" cy="1645920"/>
          </a:xfrm>
          <a:prstGeom prst="roundRect">
            <a:avLst>
              <a:gd name="adj" fmla="val 5000"/>
            </a:avLst>
          </a:prstGeom>
          <a:solidFill>
            <a:srgbClr val="16493A"/>
          </a:solidFill>
          <a:ln/>
        </p:spPr>
      </p:sp>
      <p:sp>
        <p:nvSpPr>
          <p:cNvPr id="5" name="Shape 3"/>
          <p:cNvSpPr/>
          <p:nvPr/>
        </p:nvSpPr>
        <p:spPr>
          <a:xfrm>
            <a:off x="1193292" y="1764792"/>
            <a:ext cx="502920" cy="502920"/>
          </a:xfrm>
          <a:prstGeom prst="ellipse">
            <a:avLst/>
          </a:prstGeom>
          <a:solidFill>
            <a:srgbClr val="2E7D5B"/>
          </a:solidFill>
          <a:ln/>
        </p:spPr>
      </p:sp>
      <p:pic>
        <p:nvPicPr>
          <p:cNvPr id="6" name="Image 0" descr="/home/claude/greencycle_deck2/assets/FaDatabase_white.png">    </p:cNvPr>
          <p:cNvPicPr>
            <a:picLocks noChangeAspect="1"/>
          </p:cNvPicPr>
          <p:nvPr/>
        </p:nvPicPr>
        <p:blipFill>
          <a:blip r:embed="rId1"/>
          <a:stretch>
            <a:fillRect/>
          </a:stretch>
        </p:blipFill>
        <p:spPr>
          <a:xfrm>
            <a:off x="1258672" y="1830172"/>
            <a:ext cx="372161" cy="372161"/>
          </a:xfrm>
          <a:prstGeom prst="rect">
            <a:avLst/>
          </a:prstGeom>
        </p:spPr>
      </p:pic>
      <p:sp>
        <p:nvSpPr>
          <p:cNvPr id="7" name="Text 4"/>
          <p:cNvSpPr/>
          <p:nvPr/>
        </p:nvSpPr>
        <p:spPr>
          <a:xfrm>
            <a:off x="438912" y="2377440"/>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Data Collection</a:t>
            </a:r>
            <a:endParaRPr lang="en-US" sz="1150" dirty="0"/>
          </a:p>
        </p:txBody>
      </p:sp>
      <p:sp>
        <p:nvSpPr>
          <p:cNvPr id="8" name="Text 5"/>
          <p:cNvSpPr/>
          <p:nvPr/>
        </p:nvSpPr>
        <p:spPr>
          <a:xfrm>
            <a:off x="438912" y="2752344"/>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6 real-world datasets</a:t>
            </a:r>
            <a:endParaRPr lang="en-US" sz="830" dirty="0"/>
          </a:p>
        </p:txBody>
      </p:sp>
      <p:pic>
        <p:nvPicPr>
          <p:cNvPr id="9" name="Image 1" descr="/home/claude/greencycle_deck2/assets/FaArrowRight_mint.png">    </p:cNvPr>
          <p:cNvPicPr>
            <a:picLocks noChangeAspect="1"/>
          </p:cNvPicPr>
          <p:nvPr/>
        </p:nvPicPr>
        <p:blipFill>
          <a:blip r:embed="rId2"/>
          <a:stretch>
            <a:fillRect/>
          </a:stretch>
        </p:blipFill>
        <p:spPr>
          <a:xfrm>
            <a:off x="2528316" y="2240280"/>
            <a:ext cx="237744" cy="237744"/>
          </a:xfrm>
          <a:prstGeom prst="rect">
            <a:avLst/>
          </a:prstGeom>
        </p:spPr>
      </p:pic>
      <p:sp>
        <p:nvSpPr>
          <p:cNvPr id="10" name="Shape 6"/>
          <p:cNvSpPr/>
          <p:nvPr/>
        </p:nvSpPr>
        <p:spPr>
          <a:xfrm>
            <a:off x="2569464" y="1600200"/>
            <a:ext cx="2157984" cy="1645920"/>
          </a:xfrm>
          <a:prstGeom prst="roundRect">
            <a:avLst>
              <a:gd name="adj" fmla="val 5000"/>
            </a:avLst>
          </a:prstGeom>
          <a:solidFill>
            <a:srgbClr val="16493A"/>
          </a:solidFill>
          <a:ln/>
        </p:spPr>
      </p:sp>
      <p:sp>
        <p:nvSpPr>
          <p:cNvPr id="11" name="Shape 7"/>
          <p:cNvSpPr/>
          <p:nvPr/>
        </p:nvSpPr>
        <p:spPr>
          <a:xfrm>
            <a:off x="3396996" y="1764792"/>
            <a:ext cx="502920" cy="502920"/>
          </a:xfrm>
          <a:prstGeom prst="ellipse">
            <a:avLst/>
          </a:prstGeom>
          <a:solidFill>
            <a:srgbClr val="2E7D5B"/>
          </a:solidFill>
          <a:ln/>
        </p:spPr>
      </p:sp>
      <p:pic>
        <p:nvPicPr>
          <p:cNvPr id="12" name="Image 2" descr="/home/claude/greencycle_deck2/assets/FaSearch_white.png">    </p:cNvPr>
          <p:cNvPicPr>
            <a:picLocks noChangeAspect="1"/>
          </p:cNvPicPr>
          <p:nvPr/>
        </p:nvPicPr>
        <p:blipFill>
          <a:blip r:embed="rId3"/>
          <a:stretch>
            <a:fillRect/>
          </a:stretch>
        </p:blipFill>
        <p:spPr>
          <a:xfrm>
            <a:off x="3462376" y="1830172"/>
            <a:ext cx="372161" cy="372161"/>
          </a:xfrm>
          <a:prstGeom prst="rect">
            <a:avLst/>
          </a:prstGeom>
        </p:spPr>
      </p:pic>
      <p:sp>
        <p:nvSpPr>
          <p:cNvPr id="13" name="Text 8"/>
          <p:cNvSpPr/>
          <p:nvPr/>
        </p:nvSpPr>
        <p:spPr>
          <a:xfrm>
            <a:off x="2642616" y="2377440"/>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Data Exploration</a:t>
            </a:r>
            <a:endParaRPr lang="en-US" sz="1150" dirty="0"/>
          </a:p>
        </p:txBody>
      </p:sp>
      <p:sp>
        <p:nvSpPr>
          <p:cNvPr id="14" name="Text 9"/>
          <p:cNvSpPr/>
          <p:nvPr/>
        </p:nvSpPr>
        <p:spPr>
          <a:xfrm>
            <a:off x="2642616" y="2752344"/>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6 EDA passes</a:t>
            </a:r>
            <a:endParaRPr lang="en-US" sz="830" dirty="0"/>
          </a:p>
        </p:txBody>
      </p:sp>
      <p:pic>
        <p:nvPicPr>
          <p:cNvPr id="15" name="Image 3" descr="/home/claude/greencycle_deck2/assets/FaArrowRight_mint.png">    </p:cNvPr>
          <p:cNvPicPr>
            <a:picLocks noChangeAspect="1"/>
          </p:cNvPicPr>
          <p:nvPr/>
        </p:nvPicPr>
        <p:blipFill>
          <a:blip r:embed="rId4"/>
          <a:stretch>
            <a:fillRect/>
          </a:stretch>
        </p:blipFill>
        <p:spPr>
          <a:xfrm>
            <a:off x="4732020" y="2240280"/>
            <a:ext cx="237744" cy="237744"/>
          </a:xfrm>
          <a:prstGeom prst="rect">
            <a:avLst/>
          </a:prstGeom>
        </p:spPr>
      </p:pic>
      <p:sp>
        <p:nvSpPr>
          <p:cNvPr id="16" name="Shape 10"/>
          <p:cNvSpPr/>
          <p:nvPr/>
        </p:nvSpPr>
        <p:spPr>
          <a:xfrm>
            <a:off x="4773168" y="1600200"/>
            <a:ext cx="2157984" cy="1645920"/>
          </a:xfrm>
          <a:prstGeom prst="roundRect">
            <a:avLst>
              <a:gd name="adj" fmla="val 5000"/>
            </a:avLst>
          </a:prstGeom>
          <a:solidFill>
            <a:srgbClr val="16493A"/>
          </a:solidFill>
          <a:ln/>
        </p:spPr>
      </p:sp>
      <p:sp>
        <p:nvSpPr>
          <p:cNvPr id="17" name="Shape 11"/>
          <p:cNvSpPr/>
          <p:nvPr/>
        </p:nvSpPr>
        <p:spPr>
          <a:xfrm>
            <a:off x="5600700" y="1764792"/>
            <a:ext cx="502920" cy="502920"/>
          </a:xfrm>
          <a:prstGeom prst="ellipse">
            <a:avLst/>
          </a:prstGeom>
          <a:solidFill>
            <a:srgbClr val="2E7D5B"/>
          </a:solidFill>
          <a:ln/>
        </p:spPr>
      </p:sp>
      <p:pic>
        <p:nvPicPr>
          <p:cNvPr id="18" name="Image 4" descr="/home/claude/greencycle_deck2/assets/FaBroom_white.png">    </p:cNvPr>
          <p:cNvPicPr>
            <a:picLocks noChangeAspect="1"/>
          </p:cNvPicPr>
          <p:nvPr/>
        </p:nvPicPr>
        <p:blipFill>
          <a:blip r:embed="rId5"/>
          <a:stretch>
            <a:fillRect/>
          </a:stretch>
        </p:blipFill>
        <p:spPr>
          <a:xfrm>
            <a:off x="5666080" y="1830172"/>
            <a:ext cx="372161" cy="372161"/>
          </a:xfrm>
          <a:prstGeom prst="rect">
            <a:avLst/>
          </a:prstGeom>
        </p:spPr>
      </p:pic>
      <p:sp>
        <p:nvSpPr>
          <p:cNvPr id="19" name="Text 12"/>
          <p:cNvSpPr/>
          <p:nvPr/>
        </p:nvSpPr>
        <p:spPr>
          <a:xfrm>
            <a:off x="4846320" y="2377440"/>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Data Cleaning</a:t>
            </a:r>
            <a:endParaRPr lang="en-US" sz="1150" dirty="0"/>
          </a:p>
        </p:txBody>
      </p:sp>
      <p:sp>
        <p:nvSpPr>
          <p:cNvPr id="20" name="Text 13"/>
          <p:cNvSpPr/>
          <p:nvPr/>
        </p:nvSpPr>
        <p:spPr>
          <a:xfrm>
            <a:off x="4846320" y="2752344"/>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Nulls, duplicates, outliers</a:t>
            </a:r>
            <a:endParaRPr lang="en-US" sz="830" dirty="0"/>
          </a:p>
        </p:txBody>
      </p:sp>
      <p:pic>
        <p:nvPicPr>
          <p:cNvPr id="21" name="Image 5" descr="/home/claude/greencycle_deck2/assets/FaArrowRight_mint.png">    </p:cNvPr>
          <p:cNvPicPr>
            <a:picLocks noChangeAspect="1"/>
          </p:cNvPicPr>
          <p:nvPr/>
        </p:nvPicPr>
        <p:blipFill>
          <a:blip r:embed="rId6"/>
          <a:stretch>
            <a:fillRect/>
          </a:stretch>
        </p:blipFill>
        <p:spPr>
          <a:xfrm>
            <a:off x="6935724" y="2240280"/>
            <a:ext cx="237744" cy="237744"/>
          </a:xfrm>
          <a:prstGeom prst="rect">
            <a:avLst/>
          </a:prstGeom>
        </p:spPr>
      </p:pic>
      <p:sp>
        <p:nvSpPr>
          <p:cNvPr id="22" name="Shape 14"/>
          <p:cNvSpPr/>
          <p:nvPr/>
        </p:nvSpPr>
        <p:spPr>
          <a:xfrm>
            <a:off x="6976872" y="1600200"/>
            <a:ext cx="2157984" cy="1645920"/>
          </a:xfrm>
          <a:prstGeom prst="roundRect">
            <a:avLst>
              <a:gd name="adj" fmla="val 5000"/>
            </a:avLst>
          </a:prstGeom>
          <a:solidFill>
            <a:srgbClr val="16493A"/>
          </a:solidFill>
          <a:ln/>
        </p:spPr>
      </p:sp>
      <p:sp>
        <p:nvSpPr>
          <p:cNvPr id="23" name="Shape 15"/>
          <p:cNvSpPr/>
          <p:nvPr/>
        </p:nvSpPr>
        <p:spPr>
          <a:xfrm>
            <a:off x="7804404" y="1764792"/>
            <a:ext cx="502920" cy="502920"/>
          </a:xfrm>
          <a:prstGeom prst="ellipse">
            <a:avLst/>
          </a:prstGeom>
          <a:solidFill>
            <a:srgbClr val="2E7D5B"/>
          </a:solidFill>
          <a:ln/>
        </p:spPr>
      </p:sp>
      <p:pic>
        <p:nvPicPr>
          <p:cNvPr id="24" name="Image 6" descr="/home/claude/greencycle_deck2/assets/FaFilter_white.png">    </p:cNvPr>
          <p:cNvPicPr>
            <a:picLocks noChangeAspect="1"/>
          </p:cNvPicPr>
          <p:nvPr/>
        </p:nvPicPr>
        <p:blipFill>
          <a:blip r:embed="rId7"/>
          <a:stretch>
            <a:fillRect/>
          </a:stretch>
        </p:blipFill>
        <p:spPr>
          <a:xfrm>
            <a:off x="7869784" y="1830172"/>
            <a:ext cx="372161" cy="372161"/>
          </a:xfrm>
          <a:prstGeom prst="rect">
            <a:avLst/>
          </a:prstGeom>
        </p:spPr>
      </p:pic>
      <p:sp>
        <p:nvSpPr>
          <p:cNvPr id="25" name="Text 16"/>
          <p:cNvSpPr/>
          <p:nvPr/>
        </p:nvSpPr>
        <p:spPr>
          <a:xfrm>
            <a:off x="7050024" y="2377440"/>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Preprocessing</a:t>
            </a:r>
            <a:endParaRPr lang="en-US" sz="1150" dirty="0"/>
          </a:p>
        </p:txBody>
      </p:sp>
      <p:sp>
        <p:nvSpPr>
          <p:cNvPr id="26" name="Text 17"/>
          <p:cNvSpPr/>
          <p:nvPr/>
        </p:nvSpPr>
        <p:spPr>
          <a:xfrm>
            <a:off x="7050024" y="2752344"/>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Encoding, capping, imputation</a:t>
            </a:r>
            <a:endParaRPr lang="en-US" sz="830" dirty="0"/>
          </a:p>
        </p:txBody>
      </p:sp>
      <p:pic>
        <p:nvPicPr>
          <p:cNvPr id="27" name="Image 7" descr="/home/claude/greencycle_deck2/assets/FaArrowRight_mint.png">    </p:cNvPr>
          <p:cNvPicPr>
            <a:picLocks noChangeAspect="1"/>
          </p:cNvPicPr>
          <p:nvPr/>
        </p:nvPicPr>
        <p:blipFill>
          <a:blip r:embed="rId8"/>
          <a:stretch>
            <a:fillRect/>
          </a:stretch>
        </p:blipFill>
        <p:spPr>
          <a:xfrm>
            <a:off x="9139428" y="2240280"/>
            <a:ext cx="237744" cy="237744"/>
          </a:xfrm>
          <a:prstGeom prst="rect">
            <a:avLst/>
          </a:prstGeom>
        </p:spPr>
      </p:pic>
      <p:sp>
        <p:nvSpPr>
          <p:cNvPr id="28" name="Shape 18"/>
          <p:cNvSpPr/>
          <p:nvPr/>
        </p:nvSpPr>
        <p:spPr>
          <a:xfrm>
            <a:off x="9180576" y="1600200"/>
            <a:ext cx="2157984" cy="1645920"/>
          </a:xfrm>
          <a:prstGeom prst="roundRect">
            <a:avLst>
              <a:gd name="adj" fmla="val 5000"/>
            </a:avLst>
          </a:prstGeom>
          <a:solidFill>
            <a:srgbClr val="16493A"/>
          </a:solidFill>
          <a:ln/>
        </p:spPr>
      </p:sp>
      <p:sp>
        <p:nvSpPr>
          <p:cNvPr id="29" name="Shape 19"/>
          <p:cNvSpPr/>
          <p:nvPr/>
        </p:nvSpPr>
        <p:spPr>
          <a:xfrm>
            <a:off x="10008108" y="1764792"/>
            <a:ext cx="502920" cy="502920"/>
          </a:xfrm>
          <a:prstGeom prst="ellipse">
            <a:avLst/>
          </a:prstGeom>
          <a:solidFill>
            <a:srgbClr val="2E7D5B"/>
          </a:solidFill>
          <a:ln/>
        </p:spPr>
      </p:sp>
      <p:pic>
        <p:nvPicPr>
          <p:cNvPr id="30" name="Image 8" descr="/home/claude/greencycle_deck2/assets/FaLayerGroup_white.png">    </p:cNvPr>
          <p:cNvPicPr>
            <a:picLocks noChangeAspect="1"/>
          </p:cNvPicPr>
          <p:nvPr/>
        </p:nvPicPr>
        <p:blipFill>
          <a:blip r:embed="rId9"/>
          <a:stretch>
            <a:fillRect/>
          </a:stretch>
        </p:blipFill>
        <p:spPr>
          <a:xfrm>
            <a:off x="10073488" y="1830172"/>
            <a:ext cx="372161" cy="372161"/>
          </a:xfrm>
          <a:prstGeom prst="rect">
            <a:avLst/>
          </a:prstGeom>
        </p:spPr>
      </p:pic>
      <p:sp>
        <p:nvSpPr>
          <p:cNvPr id="31" name="Text 20"/>
          <p:cNvSpPr/>
          <p:nvPr/>
        </p:nvSpPr>
        <p:spPr>
          <a:xfrm>
            <a:off x="9253728" y="2377440"/>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Feature Engineering</a:t>
            </a:r>
            <a:endParaRPr lang="en-US" sz="1150" dirty="0"/>
          </a:p>
        </p:txBody>
      </p:sp>
      <p:sp>
        <p:nvSpPr>
          <p:cNvPr id="32" name="Text 21"/>
          <p:cNvSpPr/>
          <p:nvPr/>
        </p:nvSpPr>
        <p:spPr>
          <a:xfrm>
            <a:off x="9253728" y="2752344"/>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Per-capita ratios, one-hot</a:t>
            </a:r>
            <a:endParaRPr lang="en-US" sz="830" dirty="0"/>
          </a:p>
        </p:txBody>
      </p:sp>
      <p:sp>
        <p:nvSpPr>
          <p:cNvPr id="33" name="Shape 22"/>
          <p:cNvSpPr/>
          <p:nvPr/>
        </p:nvSpPr>
        <p:spPr>
          <a:xfrm>
            <a:off x="365760" y="3995928"/>
            <a:ext cx="2157984" cy="1645920"/>
          </a:xfrm>
          <a:prstGeom prst="roundRect">
            <a:avLst>
              <a:gd name="adj" fmla="val 5000"/>
            </a:avLst>
          </a:prstGeom>
          <a:solidFill>
            <a:srgbClr val="16493A"/>
          </a:solidFill>
          <a:ln/>
        </p:spPr>
      </p:sp>
      <p:sp>
        <p:nvSpPr>
          <p:cNvPr id="34" name="Shape 23"/>
          <p:cNvSpPr/>
          <p:nvPr/>
        </p:nvSpPr>
        <p:spPr>
          <a:xfrm>
            <a:off x="1193292" y="4160520"/>
            <a:ext cx="502920" cy="502920"/>
          </a:xfrm>
          <a:prstGeom prst="ellipse">
            <a:avLst/>
          </a:prstGeom>
          <a:solidFill>
            <a:srgbClr val="2E7D5B"/>
          </a:solidFill>
          <a:ln/>
        </p:spPr>
      </p:sp>
      <p:pic>
        <p:nvPicPr>
          <p:cNvPr id="35" name="Image 9" descr="/home/claude/greencycle_deck2/assets/FaBrain_white.png">    </p:cNvPr>
          <p:cNvPicPr>
            <a:picLocks noChangeAspect="1"/>
          </p:cNvPicPr>
          <p:nvPr/>
        </p:nvPicPr>
        <p:blipFill>
          <a:blip r:embed="rId10"/>
          <a:stretch>
            <a:fillRect/>
          </a:stretch>
        </p:blipFill>
        <p:spPr>
          <a:xfrm>
            <a:off x="1258672" y="4225900"/>
            <a:ext cx="372161" cy="372161"/>
          </a:xfrm>
          <a:prstGeom prst="rect">
            <a:avLst/>
          </a:prstGeom>
        </p:spPr>
      </p:pic>
      <p:sp>
        <p:nvSpPr>
          <p:cNvPr id="36" name="Text 24"/>
          <p:cNvSpPr/>
          <p:nvPr/>
        </p:nvSpPr>
        <p:spPr>
          <a:xfrm>
            <a:off x="438912" y="4773168"/>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Model Training</a:t>
            </a:r>
            <a:endParaRPr lang="en-US" sz="1150" dirty="0"/>
          </a:p>
        </p:txBody>
      </p:sp>
      <p:sp>
        <p:nvSpPr>
          <p:cNvPr id="37" name="Text 25"/>
          <p:cNvSpPr/>
          <p:nvPr/>
        </p:nvSpPr>
        <p:spPr>
          <a:xfrm>
            <a:off x="438912" y="5148072"/>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5 regressors + 1 CV model</a:t>
            </a:r>
            <a:endParaRPr lang="en-US" sz="830" dirty="0"/>
          </a:p>
        </p:txBody>
      </p:sp>
      <p:pic>
        <p:nvPicPr>
          <p:cNvPr id="38" name="Image 10" descr="/home/claude/greencycle_deck2/assets/FaArrowRight_mint.png">    </p:cNvPr>
          <p:cNvPicPr>
            <a:picLocks noChangeAspect="1"/>
          </p:cNvPicPr>
          <p:nvPr/>
        </p:nvPicPr>
        <p:blipFill>
          <a:blip r:embed="rId11"/>
          <a:stretch>
            <a:fillRect/>
          </a:stretch>
        </p:blipFill>
        <p:spPr>
          <a:xfrm>
            <a:off x="2528316" y="4636008"/>
            <a:ext cx="237744" cy="237744"/>
          </a:xfrm>
          <a:prstGeom prst="rect">
            <a:avLst/>
          </a:prstGeom>
        </p:spPr>
      </p:pic>
      <p:sp>
        <p:nvSpPr>
          <p:cNvPr id="39" name="Shape 26"/>
          <p:cNvSpPr/>
          <p:nvPr/>
        </p:nvSpPr>
        <p:spPr>
          <a:xfrm>
            <a:off x="2569464" y="3995928"/>
            <a:ext cx="2157984" cy="1645920"/>
          </a:xfrm>
          <a:prstGeom prst="roundRect">
            <a:avLst>
              <a:gd name="adj" fmla="val 5000"/>
            </a:avLst>
          </a:prstGeom>
          <a:solidFill>
            <a:srgbClr val="16493A"/>
          </a:solidFill>
          <a:ln/>
        </p:spPr>
      </p:sp>
      <p:sp>
        <p:nvSpPr>
          <p:cNvPr id="40" name="Shape 27"/>
          <p:cNvSpPr/>
          <p:nvPr/>
        </p:nvSpPr>
        <p:spPr>
          <a:xfrm>
            <a:off x="3396996" y="4160520"/>
            <a:ext cx="502920" cy="502920"/>
          </a:xfrm>
          <a:prstGeom prst="ellipse">
            <a:avLst/>
          </a:prstGeom>
          <a:solidFill>
            <a:srgbClr val="2E7D5B"/>
          </a:solidFill>
          <a:ln/>
        </p:spPr>
      </p:sp>
      <p:pic>
        <p:nvPicPr>
          <p:cNvPr id="41" name="Image 11" descr="/home/claude/greencycle_deck2/assets/FaCheckCircle_white.png">    </p:cNvPr>
          <p:cNvPicPr>
            <a:picLocks noChangeAspect="1"/>
          </p:cNvPicPr>
          <p:nvPr/>
        </p:nvPicPr>
        <p:blipFill>
          <a:blip r:embed="rId12"/>
          <a:stretch>
            <a:fillRect/>
          </a:stretch>
        </p:blipFill>
        <p:spPr>
          <a:xfrm>
            <a:off x="3462376" y="4225900"/>
            <a:ext cx="372161" cy="372161"/>
          </a:xfrm>
          <a:prstGeom prst="rect">
            <a:avLst/>
          </a:prstGeom>
        </p:spPr>
      </p:pic>
      <p:sp>
        <p:nvSpPr>
          <p:cNvPr id="42" name="Text 28"/>
          <p:cNvSpPr/>
          <p:nvPr/>
        </p:nvSpPr>
        <p:spPr>
          <a:xfrm>
            <a:off x="2642616" y="4773168"/>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Evaluation</a:t>
            </a:r>
            <a:endParaRPr lang="en-US" sz="1150" dirty="0"/>
          </a:p>
        </p:txBody>
      </p:sp>
      <p:sp>
        <p:nvSpPr>
          <p:cNvPr id="43" name="Text 29"/>
          <p:cNvSpPr/>
          <p:nvPr/>
        </p:nvSpPr>
        <p:spPr>
          <a:xfrm>
            <a:off x="2642616" y="5148072"/>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R², RMSE, MAE, val. accuracy</a:t>
            </a:r>
            <a:endParaRPr lang="en-US" sz="830" dirty="0"/>
          </a:p>
        </p:txBody>
      </p:sp>
      <p:pic>
        <p:nvPicPr>
          <p:cNvPr id="44" name="Image 12" descr="/home/claude/greencycle_deck2/assets/FaArrowRight_mint.png">    </p:cNvPr>
          <p:cNvPicPr>
            <a:picLocks noChangeAspect="1"/>
          </p:cNvPicPr>
          <p:nvPr/>
        </p:nvPicPr>
        <p:blipFill>
          <a:blip r:embed="rId13"/>
          <a:stretch>
            <a:fillRect/>
          </a:stretch>
        </p:blipFill>
        <p:spPr>
          <a:xfrm>
            <a:off x="4732020" y="4636008"/>
            <a:ext cx="237744" cy="237744"/>
          </a:xfrm>
          <a:prstGeom prst="rect">
            <a:avLst/>
          </a:prstGeom>
        </p:spPr>
      </p:pic>
      <p:sp>
        <p:nvSpPr>
          <p:cNvPr id="45" name="Shape 30"/>
          <p:cNvSpPr/>
          <p:nvPr/>
        </p:nvSpPr>
        <p:spPr>
          <a:xfrm>
            <a:off x="4773168" y="3995928"/>
            <a:ext cx="2157984" cy="1645920"/>
          </a:xfrm>
          <a:prstGeom prst="roundRect">
            <a:avLst>
              <a:gd name="adj" fmla="val 5000"/>
            </a:avLst>
          </a:prstGeom>
          <a:solidFill>
            <a:srgbClr val="8FD9B6"/>
          </a:solidFill>
          <a:ln/>
        </p:spPr>
      </p:sp>
      <p:sp>
        <p:nvSpPr>
          <p:cNvPr id="46" name="Shape 31"/>
          <p:cNvSpPr/>
          <p:nvPr/>
        </p:nvSpPr>
        <p:spPr>
          <a:xfrm>
            <a:off x="5600700" y="4160520"/>
            <a:ext cx="502920" cy="502920"/>
          </a:xfrm>
          <a:prstGeom prst="ellipse">
            <a:avLst/>
          </a:prstGeom>
          <a:solidFill>
            <a:srgbClr val="FFFFFF"/>
          </a:solidFill>
          <a:ln/>
        </p:spPr>
      </p:sp>
      <p:pic>
        <p:nvPicPr>
          <p:cNvPr id="47" name="Image 13" descr="/home/claude/greencycle_deck2/assets/FaServer_dark.png">    </p:cNvPr>
          <p:cNvPicPr>
            <a:picLocks noChangeAspect="1"/>
          </p:cNvPicPr>
          <p:nvPr/>
        </p:nvPicPr>
        <p:blipFill>
          <a:blip r:embed="rId14"/>
          <a:stretch>
            <a:fillRect/>
          </a:stretch>
        </p:blipFill>
        <p:spPr>
          <a:xfrm>
            <a:off x="5666080" y="4225900"/>
            <a:ext cx="372161" cy="372161"/>
          </a:xfrm>
          <a:prstGeom prst="rect">
            <a:avLst/>
          </a:prstGeom>
        </p:spPr>
      </p:pic>
      <p:sp>
        <p:nvSpPr>
          <p:cNvPr id="48" name="Text 32"/>
          <p:cNvSpPr/>
          <p:nvPr/>
        </p:nvSpPr>
        <p:spPr>
          <a:xfrm>
            <a:off x="4846320" y="4773168"/>
            <a:ext cx="2011680" cy="365760"/>
          </a:xfrm>
          <a:prstGeom prst="rect">
            <a:avLst/>
          </a:prstGeom>
          <a:noFill/>
          <a:ln/>
        </p:spPr>
        <p:txBody>
          <a:bodyPr wrap="square" lIns="0" tIns="0" rIns="0" bIns="0" rtlCol="0" anchor="ctr"/>
          <a:lstStyle/>
          <a:p>
            <a:pPr algn="ctr" indent="0" marL="0">
              <a:buNone/>
            </a:pPr>
            <a:r>
              <a:rPr lang="en-US" sz="1150" b="1" dirty="0">
                <a:solidFill>
                  <a:srgbClr val="0F3D2E"/>
                </a:solidFill>
                <a:latin typeface="Cambria" pitchFamily="34" charset="0"/>
                <a:ea typeface="Cambria" pitchFamily="34" charset="-122"/>
                <a:cs typeface="Cambria" pitchFamily="34" charset="-120"/>
              </a:rPr>
              <a:t>Model Deployment</a:t>
            </a:r>
            <a:endParaRPr lang="en-US" sz="1150" dirty="0"/>
          </a:p>
        </p:txBody>
      </p:sp>
      <p:sp>
        <p:nvSpPr>
          <p:cNvPr id="49" name="Text 33"/>
          <p:cNvSpPr/>
          <p:nvPr/>
        </p:nvSpPr>
        <p:spPr>
          <a:xfrm>
            <a:off x="4846320" y="5148072"/>
            <a:ext cx="2011680" cy="411480"/>
          </a:xfrm>
          <a:prstGeom prst="rect">
            <a:avLst/>
          </a:prstGeom>
          <a:noFill/>
          <a:ln/>
        </p:spPr>
        <p:txBody>
          <a:bodyPr wrap="square" lIns="0" tIns="0" rIns="0" bIns="0" rtlCol="0" anchor="ctr"/>
          <a:lstStyle/>
          <a:p>
            <a:pPr algn="ctr" indent="0" marL="0">
              <a:buNone/>
            </a:pPr>
            <a:r>
              <a:rPr lang="en-US" sz="830" dirty="0">
                <a:solidFill>
                  <a:srgbClr val="1B5E42"/>
                </a:solidFill>
                <a:latin typeface="Calibri" pitchFamily="34" charset="0"/>
                <a:ea typeface="Calibri" pitchFamily="34" charset="-122"/>
                <a:cs typeface="Calibri" pitchFamily="34" charset="-120"/>
              </a:rPr>
              <a:t>FastAPI + Docker container</a:t>
            </a:r>
            <a:endParaRPr lang="en-US" sz="830" dirty="0"/>
          </a:p>
        </p:txBody>
      </p:sp>
      <p:pic>
        <p:nvPicPr>
          <p:cNvPr id="50" name="Image 14" descr="/home/claude/greencycle_deck2/assets/FaArrowRight_mint.png">    </p:cNvPr>
          <p:cNvPicPr>
            <a:picLocks noChangeAspect="1"/>
          </p:cNvPicPr>
          <p:nvPr/>
        </p:nvPicPr>
        <p:blipFill>
          <a:blip r:embed="rId15"/>
          <a:stretch>
            <a:fillRect/>
          </a:stretch>
        </p:blipFill>
        <p:spPr>
          <a:xfrm>
            <a:off x="6935724" y="4636008"/>
            <a:ext cx="237744" cy="237744"/>
          </a:xfrm>
          <a:prstGeom prst="rect">
            <a:avLst/>
          </a:prstGeom>
        </p:spPr>
      </p:pic>
      <p:sp>
        <p:nvSpPr>
          <p:cNvPr id="51" name="Shape 34"/>
          <p:cNvSpPr/>
          <p:nvPr/>
        </p:nvSpPr>
        <p:spPr>
          <a:xfrm>
            <a:off x="6976872" y="3995928"/>
            <a:ext cx="2157984" cy="1645920"/>
          </a:xfrm>
          <a:prstGeom prst="roundRect">
            <a:avLst>
              <a:gd name="adj" fmla="val 5000"/>
            </a:avLst>
          </a:prstGeom>
          <a:solidFill>
            <a:srgbClr val="16493A"/>
          </a:solidFill>
          <a:ln/>
        </p:spPr>
      </p:sp>
      <p:sp>
        <p:nvSpPr>
          <p:cNvPr id="52" name="Shape 35"/>
          <p:cNvSpPr/>
          <p:nvPr/>
        </p:nvSpPr>
        <p:spPr>
          <a:xfrm>
            <a:off x="7804404" y="4160520"/>
            <a:ext cx="502920" cy="502920"/>
          </a:xfrm>
          <a:prstGeom prst="ellipse">
            <a:avLst/>
          </a:prstGeom>
          <a:solidFill>
            <a:srgbClr val="2E7D5B"/>
          </a:solidFill>
          <a:ln/>
        </p:spPr>
      </p:sp>
      <p:pic>
        <p:nvPicPr>
          <p:cNvPr id="53" name="Image 15" descr="/home/claude/greencycle_deck2/assets/FaGlobeAmericas_white.png">    </p:cNvPr>
          <p:cNvPicPr>
            <a:picLocks noChangeAspect="1"/>
          </p:cNvPicPr>
          <p:nvPr/>
        </p:nvPicPr>
        <p:blipFill>
          <a:blip r:embed="rId16"/>
          <a:stretch>
            <a:fillRect/>
          </a:stretch>
        </p:blipFill>
        <p:spPr>
          <a:xfrm>
            <a:off x="7869784" y="4225900"/>
            <a:ext cx="372161" cy="372161"/>
          </a:xfrm>
          <a:prstGeom prst="rect">
            <a:avLst/>
          </a:prstGeom>
        </p:spPr>
      </p:pic>
      <p:sp>
        <p:nvSpPr>
          <p:cNvPr id="54" name="Text 36"/>
          <p:cNvSpPr/>
          <p:nvPr/>
        </p:nvSpPr>
        <p:spPr>
          <a:xfrm>
            <a:off x="7050024" y="4773168"/>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API / Application</a:t>
            </a:r>
            <a:endParaRPr lang="en-US" sz="1150" dirty="0"/>
          </a:p>
        </p:txBody>
      </p:sp>
      <p:sp>
        <p:nvSpPr>
          <p:cNvPr id="55" name="Text 37"/>
          <p:cNvSpPr/>
          <p:nvPr/>
        </p:nvSpPr>
        <p:spPr>
          <a:xfrm>
            <a:off x="7050024" y="5148072"/>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Next.js frontend</a:t>
            </a:r>
            <a:endParaRPr lang="en-US" sz="830" dirty="0"/>
          </a:p>
        </p:txBody>
      </p:sp>
      <p:pic>
        <p:nvPicPr>
          <p:cNvPr id="56" name="Image 16" descr="/home/claude/greencycle_deck2/assets/FaArrowRight_mint.png">    </p:cNvPr>
          <p:cNvPicPr>
            <a:picLocks noChangeAspect="1"/>
          </p:cNvPicPr>
          <p:nvPr/>
        </p:nvPicPr>
        <p:blipFill>
          <a:blip r:embed="rId17"/>
          <a:stretch>
            <a:fillRect/>
          </a:stretch>
        </p:blipFill>
        <p:spPr>
          <a:xfrm>
            <a:off x="9139428" y="4636008"/>
            <a:ext cx="237744" cy="237744"/>
          </a:xfrm>
          <a:prstGeom prst="rect">
            <a:avLst/>
          </a:prstGeom>
        </p:spPr>
      </p:pic>
      <p:sp>
        <p:nvSpPr>
          <p:cNvPr id="57" name="Shape 38"/>
          <p:cNvSpPr/>
          <p:nvPr/>
        </p:nvSpPr>
        <p:spPr>
          <a:xfrm>
            <a:off x="9180576" y="3995928"/>
            <a:ext cx="2157984" cy="1645920"/>
          </a:xfrm>
          <a:prstGeom prst="roundRect">
            <a:avLst>
              <a:gd name="adj" fmla="val 5000"/>
            </a:avLst>
          </a:prstGeom>
          <a:solidFill>
            <a:srgbClr val="16493A"/>
          </a:solidFill>
          <a:ln/>
        </p:spPr>
      </p:sp>
      <p:sp>
        <p:nvSpPr>
          <p:cNvPr id="58" name="Shape 39"/>
          <p:cNvSpPr/>
          <p:nvPr/>
        </p:nvSpPr>
        <p:spPr>
          <a:xfrm>
            <a:off x="10008108" y="4160520"/>
            <a:ext cx="502920" cy="502920"/>
          </a:xfrm>
          <a:prstGeom prst="ellipse">
            <a:avLst/>
          </a:prstGeom>
          <a:solidFill>
            <a:srgbClr val="2E7D5B"/>
          </a:solidFill>
          <a:ln/>
        </p:spPr>
      </p:sp>
      <p:pic>
        <p:nvPicPr>
          <p:cNvPr id="59" name="Image 17" descr="/home/claude/greencycle_deck2/assets/FaUsers_white.png">    </p:cNvPr>
          <p:cNvPicPr>
            <a:picLocks noChangeAspect="1"/>
          </p:cNvPicPr>
          <p:nvPr/>
        </p:nvPicPr>
        <p:blipFill>
          <a:blip r:embed="rId18"/>
          <a:stretch>
            <a:fillRect/>
          </a:stretch>
        </p:blipFill>
        <p:spPr>
          <a:xfrm>
            <a:off x="10073488" y="4225900"/>
            <a:ext cx="372161" cy="372161"/>
          </a:xfrm>
          <a:prstGeom prst="rect">
            <a:avLst/>
          </a:prstGeom>
        </p:spPr>
      </p:pic>
      <p:sp>
        <p:nvSpPr>
          <p:cNvPr id="60" name="Text 40"/>
          <p:cNvSpPr/>
          <p:nvPr/>
        </p:nvSpPr>
        <p:spPr>
          <a:xfrm>
            <a:off x="9253728" y="4773168"/>
            <a:ext cx="20116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User Prediction</a:t>
            </a:r>
            <a:endParaRPr lang="en-US" sz="1150" dirty="0"/>
          </a:p>
        </p:txBody>
      </p:sp>
      <p:sp>
        <p:nvSpPr>
          <p:cNvPr id="61" name="Text 41"/>
          <p:cNvSpPr/>
          <p:nvPr/>
        </p:nvSpPr>
        <p:spPr>
          <a:xfrm>
            <a:off x="9253728" y="5148072"/>
            <a:ext cx="2011680" cy="411480"/>
          </a:xfrm>
          <a:prstGeom prst="rect">
            <a:avLst/>
          </a:prstGeom>
          <a:noFill/>
          <a:ln/>
        </p:spPr>
        <p:txBody>
          <a:bodyPr wrap="square" lIns="0" tIns="0" rIns="0" bIns="0" rtlCol="0" anchor="ctr"/>
          <a:lstStyle/>
          <a:p>
            <a:pPr algn="ctr" indent="0" marL="0">
              <a:buNone/>
            </a:pPr>
            <a:r>
              <a:rPr lang="en-US" sz="830" dirty="0">
                <a:solidFill>
                  <a:srgbClr val="9FC9B3"/>
                </a:solidFill>
                <a:latin typeface="Calibri" pitchFamily="34" charset="0"/>
                <a:ea typeface="Calibri" pitchFamily="34" charset="-122"/>
                <a:cs typeface="Calibri" pitchFamily="34" charset="-120"/>
              </a:rPr>
              <a:t>Chat, scan, or simulate</a:t>
            </a:r>
            <a:endParaRPr lang="en-US" sz="830" dirty="0"/>
          </a:p>
        </p:txBody>
      </p:sp>
      <p:pic>
        <p:nvPicPr>
          <p:cNvPr id="62" name="Image 18" descr="/home/claude/greencycle_deck2/assets/FaArrowRight_mint.png">    </p:cNvPr>
          <p:cNvPicPr>
            <a:picLocks noChangeAspect="1"/>
          </p:cNvPicPr>
          <p:nvPr/>
        </p:nvPicPr>
        <p:blipFill>
          <a:blip r:embed="rId19"/>
          <a:stretch>
            <a:fillRect/>
          </a:stretch>
        </p:blipFill>
        <p:spPr>
          <a:xfrm rot="5400000">
            <a:off x="10140696" y="3337560"/>
            <a:ext cx="237744" cy="237744"/>
          </a:xfrm>
          <a:prstGeom prst="rect">
            <a:avLst/>
          </a:prstGeom>
        </p:spPr>
      </p:pic>
      <p:sp>
        <p:nvSpPr>
          <p:cNvPr id="63" name="Text 42"/>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9FC9B3"/>
                </a:solidFill>
                <a:latin typeface="Calibri" pitchFamily="34" charset="0"/>
                <a:ea typeface="Calibri" pitchFamily="34" charset="-122"/>
                <a:cs typeface="Calibri" pitchFamily="34" charset="-120"/>
              </a:rPr>
              <a:t>GreenCycle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5. DATA PREPROCESSING  ·  PART 1</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Why Each Tabular Cleaning Step Was Necessary</a:t>
            </a:r>
            <a:endParaRPr lang="en-US" sz="3000" dirty="0"/>
          </a:p>
        </p:txBody>
      </p:sp>
      <p:sp>
        <p:nvSpPr>
          <p:cNvPr id="4" name="Shape 2"/>
          <p:cNvSpPr/>
          <p:nvPr/>
        </p:nvSpPr>
        <p:spPr>
          <a:xfrm>
            <a:off x="502920" y="1463040"/>
            <a:ext cx="3611880" cy="1965960"/>
          </a:xfrm>
          <a:prstGeom prst="roundRect">
            <a:avLst>
              <a:gd name="adj" fmla="val 3721"/>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Shape 3"/>
          <p:cNvSpPr/>
          <p:nvPr/>
        </p:nvSpPr>
        <p:spPr>
          <a:xfrm>
            <a:off x="704088" y="1645920"/>
            <a:ext cx="475488" cy="475488"/>
          </a:xfrm>
          <a:prstGeom prst="ellipse">
            <a:avLst/>
          </a:prstGeom>
          <a:solidFill>
            <a:srgbClr val="1B5E42"/>
          </a:solidFill>
          <a:ln/>
        </p:spPr>
      </p:sp>
      <p:pic>
        <p:nvPicPr>
          <p:cNvPr id="6" name="Image 0" descr="/home/claude/greencycle_deck2/assets/FaFilter_white.png">    </p:cNvPr>
          <p:cNvPicPr>
            <a:picLocks noChangeAspect="1"/>
          </p:cNvPicPr>
          <p:nvPr/>
        </p:nvPicPr>
        <p:blipFill>
          <a:blip r:embed="rId1"/>
          <a:stretch>
            <a:fillRect/>
          </a:stretch>
        </p:blipFill>
        <p:spPr>
          <a:xfrm>
            <a:off x="765901" y="1707733"/>
            <a:ext cx="351861" cy="351861"/>
          </a:xfrm>
          <a:prstGeom prst="rect">
            <a:avLst/>
          </a:prstGeom>
        </p:spPr>
      </p:pic>
      <p:sp>
        <p:nvSpPr>
          <p:cNvPr id="7" name="Text 4"/>
          <p:cNvSpPr/>
          <p:nvPr/>
        </p:nvSpPr>
        <p:spPr>
          <a:xfrm>
            <a:off x="1280160" y="1609344"/>
            <a:ext cx="2651760" cy="594360"/>
          </a:xfrm>
          <a:prstGeom prst="rect">
            <a:avLst/>
          </a:prstGeom>
          <a:noFill/>
          <a:ln/>
        </p:spPr>
        <p:txBody>
          <a:bodyPr wrap="square" lIns="0" tIns="0" rIns="0" bIns="0" rtlCol="0" anchor="t"/>
          <a:lstStyle/>
          <a:p>
            <a:pPr indent="0" marL="0">
              <a:buNone/>
            </a:pPr>
            <a:r>
              <a:rPr lang="en-US" sz="1130" b="1" dirty="0">
                <a:solidFill>
                  <a:srgbClr val="17261F"/>
                </a:solidFill>
                <a:latin typeface="Cambria" pitchFamily="34" charset="0"/>
                <a:ea typeface="Cambria" pitchFamily="34" charset="-122"/>
                <a:cs typeface="Cambria" pitchFamily="34" charset="-120"/>
              </a:rPr>
              <a:t>Scope to Real Countries</a:t>
            </a:r>
            <a:endParaRPr lang="en-US" sz="1130" dirty="0"/>
          </a:p>
        </p:txBody>
      </p:sp>
      <p:sp>
        <p:nvSpPr>
          <p:cNvPr id="8" name="Text 5"/>
          <p:cNvSpPr/>
          <p:nvPr/>
        </p:nvSpPr>
        <p:spPr>
          <a:xfrm>
            <a:off x="704088" y="2267712"/>
            <a:ext cx="3209544" cy="1033272"/>
          </a:xfrm>
          <a:prstGeom prst="rect">
            <a:avLst/>
          </a:prstGeom>
          <a:noFill/>
          <a:ln/>
        </p:spPr>
        <p:txBody>
          <a:bodyPr wrap="square" lIns="0" tIns="0" rIns="0" bIns="0" rtlCol="0" anchor="ctr"/>
          <a:lstStyle/>
          <a:p>
            <a:pPr indent="0" marL="0">
              <a:buNone/>
            </a:pPr>
            <a:r>
              <a:rPr lang="en-US" sz="900" dirty="0">
                <a:solidFill>
                  <a:srgbClr val="5B6F65"/>
                </a:solidFill>
                <a:latin typeface="Calibri" pitchFamily="34" charset="0"/>
                <a:ea typeface="Calibri" pitchFamily="34" charset="-122"/>
                <a:cs typeface="Calibri" pitchFamily="34" charset="-120"/>
              </a:rPr>
              <a:t>Dropped regional aggregates and 22 dependent territories — without this, per-country modeling would double-count totals and mix sovereign states with colonies.</a:t>
            </a:r>
            <a:endParaRPr lang="en-US" sz="900" dirty="0"/>
          </a:p>
        </p:txBody>
      </p:sp>
      <p:sp>
        <p:nvSpPr>
          <p:cNvPr id="9" name="Shape 6"/>
          <p:cNvSpPr/>
          <p:nvPr/>
        </p:nvSpPr>
        <p:spPr>
          <a:xfrm>
            <a:off x="4334256" y="1463040"/>
            <a:ext cx="3611880" cy="1965960"/>
          </a:xfrm>
          <a:prstGeom prst="roundRect">
            <a:avLst>
              <a:gd name="adj" fmla="val 3721"/>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0" name="Shape 7"/>
          <p:cNvSpPr/>
          <p:nvPr/>
        </p:nvSpPr>
        <p:spPr>
          <a:xfrm>
            <a:off x="4535424" y="1645920"/>
            <a:ext cx="475488" cy="475488"/>
          </a:xfrm>
          <a:prstGeom prst="ellipse">
            <a:avLst/>
          </a:prstGeom>
          <a:solidFill>
            <a:srgbClr val="1B5E42"/>
          </a:solidFill>
          <a:ln/>
        </p:spPr>
      </p:sp>
      <p:pic>
        <p:nvPicPr>
          <p:cNvPr id="11" name="Image 1" descr="/home/claude/greencycle_deck2/assets/FaBalanceScale_white.png">    </p:cNvPr>
          <p:cNvPicPr>
            <a:picLocks noChangeAspect="1"/>
          </p:cNvPicPr>
          <p:nvPr/>
        </p:nvPicPr>
        <p:blipFill>
          <a:blip r:embed="rId2"/>
          <a:stretch>
            <a:fillRect/>
          </a:stretch>
        </p:blipFill>
        <p:spPr>
          <a:xfrm>
            <a:off x="4597237" y="1707733"/>
            <a:ext cx="351861" cy="351861"/>
          </a:xfrm>
          <a:prstGeom prst="rect">
            <a:avLst/>
          </a:prstGeom>
        </p:spPr>
      </p:pic>
      <p:sp>
        <p:nvSpPr>
          <p:cNvPr id="12" name="Text 8"/>
          <p:cNvSpPr/>
          <p:nvPr/>
        </p:nvSpPr>
        <p:spPr>
          <a:xfrm>
            <a:off x="5111496" y="1609344"/>
            <a:ext cx="2651760" cy="594360"/>
          </a:xfrm>
          <a:prstGeom prst="rect">
            <a:avLst/>
          </a:prstGeom>
          <a:noFill/>
          <a:ln/>
        </p:spPr>
        <p:txBody>
          <a:bodyPr wrap="square" lIns="0" tIns="0" rIns="0" bIns="0" rtlCol="0" anchor="t"/>
          <a:lstStyle/>
          <a:p>
            <a:pPr indent="0" marL="0">
              <a:buNone/>
            </a:pPr>
            <a:r>
              <a:rPr lang="en-US" sz="1130" b="1" dirty="0">
                <a:solidFill>
                  <a:srgbClr val="17261F"/>
                </a:solidFill>
                <a:latin typeface="Cambria" pitchFamily="34" charset="0"/>
                <a:ea typeface="Cambria" pitchFamily="34" charset="-122"/>
                <a:cs typeface="Cambria" pitchFamily="34" charset="-120"/>
              </a:rPr>
              <a:t>Fix Impossible Values</a:t>
            </a:r>
            <a:endParaRPr lang="en-US" sz="1130" dirty="0"/>
          </a:p>
        </p:txBody>
      </p:sp>
      <p:sp>
        <p:nvSpPr>
          <p:cNvPr id="13" name="Text 9"/>
          <p:cNvSpPr/>
          <p:nvPr/>
        </p:nvSpPr>
        <p:spPr>
          <a:xfrm>
            <a:off x="4535424" y="2267712"/>
            <a:ext cx="3209544" cy="1033272"/>
          </a:xfrm>
          <a:prstGeom prst="rect">
            <a:avLst/>
          </a:prstGeom>
          <a:noFill/>
          <a:ln/>
        </p:spPr>
        <p:txBody>
          <a:bodyPr wrap="square" lIns="0" tIns="0" rIns="0" bIns="0" rtlCol="0" anchor="ctr"/>
          <a:lstStyle/>
          <a:p>
            <a:pPr indent="0" marL="0">
              <a:buNone/>
            </a:pPr>
            <a:r>
              <a:rPr lang="en-US" sz="900" dirty="0">
                <a:solidFill>
                  <a:srgbClr val="5B6F65"/>
                </a:solidFill>
                <a:latin typeface="Calibri" pitchFamily="34" charset="0"/>
                <a:ea typeface="Calibri" pitchFamily="34" charset="-122"/>
                <a:cs typeface="Calibri" pitchFamily="34" charset="-120"/>
              </a:rPr>
              <a:t>Negative values were only nulled on columns that can never physically be negative — land-use CO2 and total GHG were left alone since a country can be a net carbon sink.</a:t>
            </a:r>
            <a:endParaRPr lang="en-US" sz="900" dirty="0"/>
          </a:p>
        </p:txBody>
      </p:sp>
      <p:sp>
        <p:nvSpPr>
          <p:cNvPr id="14" name="Shape 10"/>
          <p:cNvSpPr/>
          <p:nvPr/>
        </p:nvSpPr>
        <p:spPr>
          <a:xfrm>
            <a:off x="8165592" y="1463040"/>
            <a:ext cx="3611880" cy="1965960"/>
          </a:xfrm>
          <a:prstGeom prst="roundRect">
            <a:avLst>
              <a:gd name="adj" fmla="val 3721"/>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5" name="Shape 11"/>
          <p:cNvSpPr/>
          <p:nvPr/>
        </p:nvSpPr>
        <p:spPr>
          <a:xfrm>
            <a:off x="8366760" y="1645920"/>
            <a:ext cx="475488" cy="475488"/>
          </a:xfrm>
          <a:prstGeom prst="ellipse">
            <a:avLst/>
          </a:prstGeom>
          <a:solidFill>
            <a:srgbClr val="1B5E42"/>
          </a:solidFill>
          <a:ln/>
        </p:spPr>
      </p:sp>
      <p:pic>
        <p:nvPicPr>
          <p:cNvPr id="16" name="Image 2" descr="/home/claude/greencycle_deck2/assets/FaChartBar_white.png">    </p:cNvPr>
          <p:cNvPicPr>
            <a:picLocks noChangeAspect="1"/>
          </p:cNvPicPr>
          <p:nvPr/>
        </p:nvPicPr>
        <p:blipFill>
          <a:blip r:embed="rId3"/>
          <a:stretch>
            <a:fillRect/>
          </a:stretch>
        </p:blipFill>
        <p:spPr>
          <a:xfrm>
            <a:off x="8428573" y="1707733"/>
            <a:ext cx="351861" cy="351861"/>
          </a:xfrm>
          <a:prstGeom prst="rect">
            <a:avLst/>
          </a:prstGeom>
        </p:spPr>
      </p:pic>
      <p:sp>
        <p:nvSpPr>
          <p:cNvPr id="17" name="Text 12"/>
          <p:cNvSpPr/>
          <p:nvPr/>
        </p:nvSpPr>
        <p:spPr>
          <a:xfrm>
            <a:off x="8942832" y="1609344"/>
            <a:ext cx="2651760" cy="594360"/>
          </a:xfrm>
          <a:prstGeom prst="rect">
            <a:avLst/>
          </a:prstGeom>
          <a:noFill/>
          <a:ln/>
        </p:spPr>
        <p:txBody>
          <a:bodyPr wrap="square" lIns="0" tIns="0" rIns="0" bIns="0" rtlCol="0" anchor="t"/>
          <a:lstStyle/>
          <a:p>
            <a:pPr indent="0" marL="0">
              <a:buNone/>
            </a:pPr>
            <a:r>
              <a:rPr lang="en-US" sz="1130" b="1" dirty="0">
                <a:solidFill>
                  <a:srgbClr val="17261F"/>
                </a:solidFill>
                <a:latin typeface="Cambria" pitchFamily="34" charset="0"/>
                <a:ea typeface="Cambria" pitchFamily="34" charset="-122"/>
                <a:cs typeface="Cambria" pitchFamily="34" charset="-120"/>
              </a:rPr>
              <a:t>Cap True Outliers</a:t>
            </a:r>
            <a:endParaRPr lang="en-US" sz="1130" dirty="0"/>
          </a:p>
        </p:txBody>
      </p:sp>
      <p:sp>
        <p:nvSpPr>
          <p:cNvPr id="18" name="Text 13"/>
          <p:cNvSpPr/>
          <p:nvPr/>
        </p:nvSpPr>
        <p:spPr>
          <a:xfrm>
            <a:off x="8366760" y="2267712"/>
            <a:ext cx="3209544" cy="1033272"/>
          </a:xfrm>
          <a:prstGeom prst="rect">
            <a:avLst/>
          </a:prstGeom>
          <a:noFill/>
          <a:ln/>
        </p:spPr>
        <p:txBody>
          <a:bodyPr wrap="square" lIns="0" tIns="0" rIns="0" bIns="0" rtlCol="0" anchor="ctr"/>
          <a:lstStyle/>
          <a:p>
            <a:pPr indent="0" marL="0">
              <a:buNone/>
            </a:pPr>
            <a:r>
              <a:rPr lang="en-US" sz="900" dirty="0">
                <a:solidFill>
                  <a:srgbClr val="5B6F65"/>
                </a:solidFill>
                <a:latin typeface="Calibri" pitchFamily="34" charset="0"/>
                <a:ea typeface="Calibri" pitchFamily="34" charset="-122"/>
                <a:cs typeface="Calibri" pitchFamily="34" charset="-120"/>
              </a:rPr>
              <a:t>co2_growth_prct capped at the 1st/99th percentile (259 points) because near-zero-to-small jumps produce mathematically correct but modeling-breaking spikes.</a:t>
            </a:r>
            <a:endParaRPr lang="en-US" sz="900" dirty="0"/>
          </a:p>
        </p:txBody>
      </p:sp>
      <p:sp>
        <p:nvSpPr>
          <p:cNvPr id="19" name="Shape 14"/>
          <p:cNvSpPr/>
          <p:nvPr/>
        </p:nvSpPr>
        <p:spPr>
          <a:xfrm>
            <a:off x="502920" y="3685032"/>
            <a:ext cx="3611880" cy="1965960"/>
          </a:xfrm>
          <a:prstGeom prst="roundRect">
            <a:avLst>
              <a:gd name="adj" fmla="val 3721"/>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0" name="Shape 15"/>
          <p:cNvSpPr/>
          <p:nvPr/>
        </p:nvSpPr>
        <p:spPr>
          <a:xfrm>
            <a:off x="704088" y="3867912"/>
            <a:ext cx="475488" cy="475488"/>
          </a:xfrm>
          <a:prstGeom prst="ellipse">
            <a:avLst/>
          </a:prstGeom>
          <a:solidFill>
            <a:srgbClr val="1B5E42"/>
          </a:solidFill>
          <a:ln/>
        </p:spPr>
      </p:sp>
      <p:pic>
        <p:nvPicPr>
          <p:cNvPr id="21" name="Image 3" descr="/home/claude/greencycle_deck2/assets/FaLayerGroup_white.png">    </p:cNvPr>
          <p:cNvPicPr>
            <a:picLocks noChangeAspect="1"/>
          </p:cNvPicPr>
          <p:nvPr/>
        </p:nvPicPr>
        <p:blipFill>
          <a:blip r:embed="rId4"/>
          <a:stretch>
            <a:fillRect/>
          </a:stretch>
        </p:blipFill>
        <p:spPr>
          <a:xfrm>
            <a:off x="765901" y="3929725"/>
            <a:ext cx="351861" cy="351861"/>
          </a:xfrm>
          <a:prstGeom prst="rect">
            <a:avLst/>
          </a:prstGeom>
        </p:spPr>
      </p:pic>
      <p:sp>
        <p:nvSpPr>
          <p:cNvPr id="22" name="Text 16"/>
          <p:cNvSpPr/>
          <p:nvPr/>
        </p:nvSpPr>
        <p:spPr>
          <a:xfrm>
            <a:off x="1280160" y="3831336"/>
            <a:ext cx="2651760" cy="594360"/>
          </a:xfrm>
          <a:prstGeom prst="rect">
            <a:avLst/>
          </a:prstGeom>
          <a:noFill/>
          <a:ln/>
        </p:spPr>
        <p:txBody>
          <a:bodyPr wrap="square" lIns="0" tIns="0" rIns="0" bIns="0" rtlCol="0" anchor="t"/>
          <a:lstStyle/>
          <a:p>
            <a:pPr indent="0" marL="0">
              <a:buNone/>
            </a:pPr>
            <a:r>
              <a:rPr lang="en-US" sz="1130" b="1" dirty="0">
                <a:solidFill>
                  <a:srgbClr val="17261F"/>
                </a:solidFill>
                <a:latin typeface="Cambria" pitchFamily="34" charset="0"/>
                <a:ea typeface="Cambria" pitchFamily="34" charset="-122"/>
                <a:cs typeface="Cambria" pitchFamily="34" charset="-120"/>
              </a:rPr>
              <a:t>Tiered Missing-Value Fill</a:t>
            </a:r>
            <a:endParaRPr lang="en-US" sz="1130" dirty="0"/>
          </a:p>
        </p:txBody>
      </p:sp>
      <p:sp>
        <p:nvSpPr>
          <p:cNvPr id="23" name="Text 17"/>
          <p:cNvSpPr/>
          <p:nvPr/>
        </p:nvSpPr>
        <p:spPr>
          <a:xfrm>
            <a:off x="704088" y="4489704"/>
            <a:ext cx="3209544" cy="1033272"/>
          </a:xfrm>
          <a:prstGeom prst="rect">
            <a:avLst/>
          </a:prstGeom>
          <a:noFill/>
          <a:ln/>
        </p:spPr>
        <p:txBody>
          <a:bodyPr wrap="square" lIns="0" tIns="0" rIns="0" bIns="0" rtlCol="0" anchor="ctr"/>
          <a:lstStyle/>
          <a:p>
            <a:pPr indent="0" marL="0">
              <a:buNone/>
            </a:pPr>
            <a:r>
              <a:rPr lang="en-US" sz="900" dirty="0">
                <a:solidFill>
                  <a:srgbClr val="5B6F65"/>
                </a:solidFill>
                <a:latin typeface="Calibri" pitchFamily="34" charset="0"/>
                <a:ea typeface="Calibri" pitchFamily="34" charset="-122"/>
                <a:cs typeface="Calibri" pitchFamily="34" charset="-120"/>
              </a:rPr>
              <a:t>Per-country median first, then structural zeros for emission sources a country never had — naive dropna() would have removed 43% of countries.</a:t>
            </a:r>
            <a:endParaRPr lang="en-US" sz="900" dirty="0"/>
          </a:p>
        </p:txBody>
      </p:sp>
      <p:sp>
        <p:nvSpPr>
          <p:cNvPr id="24" name="Shape 18"/>
          <p:cNvSpPr/>
          <p:nvPr/>
        </p:nvSpPr>
        <p:spPr>
          <a:xfrm>
            <a:off x="4334256" y="3685032"/>
            <a:ext cx="3611880" cy="1965960"/>
          </a:xfrm>
          <a:prstGeom prst="roundRect">
            <a:avLst>
              <a:gd name="adj" fmla="val 3721"/>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5" name="Shape 19"/>
          <p:cNvSpPr/>
          <p:nvPr/>
        </p:nvSpPr>
        <p:spPr>
          <a:xfrm>
            <a:off x="4535424" y="3867912"/>
            <a:ext cx="475488" cy="475488"/>
          </a:xfrm>
          <a:prstGeom prst="ellipse">
            <a:avLst/>
          </a:prstGeom>
          <a:solidFill>
            <a:srgbClr val="1B5E42"/>
          </a:solidFill>
          <a:ln/>
        </p:spPr>
      </p:sp>
      <p:pic>
        <p:nvPicPr>
          <p:cNvPr id="26" name="Image 4" descr="/home/claude/greencycle_deck2/assets/FaCheckCircle_white.png">    </p:cNvPr>
          <p:cNvPicPr>
            <a:picLocks noChangeAspect="1"/>
          </p:cNvPicPr>
          <p:nvPr/>
        </p:nvPicPr>
        <p:blipFill>
          <a:blip r:embed="rId5"/>
          <a:stretch>
            <a:fillRect/>
          </a:stretch>
        </p:blipFill>
        <p:spPr>
          <a:xfrm>
            <a:off x="4597237" y="3929725"/>
            <a:ext cx="351861" cy="351861"/>
          </a:xfrm>
          <a:prstGeom prst="rect">
            <a:avLst/>
          </a:prstGeom>
        </p:spPr>
      </p:pic>
      <p:sp>
        <p:nvSpPr>
          <p:cNvPr id="27" name="Text 20"/>
          <p:cNvSpPr/>
          <p:nvPr/>
        </p:nvSpPr>
        <p:spPr>
          <a:xfrm>
            <a:off x="5111496" y="3831336"/>
            <a:ext cx="2651760" cy="594360"/>
          </a:xfrm>
          <a:prstGeom prst="rect">
            <a:avLst/>
          </a:prstGeom>
          <a:noFill/>
          <a:ln/>
        </p:spPr>
        <p:txBody>
          <a:bodyPr wrap="square" lIns="0" tIns="0" rIns="0" bIns="0" rtlCol="0" anchor="t"/>
          <a:lstStyle/>
          <a:p>
            <a:pPr indent="0" marL="0">
              <a:buNone/>
            </a:pPr>
            <a:r>
              <a:rPr lang="en-US" sz="1130" b="1" dirty="0">
                <a:solidFill>
                  <a:srgbClr val="17261F"/>
                </a:solidFill>
                <a:latin typeface="Cambria" pitchFamily="34" charset="0"/>
                <a:ea typeface="Cambria" pitchFamily="34" charset="-122"/>
                <a:cs typeface="Cambria" pitchFamily="34" charset="-120"/>
              </a:rPr>
              <a:t>Preserve Monotonicity</a:t>
            </a:r>
            <a:endParaRPr lang="en-US" sz="1130" dirty="0"/>
          </a:p>
        </p:txBody>
      </p:sp>
      <p:sp>
        <p:nvSpPr>
          <p:cNvPr id="28" name="Text 21"/>
          <p:cNvSpPr/>
          <p:nvPr/>
        </p:nvSpPr>
        <p:spPr>
          <a:xfrm>
            <a:off x="4535424" y="4489704"/>
            <a:ext cx="3209544" cy="1033272"/>
          </a:xfrm>
          <a:prstGeom prst="rect">
            <a:avLst/>
          </a:prstGeom>
          <a:noFill/>
          <a:ln/>
        </p:spPr>
        <p:txBody>
          <a:bodyPr wrap="square" lIns="0" tIns="0" rIns="0" bIns="0" rtlCol="0" anchor="ctr"/>
          <a:lstStyle/>
          <a:p>
            <a:pPr indent="0" marL="0">
              <a:buNone/>
            </a:pPr>
            <a:r>
              <a:rPr lang="en-US" sz="900" dirty="0">
                <a:solidFill>
                  <a:srgbClr val="5B6F65"/>
                </a:solidFill>
                <a:latin typeface="Calibri" pitchFamily="34" charset="0"/>
                <a:ea typeface="Calibri" pitchFamily="34" charset="-122"/>
                <a:cs typeface="Calibri" pitchFamily="34" charset="-120"/>
              </a:rPr>
              <a:t>cumulative_co2 was filled by time-interpolation, not median, since a running total can't impossibly decrease year over year.</a:t>
            </a:r>
            <a:endParaRPr lang="en-US" sz="900" dirty="0"/>
          </a:p>
        </p:txBody>
      </p:sp>
      <p:sp>
        <p:nvSpPr>
          <p:cNvPr id="29" name="Shape 22"/>
          <p:cNvSpPr/>
          <p:nvPr/>
        </p:nvSpPr>
        <p:spPr>
          <a:xfrm>
            <a:off x="8165592" y="3685032"/>
            <a:ext cx="3611880" cy="1965960"/>
          </a:xfrm>
          <a:prstGeom prst="roundRect">
            <a:avLst>
              <a:gd name="adj" fmla="val 3721"/>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30" name="Shape 23"/>
          <p:cNvSpPr/>
          <p:nvPr/>
        </p:nvSpPr>
        <p:spPr>
          <a:xfrm>
            <a:off x="8366760" y="3867912"/>
            <a:ext cx="475488" cy="475488"/>
          </a:xfrm>
          <a:prstGeom prst="ellipse">
            <a:avLst/>
          </a:prstGeom>
          <a:solidFill>
            <a:srgbClr val="1B5E42"/>
          </a:solidFill>
          <a:ln/>
        </p:spPr>
      </p:sp>
      <p:pic>
        <p:nvPicPr>
          <p:cNvPr id="31" name="Image 5" descr="/home/claude/greencycle_deck2/assets/FaBoxes_white.png">    </p:cNvPr>
          <p:cNvPicPr>
            <a:picLocks noChangeAspect="1"/>
          </p:cNvPicPr>
          <p:nvPr/>
        </p:nvPicPr>
        <p:blipFill>
          <a:blip r:embed="rId6"/>
          <a:stretch>
            <a:fillRect/>
          </a:stretch>
        </p:blipFill>
        <p:spPr>
          <a:xfrm>
            <a:off x="8428573" y="3929725"/>
            <a:ext cx="351861" cy="351861"/>
          </a:xfrm>
          <a:prstGeom prst="rect">
            <a:avLst/>
          </a:prstGeom>
        </p:spPr>
      </p:pic>
      <p:sp>
        <p:nvSpPr>
          <p:cNvPr id="32" name="Text 24"/>
          <p:cNvSpPr/>
          <p:nvPr/>
        </p:nvSpPr>
        <p:spPr>
          <a:xfrm>
            <a:off x="8942832" y="3831336"/>
            <a:ext cx="2651760" cy="594360"/>
          </a:xfrm>
          <a:prstGeom prst="rect">
            <a:avLst/>
          </a:prstGeom>
          <a:noFill/>
          <a:ln/>
        </p:spPr>
        <p:txBody>
          <a:bodyPr wrap="square" lIns="0" tIns="0" rIns="0" bIns="0" rtlCol="0" anchor="t"/>
          <a:lstStyle/>
          <a:p>
            <a:pPr indent="0" marL="0">
              <a:buNone/>
            </a:pPr>
            <a:r>
              <a:rPr lang="en-US" sz="1130" b="1" dirty="0">
                <a:solidFill>
                  <a:srgbClr val="17261F"/>
                </a:solidFill>
                <a:latin typeface="Cambria" pitchFamily="34" charset="0"/>
                <a:ea typeface="Cambria" pitchFamily="34" charset="-122"/>
                <a:cs typeface="Cambria" pitchFamily="34" charset="-120"/>
              </a:rPr>
              <a:t>Encode Categoricals</a:t>
            </a:r>
            <a:endParaRPr lang="en-US" sz="1130" dirty="0"/>
          </a:p>
        </p:txBody>
      </p:sp>
      <p:sp>
        <p:nvSpPr>
          <p:cNvPr id="33" name="Text 25"/>
          <p:cNvSpPr/>
          <p:nvPr/>
        </p:nvSpPr>
        <p:spPr>
          <a:xfrm>
            <a:off x="8366760" y="4489704"/>
            <a:ext cx="3209544" cy="1033272"/>
          </a:xfrm>
          <a:prstGeom prst="rect">
            <a:avLst/>
          </a:prstGeom>
          <a:noFill/>
          <a:ln/>
        </p:spPr>
        <p:txBody>
          <a:bodyPr wrap="square" lIns="0" tIns="0" rIns="0" bIns="0" rtlCol="0" anchor="ctr"/>
          <a:lstStyle/>
          <a:p>
            <a:pPr indent="0" marL="0">
              <a:buNone/>
            </a:pPr>
            <a:r>
              <a:rPr lang="en-US" sz="900" dirty="0">
                <a:solidFill>
                  <a:srgbClr val="5B6F65"/>
                </a:solidFill>
                <a:latin typeface="Calibri" pitchFamily="34" charset="0"/>
                <a:ea typeface="Calibri" pitchFamily="34" charset="-122"/>
                <a:cs typeface="Calibri" pitchFamily="34" charset="-120"/>
              </a:rPr>
              <a:t>Country and iso_code were one-hot encoded for the regression models (see Model Selection for the important caveat this creates).</a:t>
            </a:r>
            <a:endParaRPr lang="en-US" sz="900" dirty="0"/>
          </a:p>
        </p:txBody>
      </p:sp>
      <p:sp>
        <p:nvSpPr>
          <p:cNvPr id="34" name="Text 26"/>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5. DATA PREPROCESSING  ·  PART 2</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Preparing the Image Dataset for Training</a:t>
            </a:r>
            <a:endParaRPr lang="en-US" sz="3000" dirty="0"/>
          </a:p>
        </p:txBody>
      </p:sp>
      <p:sp>
        <p:nvSpPr>
          <p:cNvPr id="4" name="Shape 2"/>
          <p:cNvSpPr/>
          <p:nvPr/>
        </p:nvSpPr>
        <p:spPr>
          <a:xfrm>
            <a:off x="548640" y="1554480"/>
            <a:ext cx="5440680" cy="2148840"/>
          </a:xfrm>
          <a:prstGeom prst="roundRect">
            <a:avLst>
              <a:gd name="adj" fmla="val 3404"/>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Shape 3"/>
          <p:cNvSpPr/>
          <p:nvPr/>
        </p:nvSpPr>
        <p:spPr>
          <a:xfrm>
            <a:off x="804672" y="1810512"/>
            <a:ext cx="548640" cy="548640"/>
          </a:xfrm>
          <a:prstGeom prst="ellipse">
            <a:avLst/>
          </a:prstGeom>
          <a:solidFill>
            <a:srgbClr val="1B5E42"/>
          </a:solidFill>
          <a:ln/>
        </p:spPr>
      </p:sp>
      <p:pic>
        <p:nvPicPr>
          <p:cNvPr id="6" name="Image 0" descr="/home/claude/greencycle_deck2/assets/FaBoxes_white.png">    </p:cNvPr>
          <p:cNvPicPr>
            <a:picLocks noChangeAspect="1"/>
          </p:cNvPicPr>
          <p:nvPr/>
        </p:nvPicPr>
        <p:blipFill>
          <a:blip r:embed="rId1"/>
          <a:stretch>
            <a:fillRect/>
          </a:stretch>
        </p:blipFill>
        <p:spPr>
          <a:xfrm>
            <a:off x="875995" y="1881835"/>
            <a:ext cx="405994" cy="405994"/>
          </a:xfrm>
          <a:prstGeom prst="rect">
            <a:avLst/>
          </a:prstGeom>
        </p:spPr>
      </p:pic>
      <p:sp>
        <p:nvSpPr>
          <p:cNvPr id="7" name="Text 4"/>
          <p:cNvSpPr/>
          <p:nvPr/>
        </p:nvSpPr>
        <p:spPr>
          <a:xfrm>
            <a:off x="1508760" y="1755648"/>
            <a:ext cx="4297680" cy="548640"/>
          </a:xfrm>
          <a:prstGeom prst="rect">
            <a:avLst/>
          </a:prstGeom>
          <a:noFill/>
          <a:ln/>
        </p:spPr>
        <p:txBody>
          <a:bodyPr wrap="square" lIns="0" tIns="0" rIns="0" bIns="0" rtlCol="0" anchor="t"/>
          <a:lstStyle/>
          <a:p>
            <a:pPr indent="0" marL="0">
              <a:buNone/>
            </a:pPr>
            <a:r>
              <a:rPr lang="en-US" sz="1300" b="1" dirty="0">
                <a:solidFill>
                  <a:srgbClr val="17261F"/>
                </a:solidFill>
                <a:latin typeface="Cambria" pitchFamily="34" charset="0"/>
                <a:ea typeface="Cambria" pitchFamily="34" charset="-122"/>
                <a:cs typeface="Cambria" pitchFamily="34" charset="-120"/>
              </a:rPr>
              <a:t>Standardized Folder Structure</a:t>
            </a:r>
            <a:endParaRPr lang="en-US" sz="1300" dirty="0"/>
          </a:p>
        </p:txBody>
      </p:sp>
      <p:sp>
        <p:nvSpPr>
          <p:cNvPr id="8" name="Text 5"/>
          <p:cNvSpPr/>
          <p:nvPr/>
        </p:nvSpPr>
        <p:spPr>
          <a:xfrm>
            <a:off x="804672" y="2468880"/>
            <a:ext cx="4928616" cy="1051560"/>
          </a:xfrm>
          <a:prstGeom prst="rect">
            <a:avLst/>
          </a:prstGeom>
          <a:noFill/>
          <a:ln/>
        </p:spPr>
        <p:txBody>
          <a:bodyPr wrap="square" lIns="0" tIns="0" rIns="0" bIns="0" rtlCol="0" anchor="ctr"/>
          <a:lstStyle/>
          <a:p>
            <a:pPr indent="0" marL="0">
              <a:buNone/>
            </a:pPr>
            <a:r>
              <a:rPr lang="en-US" sz="1000" dirty="0">
                <a:solidFill>
                  <a:srgbClr val="5B6F65"/>
                </a:solidFill>
                <a:latin typeface="Calibri" pitchFamily="34" charset="0"/>
                <a:ea typeface="Calibri" pitchFamily="34" charset="-122"/>
                <a:cs typeface="Calibri" pitchFamily="34" charset="-120"/>
              </a:rPr>
              <a:t>Images organized via PyTorch's ImageFolder convention (one subfolder per class) — this is why the folder is named standardized_2569, enabling automatic label assignment.</a:t>
            </a:r>
            <a:endParaRPr lang="en-US" sz="1000" dirty="0"/>
          </a:p>
        </p:txBody>
      </p:sp>
      <p:sp>
        <p:nvSpPr>
          <p:cNvPr id="9" name="Shape 6"/>
          <p:cNvSpPr/>
          <p:nvPr/>
        </p:nvSpPr>
        <p:spPr>
          <a:xfrm>
            <a:off x="6309360" y="1554480"/>
            <a:ext cx="5440680" cy="2148840"/>
          </a:xfrm>
          <a:prstGeom prst="roundRect">
            <a:avLst>
              <a:gd name="adj" fmla="val 3404"/>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0" name="Shape 7"/>
          <p:cNvSpPr/>
          <p:nvPr/>
        </p:nvSpPr>
        <p:spPr>
          <a:xfrm>
            <a:off x="6565392" y="1810512"/>
            <a:ext cx="548640" cy="548640"/>
          </a:xfrm>
          <a:prstGeom prst="ellipse">
            <a:avLst/>
          </a:prstGeom>
          <a:solidFill>
            <a:srgbClr val="1B5E42"/>
          </a:solidFill>
          <a:ln/>
        </p:spPr>
      </p:sp>
      <p:pic>
        <p:nvPicPr>
          <p:cNvPr id="11" name="Image 1" descr="/home/claude/greencycle_deck2/assets/FaLayerGroup_white.png">    </p:cNvPr>
          <p:cNvPicPr>
            <a:picLocks noChangeAspect="1"/>
          </p:cNvPicPr>
          <p:nvPr/>
        </p:nvPicPr>
        <p:blipFill>
          <a:blip r:embed="rId2"/>
          <a:stretch>
            <a:fillRect/>
          </a:stretch>
        </p:blipFill>
        <p:spPr>
          <a:xfrm>
            <a:off x="6636715" y="1881835"/>
            <a:ext cx="405994" cy="405994"/>
          </a:xfrm>
          <a:prstGeom prst="rect">
            <a:avLst/>
          </a:prstGeom>
        </p:spPr>
      </p:pic>
      <p:sp>
        <p:nvSpPr>
          <p:cNvPr id="12" name="Text 8"/>
          <p:cNvSpPr/>
          <p:nvPr/>
        </p:nvSpPr>
        <p:spPr>
          <a:xfrm>
            <a:off x="7269480" y="1755648"/>
            <a:ext cx="4297680" cy="548640"/>
          </a:xfrm>
          <a:prstGeom prst="rect">
            <a:avLst/>
          </a:prstGeom>
          <a:noFill/>
          <a:ln/>
        </p:spPr>
        <p:txBody>
          <a:bodyPr wrap="square" lIns="0" tIns="0" rIns="0" bIns="0" rtlCol="0" anchor="t"/>
          <a:lstStyle/>
          <a:p>
            <a:pPr indent="0" marL="0">
              <a:buNone/>
            </a:pPr>
            <a:r>
              <a:rPr lang="en-US" sz="1300" b="1" dirty="0">
                <a:solidFill>
                  <a:srgbClr val="17261F"/>
                </a:solidFill>
                <a:latin typeface="Cambria" pitchFamily="34" charset="0"/>
                <a:ea typeface="Cambria" pitchFamily="34" charset="-122"/>
                <a:cs typeface="Cambria" pitchFamily="34" charset="-120"/>
              </a:rPr>
              <a:t>Resize &amp; Normalize</a:t>
            </a:r>
            <a:endParaRPr lang="en-US" sz="1300" dirty="0"/>
          </a:p>
        </p:txBody>
      </p:sp>
      <p:sp>
        <p:nvSpPr>
          <p:cNvPr id="13" name="Text 9"/>
          <p:cNvSpPr/>
          <p:nvPr/>
        </p:nvSpPr>
        <p:spPr>
          <a:xfrm>
            <a:off x="6565392" y="2468880"/>
            <a:ext cx="4928616" cy="1051560"/>
          </a:xfrm>
          <a:prstGeom prst="rect">
            <a:avLst/>
          </a:prstGeom>
          <a:noFill/>
          <a:ln/>
        </p:spPr>
        <p:txBody>
          <a:bodyPr wrap="square" lIns="0" tIns="0" rIns="0" bIns="0" rtlCol="0" anchor="ctr"/>
          <a:lstStyle/>
          <a:p>
            <a:pPr indent="0" marL="0">
              <a:buNone/>
            </a:pPr>
            <a:r>
              <a:rPr lang="en-US" sz="1000" dirty="0">
                <a:solidFill>
                  <a:srgbClr val="5B6F65"/>
                </a:solidFill>
                <a:latin typeface="Calibri" pitchFamily="34" charset="0"/>
                <a:ea typeface="Calibri" pitchFamily="34" charset="-122"/>
                <a:cs typeface="Calibri" pitchFamily="34" charset="-120"/>
              </a:rPr>
              <a:t>Every image resized to a fixed input size and normalized to match MobileNetV2's expected ImageNet input statistics — required for transfer learning to work correctly.</a:t>
            </a:r>
            <a:endParaRPr lang="en-US" sz="1000" dirty="0"/>
          </a:p>
        </p:txBody>
      </p:sp>
      <p:sp>
        <p:nvSpPr>
          <p:cNvPr id="14" name="Shape 10"/>
          <p:cNvSpPr/>
          <p:nvPr/>
        </p:nvSpPr>
        <p:spPr>
          <a:xfrm>
            <a:off x="548640" y="3977640"/>
            <a:ext cx="5440680" cy="2148840"/>
          </a:xfrm>
          <a:prstGeom prst="roundRect">
            <a:avLst>
              <a:gd name="adj" fmla="val 3404"/>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5" name="Shape 11"/>
          <p:cNvSpPr/>
          <p:nvPr/>
        </p:nvSpPr>
        <p:spPr>
          <a:xfrm>
            <a:off x="804672" y="4233672"/>
            <a:ext cx="548640" cy="548640"/>
          </a:xfrm>
          <a:prstGeom prst="ellipse">
            <a:avLst/>
          </a:prstGeom>
          <a:solidFill>
            <a:srgbClr val="1B5E42"/>
          </a:solidFill>
          <a:ln/>
        </p:spPr>
      </p:sp>
      <p:pic>
        <p:nvPicPr>
          <p:cNvPr id="16" name="Image 2" descr="/home/claude/greencycle_deck2/assets/FaFilter_white.png">    </p:cNvPr>
          <p:cNvPicPr>
            <a:picLocks noChangeAspect="1"/>
          </p:cNvPicPr>
          <p:nvPr/>
        </p:nvPicPr>
        <p:blipFill>
          <a:blip r:embed="rId3"/>
          <a:stretch>
            <a:fillRect/>
          </a:stretch>
        </p:blipFill>
        <p:spPr>
          <a:xfrm>
            <a:off x="875995" y="4304995"/>
            <a:ext cx="405994" cy="405994"/>
          </a:xfrm>
          <a:prstGeom prst="rect">
            <a:avLst/>
          </a:prstGeom>
        </p:spPr>
      </p:pic>
      <p:sp>
        <p:nvSpPr>
          <p:cNvPr id="17" name="Text 12"/>
          <p:cNvSpPr/>
          <p:nvPr/>
        </p:nvSpPr>
        <p:spPr>
          <a:xfrm>
            <a:off x="1508760" y="4178808"/>
            <a:ext cx="4297680" cy="548640"/>
          </a:xfrm>
          <a:prstGeom prst="rect">
            <a:avLst/>
          </a:prstGeom>
          <a:noFill/>
          <a:ln/>
        </p:spPr>
        <p:txBody>
          <a:bodyPr wrap="square" lIns="0" tIns="0" rIns="0" bIns="0" rtlCol="0" anchor="t"/>
          <a:lstStyle/>
          <a:p>
            <a:pPr indent="0" marL="0">
              <a:buNone/>
            </a:pPr>
            <a:r>
              <a:rPr lang="en-US" sz="1300" b="1" dirty="0">
                <a:solidFill>
                  <a:srgbClr val="17261F"/>
                </a:solidFill>
                <a:latin typeface="Cambria" pitchFamily="34" charset="0"/>
                <a:ea typeface="Cambria" pitchFamily="34" charset="-122"/>
                <a:cs typeface="Cambria" pitchFamily="34" charset="-120"/>
              </a:rPr>
              <a:t>Random Train/Val Split</a:t>
            </a:r>
            <a:endParaRPr lang="en-US" sz="1300" dirty="0"/>
          </a:p>
        </p:txBody>
      </p:sp>
      <p:sp>
        <p:nvSpPr>
          <p:cNvPr id="18" name="Text 13"/>
          <p:cNvSpPr/>
          <p:nvPr/>
        </p:nvSpPr>
        <p:spPr>
          <a:xfrm>
            <a:off x="804672" y="4892040"/>
            <a:ext cx="4928616" cy="1051560"/>
          </a:xfrm>
          <a:prstGeom prst="rect">
            <a:avLst/>
          </a:prstGeom>
          <a:noFill/>
          <a:ln/>
        </p:spPr>
        <p:txBody>
          <a:bodyPr wrap="square" lIns="0" tIns="0" rIns="0" bIns="0" rtlCol="0" anchor="ctr"/>
          <a:lstStyle/>
          <a:p>
            <a:pPr indent="0" marL="0">
              <a:buNone/>
            </a:pPr>
            <a:r>
              <a:rPr lang="en-US" sz="1000" dirty="0">
                <a:solidFill>
                  <a:srgbClr val="5B6F65"/>
                </a:solidFill>
                <a:latin typeface="Calibri" pitchFamily="34" charset="0"/>
                <a:ea typeface="Calibri" pitchFamily="34" charset="-122"/>
                <a:cs typeface="Calibri" pitchFamily="34" charset="-120"/>
              </a:rPr>
              <a:t>80/20 split via random_split (9,807 train / 2,452 validation) — kept simple and reproducible rather than a stratified split.</a:t>
            </a:r>
            <a:endParaRPr lang="en-US" sz="1000" dirty="0"/>
          </a:p>
        </p:txBody>
      </p:sp>
      <p:sp>
        <p:nvSpPr>
          <p:cNvPr id="19" name="Shape 14"/>
          <p:cNvSpPr/>
          <p:nvPr/>
        </p:nvSpPr>
        <p:spPr>
          <a:xfrm>
            <a:off x="6309360" y="3977640"/>
            <a:ext cx="5440680" cy="2148840"/>
          </a:xfrm>
          <a:prstGeom prst="roundRect">
            <a:avLst>
              <a:gd name="adj" fmla="val 3404"/>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0" name="Shape 15"/>
          <p:cNvSpPr/>
          <p:nvPr/>
        </p:nvSpPr>
        <p:spPr>
          <a:xfrm>
            <a:off x="6565392" y="4233672"/>
            <a:ext cx="548640" cy="548640"/>
          </a:xfrm>
          <a:prstGeom prst="ellipse">
            <a:avLst/>
          </a:prstGeom>
          <a:solidFill>
            <a:srgbClr val="1B5E42"/>
          </a:solidFill>
          <a:ln/>
        </p:spPr>
      </p:sp>
      <p:pic>
        <p:nvPicPr>
          <p:cNvPr id="21" name="Image 3" descr="/home/claude/greencycle_deck2/assets/FaExclamationTriangle_white.png">    </p:cNvPr>
          <p:cNvPicPr>
            <a:picLocks noChangeAspect="1"/>
          </p:cNvPicPr>
          <p:nvPr/>
        </p:nvPicPr>
        <p:blipFill>
          <a:blip r:embed="rId4"/>
          <a:stretch>
            <a:fillRect/>
          </a:stretch>
        </p:blipFill>
        <p:spPr>
          <a:xfrm>
            <a:off x="6636715" y="4304995"/>
            <a:ext cx="405994" cy="405994"/>
          </a:xfrm>
          <a:prstGeom prst="rect">
            <a:avLst/>
          </a:prstGeom>
        </p:spPr>
      </p:pic>
      <p:sp>
        <p:nvSpPr>
          <p:cNvPr id="22" name="Text 16"/>
          <p:cNvSpPr/>
          <p:nvPr/>
        </p:nvSpPr>
        <p:spPr>
          <a:xfrm>
            <a:off x="7269480" y="4178808"/>
            <a:ext cx="4297680" cy="548640"/>
          </a:xfrm>
          <a:prstGeom prst="rect">
            <a:avLst/>
          </a:prstGeom>
          <a:noFill/>
          <a:ln/>
        </p:spPr>
        <p:txBody>
          <a:bodyPr wrap="square" lIns="0" tIns="0" rIns="0" bIns="0" rtlCol="0" anchor="t"/>
          <a:lstStyle/>
          <a:p>
            <a:pPr indent="0" marL="0">
              <a:buNone/>
            </a:pPr>
            <a:r>
              <a:rPr lang="en-US" sz="1300" b="1" dirty="0">
                <a:solidFill>
                  <a:srgbClr val="17261F"/>
                </a:solidFill>
                <a:latin typeface="Cambria" pitchFamily="34" charset="0"/>
                <a:ea typeface="Cambria" pitchFamily="34" charset="-122"/>
                <a:cs typeface="Cambria" pitchFamily="34" charset="-120"/>
              </a:rPr>
              <a:t>No Augmentation Applied</a:t>
            </a:r>
            <a:endParaRPr lang="en-US" sz="1300" dirty="0"/>
          </a:p>
        </p:txBody>
      </p:sp>
      <p:sp>
        <p:nvSpPr>
          <p:cNvPr id="23" name="Text 17"/>
          <p:cNvSpPr/>
          <p:nvPr/>
        </p:nvSpPr>
        <p:spPr>
          <a:xfrm>
            <a:off x="6565392" y="4892040"/>
            <a:ext cx="4928616" cy="1051560"/>
          </a:xfrm>
          <a:prstGeom prst="rect">
            <a:avLst/>
          </a:prstGeom>
          <a:noFill/>
          <a:ln/>
        </p:spPr>
        <p:txBody>
          <a:bodyPr wrap="square" lIns="0" tIns="0" rIns="0" bIns="0" rtlCol="0" anchor="ctr"/>
          <a:lstStyle/>
          <a:p>
            <a:pPr indent="0" marL="0">
              <a:buNone/>
            </a:pPr>
            <a:r>
              <a:rPr lang="en-US" sz="1000" dirty="0">
                <a:solidFill>
                  <a:srgbClr val="5B6F65"/>
                </a:solidFill>
                <a:latin typeface="Calibri" pitchFamily="34" charset="0"/>
                <a:ea typeface="Calibri" pitchFamily="34" charset="-122"/>
                <a:cs typeface="Calibri" pitchFamily="34" charset="-120"/>
              </a:rPr>
              <a:t>No rotation, flip, or color-jitter augmentation was used — a real limitation, honestly noted, and a clear candidate for Future Work.</a:t>
            </a:r>
            <a:endParaRPr lang="en-US" sz="1000" dirty="0"/>
          </a:p>
        </p:txBody>
      </p:sp>
      <p:sp>
        <p:nvSpPr>
          <p:cNvPr id="24" name="Text 18"/>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6. MODEL SELECTION  ·  PART 1</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Five Regression Candidates for CO2 Prediction</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6492240" cy="914400"/>
        </p:xfrm>
        <a:graphic>
          <a:graphicData uri="http://schemas.openxmlformats.org/drawingml/2006/table">
            <a:tbl>
              <a:tblPr/>
              <a:tblGrid>
                <a:gridCol w="1965960"/>
                <a:gridCol w="914400"/>
                <a:gridCol w="960120"/>
                <a:gridCol w="914400"/>
                <a:gridCol w="1737360"/>
              </a:tblGrid>
              <a:tr h="51206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R²</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RMSE</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MAE</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Verdict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1B5E42"/>
                    </a:solidFill>
                  </a:tcPr>
                </a:tc>
              </a:tr>
              <a:tr h="512064">
                <a:tc>
                  <a:txBody>
                    <a:bodyPr/>
                    <a:lstStyle/>
                    <a:p>
                      <a:pPr indent="0" marL="0">
                        <a:buNone/>
                      </a:pPr>
                      <a:r>
                        <a:rPr lang="en-US" sz="1050" b="1" dirty="0">
                          <a:solidFill>
                            <a:srgbClr val="17261F"/>
                          </a:solidFill>
                          <a:latin typeface="Calibri" pitchFamily="34" charset="0"/>
                          <a:ea typeface="Calibri" pitchFamily="34" charset="-122"/>
                          <a:cs typeface="Calibri" pitchFamily="34" charset="-120"/>
                        </a:rPr>
                        <a:t>Ridge Regression</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DFF0E4"/>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0.9902</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DFF0E4"/>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0.6693</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DFF0E4"/>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0.3401</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DFF0E4"/>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Highest R² — selected</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DFF0E4"/>
                    </a:solidFill>
                  </a:tcPr>
                </a:tc>
              </a:tr>
              <a:tr h="512064">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Gradient Boosting</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0.9262</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1.8359</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0.3982</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Strong, but behind Ridge</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0.8875</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2.2663</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0.1997</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Lowest MAE, higher RMSE</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r>
              <a:tr h="512064">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XGBoost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0.8807</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2.3339</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0.2562</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Underperformed vs. simpler models</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Linear Regression</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0.7178</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3.5896</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1.7693</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c>
                  <a:txBody>
                    <a:bodyPr/>
                    <a:lstStyle/>
                    <a:p>
                      <a:pPr indent="0" marL="0">
                        <a:buNone/>
                      </a:pPr>
                      <a:r>
                        <a:rPr lang="en-US" sz="1050" dirty="0">
                          <a:solidFill>
                            <a:srgbClr val="17261F"/>
                          </a:solidFill>
                          <a:latin typeface="Calibri" pitchFamily="34" charset="0"/>
                          <a:ea typeface="Calibri" pitchFamily="34" charset="-122"/>
                          <a:cs typeface="Calibri" pitchFamily="34" charset="-120"/>
                        </a:rPr>
                        <a:t>Baseline — clearly weakest</a:t>
                      </a:r>
                      <a:endParaRPr lang="en-US" sz="1050" dirty="0">
                        <a:latin typeface="Calibri" charset="0"/>
                        <a:ea typeface="Calibri" charset="0"/>
                        <a:cs typeface="Calibri" charset="0"/>
                      </a:endParaRPr>
                    </a:p>
                  </a:txBody>
                  <a:tcPr marL="91440" marR="91440" marT="45720" marB="45720" anchor="ctr">
                    <a:lnL w="6350" cap="flat" cmpd="sng" algn="ctr">
                      <a:solidFill>
                        <a:srgbClr val="DCE8E1"/>
                      </a:solidFill>
                      <a:prstDash val="solid"/>
                      <a:round/>
                      <a:headEnd type="none" w="med" len="med"/>
                      <a:tailEnd type="none" w="med" len="med"/>
                    </a:lnL>
                    <a:lnR w="6350" cap="flat" cmpd="sng" algn="ctr">
                      <a:solidFill>
                        <a:srgbClr val="DCE8E1"/>
                      </a:solidFill>
                      <a:prstDash val="solid"/>
                      <a:round/>
                      <a:headEnd type="none" w="med" len="med"/>
                      <a:tailEnd type="none" w="med" len="med"/>
                    </a:lnR>
                    <a:lnT w="6350" cap="flat" cmpd="sng" algn="ctr">
                      <a:solidFill>
                        <a:srgbClr val="DCE8E1"/>
                      </a:solidFill>
                      <a:prstDash val="solid"/>
                      <a:round/>
                      <a:headEnd type="none" w="med" len="med"/>
                      <a:tailEnd type="none" w="med" len="med"/>
                    </a:lnT>
                    <a:lnB w="6350" cap="flat" cmpd="sng" algn="ctr">
                      <a:solidFill>
                        <a:srgbClr val="DCE8E1"/>
                      </a:solidFill>
                      <a:prstDash val="solid"/>
                      <a:round/>
                      <a:headEnd type="none" w="med" len="med"/>
                      <a:tailEnd type="none" w="med" len="med"/>
                    </a:lnB>
                    <a:solidFill>
                      <a:srgbClr val="EAF5EE"/>
                    </a:solidFill>
                  </a:tcPr>
                </a:tc>
              </a:tr>
            </a:tbl>
          </a:graphicData>
        </a:graphic>
      </p:graphicFrame>
      <p:sp>
        <p:nvSpPr>
          <p:cNvPr id="5" name="Shape 2"/>
          <p:cNvSpPr/>
          <p:nvPr/>
        </p:nvSpPr>
        <p:spPr>
          <a:xfrm>
            <a:off x="7269480" y="1417320"/>
            <a:ext cx="4434840" cy="3063240"/>
          </a:xfrm>
          <a:prstGeom prst="roundRect">
            <a:avLst>
              <a:gd name="adj" fmla="val 2388"/>
            </a:avLst>
          </a:prstGeom>
          <a:solidFill>
            <a:srgbClr val="FCEAE5"/>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6" name="Text 3"/>
          <p:cNvSpPr/>
          <p:nvPr/>
        </p:nvSpPr>
        <p:spPr>
          <a:xfrm>
            <a:off x="7498080" y="1600200"/>
            <a:ext cx="4023360" cy="365760"/>
          </a:xfrm>
          <a:prstGeom prst="rect">
            <a:avLst/>
          </a:prstGeom>
          <a:noFill/>
          <a:ln/>
        </p:spPr>
        <p:txBody>
          <a:bodyPr wrap="square" lIns="0" tIns="0" rIns="0" bIns="0" rtlCol="0" anchor="ctr"/>
          <a:lstStyle/>
          <a:p>
            <a:pPr indent="0" marL="0">
              <a:buNone/>
            </a:pPr>
            <a:r>
              <a:rPr lang="en-US" sz="1250" b="1" dirty="0">
                <a:solidFill>
                  <a:srgbClr val="E76F51"/>
                </a:solidFill>
                <a:latin typeface="Cambria" pitchFamily="34" charset="0"/>
                <a:ea typeface="Cambria" pitchFamily="34" charset="-122"/>
                <a:cs typeface="Cambria" pitchFamily="34" charset="-120"/>
              </a:rPr>
              <a:t>Why Ridge — and an honest caveat</a:t>
            </a:r>
            <a:endParaRPr lang="en-US" sz="1250" dirty="0"/>
          </a:p>
        </p:txBody>
      </p:sp>
      <p:sp>
        <p:nvSpPr>
          <p:cNvPr id="7" name="Text 4"/>
          <p:cNvSpPr/>
          <p:nvPr/>
        </p:nvSpPr>
        <p:spPr>
          <a:xfrm>
            <a:off x="7498080" y="2011680"/>
            <a:ext cx="4023360" cy="2331720"/>
          </a:xfrm>
          <a:prstGeom prst="rect">
            <a:avLst/>
          </a:prstGeom>
          <a:noFill/>
          <a:ln/>
        </p:spPr>
        <p:txBody>
          <a:bodyPr wrap="square" lIns="0" tIns="0" rIns="0" bIns="0" rtlCol="0" anchor="ctr"/>
          <a:lstStyle/>
          <a:p>
            <a:pPr indent="0" marL="0">
              <a:buNone/>
            </a:pPr>
            <a:r>
              <a:rPr lang="en-US" sz="1000" dirty="0">
                <a:solidFill>
                  <a:srgbClr val="17261F"/>
                </a:solidFill>
                <a:latin typeface="Calibri" pitchFamily="34" charset="0"/>
                <a:ea typeface="Calibri" pitchFamily="34" charset="-122"/>
                <a:cs typeface="Calibri" pitchFamily="34" charset="-120"/>
              </a:rPr>
              <a:t>Ridge was selected on test-set R². But the feature set includes one-hot encoded country and iso_code columns — since co2_per_capita is highly stable per country year to year, this likely lets the model partly "memorize" a per-country baseline rather than purely learning from the engineered numeric drivers. The unusually high R² (0.99) versus tree ensembles (0.88–0.93) is a signal worth investigating, not just celebrating.</a:t>
            </a:r>
            <a:endParaRPr lang="en-US" sz="1000" dirty="0"/>
          </a:p>
        </p:txBody>
      </p:sp>
      <p:sp>
        <p:nvSpPr>
          <p:cNvPr id="8" name="Shape 5"/>
          <p:cNvSpPr/>
          <p:nvPr/>
        </p:nvSpPr>
        <p:spPr>
          <a:xfrm>
            <a:off x="502920" y="4663440"/>
            <a:ext cx="11201400" cy="1691640"/>
          </a:xfrm>
          <a:prstGeom prst="roundRect">
            <a:avLst>
              <a:gd name="adj" fmla="val 4324"/>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9" name="Text 6"/>
          <p:cNvSpPr/>
          <p:nvPr/>
        </p:nvSpPr>
        <p:spPr>
          <a:xfrm>
            <a:off x="777240" y="4828032"/>
            <a:ext cx="7315200" cy="32004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Advantages &amp; Limitations Considered</a:t>
            </a:r>
            <a:endParaRPr lang="en-US" sz="1250" dirty="0"/>
          </a:p>
        </p:txBody>
      </p:sp>
      <p:sp>
        <p:nvSpPr>
          <p:cNvPr id="10" name="Text 7"/>
          <p:cNvSpPr/>
          <p:nvPr/>
        </p:nvSpPr>
        <p:spPr>
          <a:xfrm>
            <a:off x="777240" y="5166360"/>
            <a:ext cx="10607040" cy="1097280"/>
          </a:xfrm>
          <a:prstGeom prst="rect">
            <a:avLst/>
          </a:prstGeom>
          <a:noFill/>
          <a:ln/>
        </p:spPr>
        <p:txBody>
          <a:bodyPr wrap="square" lIns="0" tIns="0" rIns="0" bIns="0" rtlCol="0" anchor="ctr"/>
          <a:lstStyle/>
          <a:p>
            <a:pPr indent="0" marL="0">
              <a:buNone/>
            </a:pPr>
            <a:r>
              <a:rPr lang="en-US" sz="1030" dirty="0">
                <a:solidFill>
                  <a:srgbClr val="5B6F65"/>
                </a:solidFill>
                <a:latin typeface="Calibri" pitchFamily="34" charset="0"/>
                <a:ea typeface="Calibri" pitchFamily="34" charset="-122"/>
                <a:cs typeface="Calibri" pitchFamily="34" charset="-120"/>
              </a:rPr>
              <a:t>Ridge: fast, interpretable, generalized well here — but sensitive to the leakage risk above. Tree ensembles (RF/GB/XGBoost): robust to non-linearities and don't need scaling, but underperformed with default-ish settings and no tuning. Linear Regression: simplest baseline, clearly insufficient alone.</a:t>
            </a:r>
            <a:endParaRPr lang="en-US" sz="1030" dirty="0"/>
          </a:p>
        </p:txBody>
      </p:sp>
      <p:sp>
        <p:nvSpPr>
          <p:cNvPr id="11" name="Text 8"/>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6. MODEL SELECTION  ·  PART 2</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The Waste Image Classifier Architecture</a:t>
            </a:r>
            <a:endParaRPr lang="en-US" sz="3000" dirty="0"/>
          </a:p>
        </p:txBody>
      </p:sp>
      <p:sp>
        <p:nvSpPr>
          <p:cNvPr id="4" name="Shape 2"/>
          <p:cNvSpPr/>
          <p:nvPr/>
        </p:nvSpPr>
        <p:spPr>
          <a:xfrm>
            <a:off x="502920" y="1508760"/>
            <a:ext cx="6583680" cy="4526280"/>
          </a:xfrm>
          <a:prstGeom prst="roundRect">
            <a:avLst>
              <a:gd name="adj" fmla="val 1616"/>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Shape 3"/>
          <p:cNvSpPr/>
          <p:nvPr/>
        </p:nvSpPr>
        <p:spPr>
          <a:xfrm>
            <a:off x="822960" y="1810512"/>
            <a:ext cx="640080" cy="640080"/>
          </a:xfrm>
          <a:prstGeom prst="ellipse">
            <a:avLst/>
          </a:prstGeom>
          <a:solidFill>
            <a:srgbClr val="1B5E42"/>
          </a:solidFill>
          <a:ln/>
        </p:spPr>
      </p:sp>
      <p:pic>
        <p:nvPicPr>
          <p:cNvPr id="6" name="Image 0" descr="/home/claude/greencycle_deck2/assets/FaCamera_white.png">    </p:cNvPr>
          <p:cNvPicPr>
            <a:picLocks noChangeAspect="1"/>
          </p:cNvPicPr>
          <p:nvPr/>
        </p:nvPicPr>
        <p:blipFill>
          <a:blip r:embed="rId1"/>
          <a:stretch>
            <a:fillRect/>
          </a:stretch>
        </p:blipFill>
        <p:spPr>
          <a:xfrm>
            <a:off x="906170" y="1893722"/>
            <a:ext cx="473659" cy="473659"/>
          </a:xfrm>
          <a:prstGeom prst="rect">
            <a:avLst/>
          </a:prstGeom>
        </p:spPr>
      </p:pic>
      <p:sp>
        <p:nvSpPr>
          <p:cNvPr id="7" name="Text 4"/>
          <p:cNvSpPr/>
          <p:nvPr/>
        </p:nvSpPr>
        <p:spPr>
          <a:xfrm>
            <a:off x="1645920" y="1828800"/>
            <a:ext cx="5120640" cy="411480"/>
          </a:xfrm>
          <a:prstGeom prst="rect">
            <a:avLst/>
          </a:prstGeom>
          <a:noFill/>
          <a:ln/>
        </p:spPr>
        <p:txBody>
          <a:bodyPr wrap="square" lIns="0" tIns="0" rIns="0" bIns="0" rtlCol="0" anchor="ctr"/>
          <a:lstStyle/>
          <a:p>
            <a:pPr indent="0" marL="0">
              <a:buNone/>
            </a:pPr>
            <a:r>
              <a:rPr lang="en-US" sz="1600" b="1" dirty="0">
                <a:solidFill>
                  <a:srgbClr val="17261F"/>
                </a:solidFill>
                <a:latin typeface="Cambria" pitchFamily="34" charset="0"/>
                <a:ea typeface="Cambria" pitchFamily="34" charset="-122"/>
                <a:cs typeface="Cambria" pitchFamily="34" charset="-120"/>
              </a:rPr>
              <a:t>MobileNetV2 (Transfer Learning)</a:t>
            </a:r>
            <a:endParaRPr lang="en-US" sz="1600" dirty="0"/>
          </a:p>
        </p:txBody>
      </p:sp>
      <p:sp>
        <p:nvSpPr>
          <p:cNvPr id="8" name="Text 5"/>
          <p:cNvSpPr/>
          <p:nvPr/>
        </p:nvSpPr>
        <p:spPr>
          <a:xfrm>
            <a:off x="1645920" y="2194560"/>
            <a:ext cx="5120640" cy="365760"/>
          </a:xfrm>
          <a:prstGeom prst="rect">
            <a:avLst/>
          </a:prstGeom>
          <a:noFill/>
          <a:ln/>
        </p:spPr>
        <p:txBody>
          <a:bodyPr wrap="square" lIns="0" tIns="0" rIns="0" bIns="0" rtlCol="0" anchor="ctr"/>
          <a:lstStyle/>
          <a:p>
            <a:pPr indent="0" marL="0">
              <a:buNone/>
            </a:pPr>
            <a:r>
              <a:rPr lang="en-US" sz="1000" i="1" dirty="0">
                <a:solidFill>
                  <a:srgbClr val="5B6F65"/>
                </a:solidFill>
                <a:latin typeface="Calibri" pitchFamily="34" charset="0"/>
                <a:ea typeface="Calibri" pitchFamily="34" charset="-122"/>
                <a:cs typeface="Calibri" pitchFamily="34" charset="-120"/>
              </a:rPr>
              <a:t>Only one architecture was tested for this task — no comparison table exists in the provided files.</a:t>
            </a:r>
            <a:endParaRPr lang="en-US" sz="1000" dirty="0"/>
          </a:p>
        </p:txBody>
      </p:sp>
      <p:sp>
        <p:nvSpPr>
          <p:cNvPr id="9" name="Text 6"/>
          <p:cNvSpPr/>
          <p:nvPr/>
        </p:nvSpPr>
        <p:spPr>
          <a:xfrm>
            <a:off x="822960" y="2743200"/>
            <a:ext cx="5989320" cy="3108960"/>
          </a:xfrm>
          <a:prstGeom prst="rect">
            <a:avLst/>
          </a:prstGeom>
          <a:noFill/>
          <a:ln/>
        </p:spPr>
        <p:txBody>
          <a:bodyPr wrap="square" lIns="0" tIns="0" rIns="0" bIns="0" rtlCol="0" anchor="ctr"/>
          <a:lstStyle/>
          <a:p>
            <a:pPr marL="342900" indent="-342900">
              <a:spcAft>
                <a:spcPts val="1000"/>
              </a:spcAft>
              <a:buSzPct val="100000"/>
              <a:buChar char="✦"/>
            </a:pPr>
            <a:r>
              <a:rPr lang="en-US" sz="1100" dirty="0">
                <a:solidFill>
                  <a:srgbClr val="17261F"/>
                </a:solidFill>
                <a:latin typeface="Calibri" pitchFamily="34" charset="0"/>
                <a:ea typeface="Calibri" pitchFamily="34" charset="-122"/>
                <a:cs typeface="Calibri" pitchFamily="34" charset="-120"/>
              </a:rPr>
              <a:t>Pretrained on ImageNet, final classifier layer replaced for the 10 waste classes — standard, well-proven transfer-learning approach.</a:t>
            </a:r>
            <a:endParaRPr lang="en-US" sz="1100" dirty="0"/>
          </a:p>
          <a:p>
            <a:pPr marL="342900" indent="-342900">
              <a:spcAft>
                <a:spcPts val="1000"/>
              </a:spcAft>
              <a:buSzPct val="100000"/>
              <a:buChar char="✦"/>
            </a:pPr>
            <a:r>
              <a:rPr lang="en-US" sz="1100" dirty="0">
                <a:solidFill>
                  <a:srgbClr val="17261F"/>
                </a:solidFill>
                <a:latin typeface="Calibri" pitchFamily="34" charset="0"/>
                <a:ea typeface="Calibri" pitchFamily="34" charset="-122"/>
                <a:cs typeface="Calibri" pitchFamily="34" charset="-120"/>
              </a:rPr>
              <a:t>Lightweight backbone chosen specifically because training happened on CPU only (no CUDA GPU available in the development environment).</a:t>
            </a:r>
            <a:endParaRPr lang="en-US" sz="1100" dirty="0"/>
          </a:p>
          <a:p>
            <a:pPr marL="342900" indent="-342900">
              <a:spcAft>
                <a:spcPts val="1000"/>
              </a:spcAft>
              <a:buSzPct val="100000"/>
              <a:buChar char="✦"/>
            </a:pPr>
            <a:r>
              <a:rPr lang="en-US" sz="1100" dirty="0">
                <a:solidFill>
                  <a:srgbClr val="17261F"/>
                </a:solidFill>
                <a:latin typeface="Calibri" pitchFamily="34" charset="0"/>
                <a:ea typeface="Calibri" pitchFamily="34" charset="-122"/>
                <a:cs typeface="Calibri" pitchFamily="34" charset="-120"/>
              </a:rPr>
              <a:t>Strong track record for practical image classification tasks with moderate dataset sizes (12,259 images here), balancing accuracy and training time.</a:t>
            </a:r>
            <a:endParaRPr lang="en-US" sz="1100" dirty="0"/>
          </a:p>
        </p:txBody>
      </p:sp>
      <p:sp>
        <p:nvSpPr>
          <p:cNvPr id="10" name="Shape 7"/>
          <p:cNvSpPr/>
          <p:nvPr/>
        </p:nvSpPr>
        <p:spPr>
          <a:xfrm>
            <a:off x="7315200" y="1508760"/>
            <a:ext cx="4370832" cy="4526280"/>
          </a:xfrm>
          <a:prstGeom prst="roundRect">
            <a:avLst>
              <a:gd name="adj" fmla="val 1674"/>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1" name="Text 8"/>
          <p:cNvSpPr/>
          <p:nvPr/>
        </p:nvSpPr>
        <p:spPr>
          <a:xfrm>
            <a:off x="7589520" y="1691640"/>
            <a:ext cx="3840480" cy="548640"/>
          </a:xfrm>
          <a:prstGeom prst="rect">
            <a:avLst/>
          </a:prstGeom>
          <a:noFill/>
          <a:ln/>
        </p:spPr>
        <p:txBody>
          <a:bodyPr wrap="square" lIns="0" tIns="0" rIns="0" bIns="0" rtlCol="0" anchor="ctr"/>
          <a:lstStyle/>
          <a:p>
            <a:pPr indent="0" marL="0">
              <a:buNone/>
            </a:pPr>
            <a:r>
              <a:rPr lang="en-US" sz="1300" b="1" dirty="0">
                <a:solidFill>
                  <a:srgbClr val="1B5E42"/>
                </a:solidFill>
                <a:latin typeface="Cambria" pitchFamily="34" charset="0"/>
                <a:ea typeface="Cambria" pitchFamily="34" charset="-122"/>
                <a:cs typeface="Cambria" pitchFamily="34" charset="-120"/>
              </a:rPr>
              <a:t>Why not compare architectures?</a:t>
            </a:r>
            <a:endParaRPr lang="en-US" sz="1300" dirty="0"/>
          </a:p>
        </p:txBody>
      </p:sp>
      <p:sp>
        <p:nvSpPr>
          <p:cNvPr id="12" name="Text 9"/>
          <p:cNvSpPr/>
          <p:nvPr/>
        </p:nvSpPr>
        <p:spPr>
          <a:xfrm>
            <a:off x="7589520" y="2286000"/>
            <a:ext cx="3840480" cy="3383280"/>
          </a:xfrm>
          <a:prstGeom prst="rect">
            <a:avLst/>
          </a:prstGeom>
          <a:noFill/>
          <a:ln/>
        </p:spPr>
        <p:txBody>
          <a:bodyPr wrap="square" lIns="0" tIns="0" rIns="0" bIns="0" rtlCol="0" anchor="ctr"/>
          <a:lstStyle/>
          <a:p>
            <a:pPr indent="0" marL="0">
              <a:buNone/>
            </a:pPr>
            <a:r>
              <a:rPr lang="en-US" sz="1030" dirty="0">
                <a:solidFill>
                  <a:srgbClr val="5B6F65"/>
                </a:solidFill>
                <a:latin typeface="Calibri" pitchFamily="34" charset="0"/>
                <a:ea typeface="Calibri" pitchFamily="34" charset="-122"/>
                <a:cs typeface="Calibri" pitchFamily="34" charset="-120"/>
              </a:rPr>
              <a:t>The provided files show a single training run with MobileNetV2 — there's no evidence of ResNet, EfficientNet, or other backbones being tried and compared. This is an honest gap: the model choice appears to be a reasonable practical default rather than the result of an architecture search, and is named as a Future Work item.</a:t>
            </a:r>
            <a:endParaRPr lang="en-US" sz="1030" dirty="0"/>
          </a:p>
        </p:txBody>
      </p:sp>
      <p:sp>
        <p:nvSpPr>
          <p:cNvPr id="13" name="Text 10"/>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7. TRAINING PROCESS</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How Each Model Was Trained</a:t>
            </a:r>
            <a:endParaRPr lang="en-US" sz="3000" dirty="0"/>
          </a:p>
        </p:txBody>
      </p:sp>
      <p:sp>
        <p:nvSpPr>
          <p:cNvPr id="4" name="Shape 2"/>
          <p:cNvSpPr/>
          <p:nvPr/>
        </p:nvSpPr>
        <p:spPr>
          <a:xfrm>
            <a:off x="502920" y="1463040"/>
            <a:ext cx="5532120" cy="4526280"/>
          </a:xfrm>
          <a:prstGeom prst="roundRect">
            <a:avLst>
              <a:gd name="adj" fmla="val 1616"/>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Shape 3"/>
          <p:cNvSpPr/>
          <p:nvPr/>
        </p:nvSpPr>
        <p:spPr>
          <a:xfrm>
            <a:off x="777240" y="1737360"/>
            <a:ext cx="594360" cy="594360"/>
          </a:xfrm>
          <a:prstGeom prst="ellipse">
            <a:avLst/>
          </a:prstGeom>
          <a:solidFill>
            <a:srgbClr val="1B5E42"/>
          </a:solidFill>
          <a:ln/>
        </p:spPr>
      </p:sp>
      <p:pic>
        <p:nvPicPr>
          <p:cNvPr id="6" name="Image 0" descr="/home/claude/greencycle_deck2/assets/FaChartLine_white.png">    </p:cNvPr>
          <p:cNvPicPr>
            <a:picLocks noChangeAspect="1"/>
          </p:cNvPicPr>
          <p:nvPr/>
        </p:nvPicPr>
        <p:blipFill>
          <a:blip r:embed="rId1"/>
          <a:stretch>
            <a:fillRect/>
          </a:stretch>
        </p:blipFill>
        <p:spPr>
          <a:xfrm>
            <a:off x="854507" y="1814627"/>
            <a:ext cx="439826" cy="439826"/>
          </a:xfrm>
          <a:prstGeom prst="rect">
            <a:avLst/>
          </a:prstGeom>
        </p:spPr>
      </p:pic>
      <p:sp>
        <p:nvSpPr>
          <p:cNvPr id="7" name="Text 4"/>
          <p:cNvSpPr/>
          <p:nvPr/>
        </p:nvSpPr>
        <p:spPr>
          <a:xfrm>
            <a:off x="1508760" y="1755648"/>
            <a:ext cx="4297680" cy="365760"/>
          </a:xfrm>
          <a:prstGeom prst="rect">
            <a:avLst/>
          </a:prstGeom>
          <a:noFill/>
          <a:ln/>
        </p:spPr>
        <p:txBody>
          <a:bodyPr wrap="square" lIns="0" tIns="0" rIns="0" bIns="0" rtlCol="0" anchor="ctr"/>
          <a:lstStyle/>
          <a:p>
            <a:pPr indent="0" marL="0">
              <a:buNone/>
            </a:pPr>
            <a:r>
              <a:rPr lang="en-US" sz="1500" b="1" dirty="0">
                <a:solidFill>
                  <a:srgbClr val="17261F"/>
                </a:solidFill>
                <a:latin typeface="Cambria" pitchFamily="34" charset="0"/>
                <a:ea typeface="Cambria" pitchFamily="34" charset="-122"/>
                <a:cs typeface="Cambria" pitchFamily="34" charset="-120"/>
              </a:rPr>
              <a:t>CO2 Regression Models</a:t>
            </a:r>
            <a:endParaRPr lang="en-US" sz="1500" dirty="0"/>
          </a:p>
        </p:txBody>
      </p:sp>
      <p:sp>
        <p:nvSpPr>
          <p:cNvPr id="8" name="Text 5"/>
          <p:cNvSpPr/>
          <p:nvPr/>
        </p:nvSpPr>
        <p:spPr>
          <a:xfrm>
            <a:off x="822960" y="2286000"/>
            <a:ext cx="4937760" cy="3566160"/>
          </a:xfrm>
          <a:prstGeom prst="rect">
            <a:avLst/>
          </a:prstGeom>
          <a:noFill/>
          <a:ln/>
        </p:spPr>
        <p:txBody>
          <a:bodyPr wrap="square" lIns="0" tIns="0" rIns="0" bIns="0" rtlCol="0" anchor="ctr"/>
          <a:lstStyle/>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Single 80/20 train-test split (9,780 / 2,445 rows), random_state = 42 for reproducibility.</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Target: raw co2_per_capita (not log-transformed in this version).</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Missing values in features filled with column median before splitting.</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Each of the 5 models trained once with fixed, manually chosen settings — no GridSearchCV or cross-validation is present in this notebook.</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Example fixed settings: Random Forest (200 trees), XGBoost (200 trees, depth 6, lr 0.05), Ridge (alpha = 1.0).</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No MLflow or other experiment-tracking tool found — only the final model is saved (joblib), not intermediate runs.</a:t>
            </a:r>
            <a:endParaRPr lang="en-US" sz="1030" dirty="0"/>
          </a:p>
        </p:txBody>
      </p:sp>
      <p:sp>
        <p:nvSpPr>
          <p:cNvPr id="9" name="Shape 6"/>
          <p:cNvSpPr/>
          <p:nvPr/>
        </p:nvSpPr>
        <p:spPr>
          <a:xfrm>
            <a:off x="6309360" y="1463040"/>
            <a:ext cx="5394960" cy="4526280"/>
          </a:xfrm>
          <a:prstGeom prst="roundRect">
            <a:avLst>
              <a:gd name="adj" fmla="val 1616"/>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0" name="Shape 7"/>
          <p:cNvSpPr/>
          <p:nvPr/>
        </p:nvSpPr>
        <p:spPr>
          <a:xfrm>
            <a:off x="6583680" y="1737360"/>
            <a:ext cx="594360" cy="594360"/>
          </a:xfrm>
          <a:prstGeom prst="ellipse">
            <a:avLst/>
          </a:prstGeom>
          <a:solidFill>
            <a:srgbClr val="1B5E42"/>
          </a:solidFill>
          <a:ln/>
        </p:spPr>
      </p:sp>
      <p:pic>
        <p:nvPicPr>
          <p:cNvPr id="11" name="Image 1" descr="/home/claude/greencycle_deck2/assets/FaCamera_white.png">    </p:cNvPr>
          <p:cNvPicPr>
            <a:picLocks noChangeAspect="1"/>
          </p:cNvPicPr>
          <p:nvPr/>
        </p:nvPicPr>
        <p:blipFill>
          <a:blip r:embed="rId2"/>
          <a:stretch>
            <a:fillRect/>
          </a:stretch>
        </p:blipFill>
        <p:spPr>
          <a:xfrm>
            <a:off x="6660947" y="1814627"/>
            <a:ext cx="439826" cy="439826"/>
          </a:xfrm>
          <a:prstGeom prst="rect">
            <a:avLst/>
          </a:prstGeom>
        </p:spPr>
      </p:pic>
      <p:sp>
        <p:nvSpPr>
          <p:cNvPr id="12" name="Text 8"/>
          <p:cNvSpPr/>
          <p:nvPr/>
        </p:nvSpPr>
        <p:spPr>
          <a:xfrm>
            <a:off x="7315200" y="1755648"/>
            <a:ext cx="4206240" cy="365760"/>
          </a:xfrm>
          <a:prstGeom prst="rect">
            <a:avLst/>
          </a:prstGeom>
          <a:noFill/>
          <a:ln/>
        </p:spPr>
        <p:txBody>
          <a:bodyPr wrap="square" lIns="0" tIns="0" rIns="0" bIns="0" rtlCol="0" anchor="ctr"/>
          <a:lstStyle/>
          <a:p>
            <a:pPr indent="0" marL="0">
              <a:buNone/>
            </a:pPr>
            <a:r>
              <a:rPr lang="en-US" sz="1500" b="1" dirty="0">
                <a:solidFill>
                  <a:srgbClr val="17261F"/>
                </a:solidFill>
                <a:latin typeface="Cambria" pitchFamily="34" charset="0"/>
                <a:ea typeface="Cambria" pitchFamily="34" charset="-122"/>
                <a:cs typeface="Cambria" pitchFamily="34" charset="-120"/>
              </a:rPr>
              <a:t>Waste Image Classifier (CV)</a:t>
            </a:r>
            <a:endParaRPr lang="en-US" sz="1500" dirty="0"/>
          </a:p>
        </p:txBody>
      </p:sp>
      <p:sp>
        <p:nvSpPr>
          <p:cNvPr id="13" name="Text 9"/>
          <p:cNvSpPr/>
          <p:nvPr/>
        </p:nvSpPr>
        <p:spPr>
          <a:xfrm>
            <a:off x="6629400" y="2286000"/>
            <a:ext cx="4800600" cy="2743200"/>
          </a:xfrm>
          <a:prstGeom prst="rect">
            <a:avLst/>
          </a:prstGeom>
          <a:noFill/>
          <a:ln/>
        </p:spPr>
        <p:txBody>
          <a:bodyPr wrap="square" lIns="0" tIns="0" rIns="0" bIns="0" rtlCol="0" anchor="ctr"/>
          <a:lstStyle/>
          <a:p>
            <a:pPr marL="342900" indent="-342900">
              <a:spcAft>
                <a:spcPts val="900"/>
              </a:spcAft>
              <a:buSzPct val="100000"/>
              <a:buChar char="✦"/>
            </a:pPr>
            <a:r>
              <a:rPr lang="en-US" sz="1030" dirty="0">
                <a:solidFill>
                  <a:srgbClr val="17261F"/>
                </a:solidFill>
                <a:latin typeface="Calibri" pitchFamily="34" charset="0"/>
                <a:ea typeface="Calibri" pitchFamily="34" charset="-122"/>
                <a:cs typeface="Calibri" pitchFamily="34" charset="-120"/>
              </a:rPr>
              <a:t>80/20 train-validation split via ImageFolder + random_split (9,807 train / 2,452 validation images).</a:t>
            </a:r>
            <a:endParaRPr lang="en-US" sz="1030" dirty="0"/>
          </a:p>
          <a:p>
            <a:pPr marL="342900" indent="-342900">
              <a:spcAft>
                <a:spcPts val="900"/>
              </a:spcAft>
              <a:buSzPct val="100000"/>
              <a:buChar char="✦"/>
            </a:pPr>
            <a:r>
              <a:rPr lang="en-US" sz="1030" dirty="0">
                <a:solidFill>
                  <a:srgbClr val="17261F"/>
                </a:solidFill>
                <a:latin typeface="Calibri" pitchFamily="34" charset="0"/>
                <a:ea typeface="Calibri" pitchFamily="34" charset="-122"/>
                <a:cs typeface="Calibri" pitchFamily="34" charset="-120"/>
              </a:rPr>
              <a:t>10 epochs, Adam optimizer (lr = 0.001), CrossEntropyLoss, batch size 32.</a:t>
            </a:r>
            <a:endParaRPr lang="en-US" sz="1030" dirty="0"/>
          </a:p>
          <a:p>
            <a:pPr marL="342900" indent="-342900">
              <a:spcAft>
                <a:spcPts val="900"/>
              </a:spcAft>
              <a:buSzPct val="100000"/>
              <a:buChar char="✦"/>
            </a:pPr>
            <a:r>
              <a:rPr lang="en-US" sz="1030" dirty="0">
                <a:solidFill>
                  <a:srgbClr val="17261F"/>
                </a:solidFill>
                <a:latin typeface="Calibri" pitchFamily="34" charset="0"/>
                <a:ea typeface="Calibri" pitchFamily="34" charset="-122"/>
                <a:cs typeface="Calibri" pitchFamily="34" charset="-120"/>
              </a:rPr>
              <a:t>Simple resize-and-normalize transforms only — no data augmentation applied.</a:t>
            </a:r>
            <a:endParaRPr lang="en-US" sz="1030" dirty="0"/>
          </a:p>
          <a:p>
            <a:pPr marL="342900" indent="-342900">
              <a:spcAft>
                <a:spcPts val="900"/>
              </a:spcAft>
              <a:buSzPct val="100000"/>
              <a:buChar char="✦"/>
            </a:pPr>
            <a:r>
              <a:rPr lang="en-US" sz="1030" dirty="0">
                <a:solidFill>
                  <a:srgbClr val="17261F"/>
                </a:solidFill>
                <a:latin typeface="Calibri" pitchFamily="34" charset="0"/>
                <a:ea typeface="Calibri" pitchFamily="34" charset="-122"/>
                <a:cs typeface="Calibri" pitchFamily="34" charset="-120"/>
              </a:rPr>
              <a:t>Trained on CPU (no CUDA GPU available in the development environment).</a:t>
            </a:r>
            <a:endParaRPr lang="en-US" sz="1030" dirty="0"/>
          </a:p>
          <a:p>
            <a:pPr marL="342900" indent="-342900">
              <a:spcAft>
                <a:spcPts val="900"/>
              </a:spcAft>
              <a:buSzPct val="100000"/>
              <a:buChar char="✦"/>
            </a:pPr>
            <a:r>
              <a:rPr lang="en-US" sz="1030" dirty="0">
                <a:solidFill>
                  <a:srgbClr val="17261F"/>
                </a:solidFill>
                <a:latin typeface="Calibri" pitchFamily="34" charset="0"/>
                <a:ea typeface="Calibri" pitchFamily="34" charset="-122"/>
                <a:cs typeface="Calibri" pitchFamily="34" charset="-120"/>
              </a:rPr>
              <a:t>Model checkpoint (weights + class names) saved directly via torch.save() — no formal versioning or registry.</a:t>
            </a:r>
            <a:endParaRPr lang="en-US" sz="1030" dirty="0"/>
          </a:p>
        </p:txBody>
      </p:sp>
      <p:sp>
        <p:nvSpPr>
          <p:cNvPr id="14" name="Text 10"/>
          <p:cNvSpPr/>
          <p:nvPr/>
        </p:nvSpPr>
        <p:spPr>
          <a:xfrm>
            <a:off x="6629400" y="5212080"/>
            <a:ext cx="4800600" cy="640080"/>
          </a:xfrm>
          <a:prstGeom prst="rect">
            <a:avLst/>
          </a:prstGeom>
          <a:noFill/>
          <a:ln/>
        </p:spPr>
        <p:txBody>
          <a:bodyPr wrap="square" lIns="0" tIns="0" rIns="0" bIns="0" rtlCol="0" anchor="ctr"/>
          <a:lstStyle/>
          <a:p>
            <a:pPr indent="0" marL="0">
              <a:buNone/>
            </a:pPr>
            <a:r>
              <a:rPr lang="en-US" sz="950" i="1" dirty="0">
                <a:solidFill>
                  <a:srgbClr val="E76F51"/>
                </a:solidFill>
                <a:latin typeface="Calibri" pitchFamily="34" charset="0"/>
                <a:ea typeface="Calibri" pitchFamily="34" charset="-122"/>
                <a:cs typeface="Calibri" pitchFamily="34" charset="-120"/>
              </a:rPr>
              <a:t>No experiment-tracking tool (e.g. MLflow, W&amp;B) is present for either model in the provided files.</a:t>
            </a:r>
            <a:endParaRPr lang="en-US" sz="950" dirty="0"/>
          </a:p>
        </p:txBody>
      </p:sp>
      <p:sp>
        <p:nvSpPr>
          <p:cNvPr id="15" name="Text 11"/>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8. EVALUATION  ·  I OF III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Regression Model Comparison</a:t>
            </a:r>
            <a:endParaRPr lang="en-US" sz="3000" dirty="0"/>
          </a:p>
        </p:txBody>
      </p:sp>
      <p:pic>
        <p:nvPicPr>
          <p:cNvPr id="4" name="Image 0" descr="/home/claude/greencycle_deck2/assets/mlv2_cell23_0.png">    </p:cNvPr>
          <p:cNvPicPr>
            <a:picLocks noChangeAspect="1"/>
          </p:cNvPicPr>
          <p:nvPr/>
        </p:nvPicPr>
        <p:blipFill>
          <a:blip r:embed="rId1"/>
          <a:stretch>
            <a:fillRect/>
          </a:stretch>
        </p:blipFill>
        <p:spPr>
          <a:xfrm>
            <a:off x="502920" y="1463040"/>
            <a:ext cx="9692640" cy="2670048"/>
          </a:xfrm>
          <a:prstGeom prst="rect">
            <a:avLst/>
          </a:prstGeom>
        </p:spPr>
      </p:pic>
      <p:sp>
        <p:nvSpPr>
          <p:cNvPr id="5" name="Text 2"/>
          <p:cNvSpPr/>
          <p:nvPr/>
        </p:nvSpPr>
        <p:spPr>
          <a:xfrm>
            <a:off x="502920" y="4206240"/>
            <a:ext cx="9692640" cy="320040"/>
          </a:xfrm>
          <a:prstGeom prst="rect">
            <a:avLst/>
          </a:prstGeom>
          <a:noFill/>
          <a:ln/>
        </p:spPr>
        <p:txBody>
          <a:bodyPr wrap="square" lIns="0" tIns="0" rIns="0" bIns="0" rtlCol="0" anchor="ctr"/>
          <a:lstStyle/>
          <a:p>
            <a:pPr indent="0" marL="0">
              <a:buNone/>
            </a:pPr>
            <a:r>
              <a:rPr lang="en-US" sz="950" i="1" dirty="0">
                <a:solidFill>
                  <a:srgbClr val="5B6F65"/>
                </a:solidFill>
                <a:latin typeface="Calibri" pitchFamily="34" charset="0"/>
                <a:ea typeface="Calibri" pitchFamily="34" charset="-122"/>
                <a:cs typeface="Calibri" pitchFamily="34" charset="-120"/>
              </a:rPr>
              <a:t>R², RMSE and MAE across all 5 regression models on the 2,445-row held-out test set.</a:t>
            </a:r>
            <a:endParaRPr lang="en-US" sz="950" dirty="0"/>
          </a:p>
        </p:txBody>
      </p:sp>
      <p:sp>
        <p:nvSpPr>
          <p:cNvPr id="6" name="Shape 3"/>
          <p:cNvSpPr/>
          <p:nvPr/>
        </p:nvSpPr>
        <p:spPr>
          <a:xfrm>
            <a:off x="502920" y="4709160"/>
            <a:ext cx="3566160" cy="1600200"/>
          </a:xfrm>
          <a:prstGeom prst="roundRect">
            <a:avLst>
              <a:gd name="adj" fmla="val 4571"/>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7" name="Text 4"/>
          <p:cNvSpPr/>
          <p:nvPr/>
        </p:nvSpPr>
        <p:spPr>
          <a:xfrm>
            <a:off x="594360" y="4892040"/>
            <a:ext cx="3383280" cy="566928"/>
          </a:xfrm>
          <a:prstGeom prst="rect">
            <a:avLst/>
          </a:prstGeom>
          <a:noFill/>
          <a:ln/>
        </p:spPr>
        <p:txBody>
          <a:bodyPr wrap="square" lIns="0" tIns="0" rIns="0" bIns="0" rtlCol="0" anchor="ctr"/>
          <a:lstStyle/>
          <a:p>
            <a:pPr algn="ctr" indent="0" marL="0">
              <a:buNone/>
            </a:pPr>
            <a:r>
              <a:rPr lang="en-US" sz="3200" b="1" dirty="0">
                <a:solidFill>
                  <a:srgbClr val="1B5E42"/>
                </a:solidFill>
                <a:latin typeface="Cambria" pitchFamily="34" charset="0"/>
                <a:ea typeface="Cambria" pitchFamily="34" charset="-122"/>
                <a:cs typeface="Cambria" pitchFamily="34" charset="-120"/>
              </a:rPr>
              <a:t>0.9902</a:t>
            </a:r>
            <a:endParaRPr lang="en-US" sz="3200" dirty="0"/>
          </a:p>
        </p:txBody>
      </p:sp>
      <p:sp>
        <p:nvSpPr>
          <p:cNvPr id="8" name="Text 5"/>
          <p:cNvSpPr/>
          <p:nvPr/>
        </p:nvSpPr>
        <p:spPr>
          <a:xfrm>
            <a:off x="594360" y="5440680"/>
            <a:ext cx="3383280" cy="502920"/>
          </a:xfrm>
          <a:prstGeom prst="rect">
            <a:avLst/>
          </a:prstGeom>
          <a:noFill/>
          <a:ln/>
        </p:spPr>
        <p:txBody>
          <a:bodyPr wrap="square" lIns="0" tIns="0" rIns="0" bIns="0" rtlCol="0" anchor="ctr"/>
          <a:lstStyle/>
          <a:p>
            <a:pPr algn="ctr" indent="0" marL="0">
              <a:buNone/>
            </a:pPr>
            <a:r>
              <a:rPr lang="en-US" sz="1050" dirty="0">
                <a:solidFill>
                  <a:srgbClr val="5B6F65"/>
                </a:solidFill>
                <a:latin typeface="Calibri" pitchFamily="34" charset="0"/>
                <a:ea typeface="Calibri" pitchFamily="34" charset="-122"/>
                <a:cs typeface="Calibri" pitchFamily="34" charset="-120"/>
              </a:rPr>
              <a:t>Ridge Regression — best R² on the test set</a:t>
            </a:r>
            <a:endParaRPr lang="en-US" sz="1050" dirty="0"/>
          </a:p>
        </p:txBody>
      </p:sp>
      <p:sp>
        <p:nvSpPr>
          <p:cNvPr id="9" name="Shape 6"/>
          <p:cNvSpPr/>
          <p:nvPr/>
        </p:nvSpPr>
        <p:spPr>
          <a:xfrm>
            <a:off x="4206240" y="4709160"/>
            <a:ext cx="3566160" cy="1600200"/>
          </a:xfrm>
          <a:prstGeom prst="roundRect">
            <a:avLst>
              <a:gd name="adj" fmla="val 4571"/>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0" name="Text 7"/>
          <p:cNvSpPr/>
          <p:nvPr/>
        </p:nvSpPr>
        <p:spPr>
          <a:xfrm>
            <a:off x="4297680" y="4892040"/>
            <a:ext cx="3383280" cy="566928"/>
          </a:xfrm>
          <a:prstGeom prst="rect">
            <a:avLst/>
          </a:prstGeom>
          <a:noFill/>
          <a:ln/>
        </p:spPr>
        <p:txBody>
          <a:bodyPr wrap="square" lIns="0" tIns="0" rIns="0" bIns="0" rtlCol="0" anchor="ctr"/>
          <a:lstStyle/>
          <a:p>
            <a:pPr algn="ctr" indent="0" marL="0">
              <a:buNone/>
            </a:pPr>
            <a:r>
              <a:rPr lang="en-US" sz="3200" b="1" dirty="0">
                <a:solidFill>
                  <a:srgbClr val="1B5E42"/>
                </a:solidFill>
                <a:latin typeface="Cambria" pitchFamily="34" charset="0"/>
                <a:ea typeface="Cambria" pitchFamily="34" charset="-122"/>
                <a:cs typeface="Cambria" pitchFamily="34" charset="-120"/>
              </a:rPr>
              <a:t>0.6693</a:t>
            </a:r>
            <a:endParaRPr lang="en-US" sz="3200" dirty="0"/>
          </a:p>
        </p:txBody>
      </p:sp>
      <p:sp>
        <p:nvSpPr>
          <p:cNvPr id="11" name="Text 8"/>
          <p:cNvSpPr/>
          <p:nvPr/>
        </p:nvSpPr>
        <p:spPr>
          <a:xfrm>
            <a:off x="4297680" y="5440680"/>
            <a:ext cx="3383280" cy="502920"/>
          </a:xfrm>
          <a:prstGeom prst="rect">
            <a:avLst/>
          </a:prstGeom>
          <a:noFill/>
          <a:ln/>
        </p:spPr>
        <p:txBody>
          <a:bodyPr wrap="square" lIns="0" tIns="0" rIns="0" bIns="0" rtlCol="0" anchor="ctr"/>
          <a:lstStyle/>
          <a:p>
            <a:pPr algn="ctr" indent="0" marL="0">
              <a:buNone/>
            </a:pPr>
            <a:r>
              <a:rPr lang="en-US" sz="1050" dirty="0">
                <a:solidFill>
                  <a:srgbClr val="5B6F65"/>
                </a:solidFill>
                <a:latin typeface="Calibri" pitchFamily="34" charset="0"/>
                <a:ea typeface="Calibri" pitchFamily="34" charset="-122"/>
                <a:cs typeface="Calibri" pitchFamily="34" charset="-120"/>
              </a:rPr>
              <a:t>Ridge Regression — lowest RMSE</a:t>
            </a:r>
            <a:endParaRPr lang="en-US" sz="1050" dirty="0"/>
          </a:p>
        </p:txBody>
      </p:sp>
      <p:sp>
        <p:nvSpPr>
          <p:cNvPr id="12" name="Shape 9"/>
          <p:cNvSpPr/>
          <p:nvPr/>
        </p:nvSpPr>
        <p:spPr>
          <a:xfrm>
            <a:off x="7909560" y="4709160"/>
            <a:ext cx="3794760" cy="1600200"/>
          </a:xfrm>
          <a:prstGeom prst="roundRect">
            <a:avLst>
              <a:gd name="adj" fmla="val 4571"/>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3" name="Text 10"/>
          <p:cNvSpPr/>
          <p:nvPr/>
        </p:nvSpPr>
        <p:spPr>
          <a:xfrm>
            <a:off x="8001000" y="4892040"/>
            <a:ext cx="3611880" cy="566928"/>
          </a:xfrm>
          <a:prstGeom prst="rect">
            <a:avLst/>
          </a:prstGeom>
          <a:noFill/>
          <a:ln/>
        </p:spPr>
        <p:txBody>
          <a:bodyPr wrap="square" lIns="0" tIns="0" rIns="0" bIns="0" rtlCol="0" anchor="ctr"/>
          <a:lstStyle/>
          <a:p>
            <a:pPr algn="ctr" indent="0" marL="0">
              <a:buNone/>
            </a:pPr>
            <a:r>
              <a:rPr lang="en-US" sz="3200" b="1" dirty="0">
                <a:solidFill>
                  <a:srgbClr val="1B5E42"/>
                </a:solidFill>
                <a:latin typeface="Cambria" pitchFamily="34" charset="0"/>
                <a:ea typeface="Cambria" pitchFamily="34" charset="-122"/>
                <a:cs typeface="Cambria" pitchFamily="34" charset="-120"/>
              </a:rPr>
              <a:t>0.1997</a:t>
            </a:r>
            <a:endParaRPr lang="en-US" sz="3200" dirty="0"/>
          </a:p>
        </p:txBody>
      </p:sp>
      <p:sp>
        <p:nvSpPr>
          <p:cNvPr id="14" name="Text 11"/>
          <p:cNvSpPr/>
          <p:nvPr/>
        </p:nvSpPr>
        <p:spPr>
          <a:xfrm>
            <a:off x="8001000" y="5440680"/>
            <a:ext cx="3611880" cy="502920"/>
          </a:xfrm>
          <a:prstGeom prst="rect">
            <a:avLst/>
          </a:prstGeom>
          <a:noFill/>
          <a:ln/>
        </p:spPr>
        <p:txBody>
          <a:bodyPr wrap="square" lIns="0" tIns="0" rIns="0" bIns="0" rtlCol="0" anchor="ctr"/>
          <a:lstStyle/>
          <a:p>
            <a:pPr algn="ctr" indent="0" marL="0">
              <a:buNone/>
            </a:pPr>
            <a:r>
              <a:rPr lang="en-US" sz="1050" dirty="0">
                <a:solidFill>
                  <a:srgbClr val="5B6F65"/>
                </a:solidFill>
                <a:latin typeface="Calibri" pitchFamily="34" charset="0"/>
                <a:ea typeface="Calibri" pitchFamily="34" charset="-122"/>
                <a:cs typeface="Calibri" pitchFamily="34" charset="-120"/>
              </a:rPr>
              <a:t>Random Forest — lowest MAE (most consistent typical error)</a:t>
            </a:r>
            <a:endParaRPr lang="en-US" sz="1050" dirty="0"/>
          </a:p>
        </p:txBody>
      </p:sp>
      <p:sp>
        <p:nvSpPr>
          <p:cNvPr id="15" name="Text 12"/>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8. EVALUATION  ·  II OF III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Strengths, Weaknesses &amp; What Needs a Second Look</a:t>
            </a:r>
            <a:endParaRPr lang="en-US" sz="3000" dirty="0"/>
          </a:p>
        </p:txBody>
      </p:sp>
      <p:sp>
        <p:nvSpPr>
          <p:cNvPr id="4" name="Shape 2"/>
          <p:cNvSpPr/>
          <p:nvPr/>
        </p:nvSpPr>
        <p:spPr>
          <a:xfrm>
            <a:off x="502920" y="1463040"/>
            <a:ext cx="5532120" cy="4617720"/>
          </a:xfrm>
          <a:prstGeom prst="roundRect">
            <a:avLst>
              <a:gd name="adj" fmla="val 1584"/>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Text 3"/>
          <p:cNvSpPr/>
          <p:nvPr/>
        </p:nvSpPr>
        <p:spPr>
          <a:xfrm>
            <a:off x="777240" y="1645920"/>
            <a:ext cx="4572000" cy="365760"/>
          </a:xfrm>
          <a:prstGeom prst="rect">
            <a:avLst/>
          </a:prstGeom>
          <a:noFill/>
          <a:ln/>
        </p:spPr>
        <p:txBody>
          <a:bodyPr wrap="square" lIns="0" tIns="0" rIns="0" bIns="0" rtlCol="0" anchor="ctr"/>
          <a:lstStyle/>
          <a:p>
            <a:pPr indent="0" marL="0">
              <a:buNone/>
            </a:pPr>
            <a:r>
              <a:rPr lang="en-US" sz="1500" b="1" dirty="0">
                <a:solidFill>
                  <a:srgbClr val="1B5E42"/>
                </a:solidFill>
                <a:latin typeface="Cambria" pitchFamily="34" charset="0"/>
                <a:ea typeface="Cambria" pitchFamily="34" charset="-122"/>
                <a:cs typeface="Cambria" pitchFamily="34" charset="-120"/>
              </a:rPr>
              <a:t>Strengths</a:t>
            </a:r>
            <a:endParaRPr lang="en-US" sz="1500" dirty="0"/>
          </a:p>
        </p:txBody>
      </p:sp>
      <p:sp>
        <p:nvSpPr>
          <p:cNvPr id="6" name="Text 4"/>
          <p:cNvSpPr/>
          <p:nvPr/>
        </p:nvSpPr>
        <p:spPr>
          <a:xfrm>
            <a:off x="777240" y="2103120"/>
            <a:ext cx="4983480" cy="3840480"/>
          </a:xfrm>
          <a:prstGeom prst="rect">
            <a:avLst/>
          </a:prstGeom>
          <a:noFill/>
          <a:ln/>
        </p:spPr>
        <p:txBody>
          <a:bodyPr wrap="square" lIns="0" tIns="0" rIns="0" bIns="0" rtlCol="0" anchor="ctr"/>
          <a:lstStyle/>
          <a:p>
            <a:pPr marL="342900" indent="-342900">
              <a:spcAft>
                <a:spcPts val="900"/>
              </a:spcAft>
              <a:buSzPct val="100000"/>
              <a:buChar char="✦"/>
            </a:pPr>
            <a:r>
              <a:rPr lang="en-US" sz="1080" dirty="0">
                <a:solidFill>
                  <a:srgbClr val="17261F"/>
                </a:solidFill>
                <a:latin typeface="Calibri" pitchFamily="34" charset="0"/>
                <a:ea typeface="Calibri" pitchFamily="34" charset="-122"/>
                <a:cs typeface="Calibri" pitchFamily="34" charset="-120"/>
              </a:rPr>
              <a:t>Ridge Regression generalized well on the held-out set (R² 0.99, RMSE 0.67).</a:t>
            </a:r>
            <a:endParaRPr lang="en-US" sz="1080" dirty="0"/>
          </a:p>
          <a:p>
            <a:pPr marL="342900" indent="-342900">
              <a:spcAft>
                <a:spcPts val="900"/>
              </a:spcAft>
              <a:buSzPct val="100000"/>
              <a:buChar char="✦"/>
            </a:pPr>
            <a:r>
              <a:rPr lang="en-US" sz="1080" dirty="0">
                <a:solidFill>
                  <a:srgbClr val="17261F"/>
                </a:solidFill>
                <a:latin typeface="Calibri" pitchFamily="34" charset="0"/>
                <a:ea typeface="Calibri" pitchFamily="34" charset="-122"/>
                <a:cs typeface="Calibri" pitchFamily="34" charset="-120"/>
              </a:rPr>
              <a:t>Random Forest had the single lowest MAE (0.20) — the most consistent typical error of any model.</a:t>
            </a:r>
            <a:endParaRPr lang="en-US" sz="1080" dirty="0"/>
          </a:p>
          <a:p>
            <a:pPr marL="342900" indent="-342900">
              <a:spcAft>
                <a:spcPts val="900"/>
              </a:spcAft>
              <a:buSzPct val="100000"/>
              <a:buChar char="✦"/>
            </a:pPr>
            <a:r>
              <a:rPr lang="en-US" sz="1080" dirty="0">
                <a:solidFill>
                  <a:srgbClr val="17261F"/>
                </a:solidFill>
                <a:latin typeface="Calibri" pitchFamily="34" charset="0"/>
                <a:ea typeface="Calibri" pitchFamily="34" charset="-122"/>
                <a:cs typeface="Calibri" pitchFamily="34" charset="-120"/>
              </a:rPr>
              <a:t>All 5 models were evaluated on the exact same held-out test set, making the comparison fair.</a:t>
            </a:r>
            <a:endParaRPr lang="en-US" sz="1080" dirty="0"/>
          </a:p>
          <a:p>
            <a:pPr marL="342900" indent="-342900">
              <a:spcAft>
                <a:spcPts val="900"/>
              </a:spcAft>
              <a:buSzPct val="100000"/>
              <a:buChar char="✦"/>
            </a:pPr>
            <a:r>
              <a:rPr lang="en-US" sz="1080" dirty="0">
                <a:solidFill>
                  <a:srgbClr val="17261F"/>
                </a:solidFill>
                <a:latin typeface="Calibri" pitchFamily="34" charset="0"/>
                <a:ea typeface="Calibri" pitchFamily="34" charset="-122"/>
                <a:cs typeface="Calibri" pitchFamily="34" charset="-120"/>
              </a:rPr>
              <a:t>Results are reported for every model, including the weakest (Linear Regression) — nothing was hidden.</a:t>
            </a:r>
            <a:endParaRPr lang="en-US" sz="1080" dirty="0"/>
          </a:p>
        </p:txBody>
      </p:sp>
      <p:sp>
        <p:nvSpPr>
          <p:cNvPr id="7" name="Shape 5"/>
          <p:cNvSpPr/>
          <p:nvPr/>
        </p:nvSpPr>
        <p:spPr>
          <a:xfrm>
            <a:off x="6172200" y="1463040"/>
            <a:ext cx="5532120" cy="4617720"/>
          </a:xfrm>
          <a:prstGeom prst="roundRect">
            <a:avLst>
              <a:gd name="adj" fmla="val 1584"/>
            </a:avLst>
          </a:prstGeom>
          <a:solidFill>
            <a:srgbClr val="FCEAE5"/>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8" name="Text 6"/>
          <p:cNvSpPr/>
          <p:nvPr/>
        </p:nvSpPr>
        <p:spPr>
          <a:xfrm>
            <a:off x="6446520" y="1645920"/>
            <a:ext cx="4937760" cy="365760"/>
          </a:xfrm>
          <a:prstGeom prst="rect">
            <a:avLst/>
          </a:prstGeom>
          <a:noFill/>
          <a:ln/>
        </p:spPr>
        <p:txBody>
          <a:bodyPr wrap="square" lIns="0" tIns="0" rIns="0" bIns="0" rtlCol="0" anchor="ctr"/>
          <a:lstStyle/>
          <a:p>
            <a:pPr indent="0" marL="0">
              <a:buNone/>
            </a:pPr>
            <a:r>
              <a:rPr lang="en-US" sz="1500" b="1" dirty="0">
                <a:solidFill>
                  <a:srgbClr val="E76F51"/>
                </a:solidFill>
                <a:latin typeface="Cambria" pitchFamily="34" charset="0"/>
                <a:ea typeface="Cambria" pitchFamily="34" charset="-122"/>
                <a:cs typeface="Cambria" pitchFamily="34" charset="-120"/>
              </a:rPr>
              <a:t>Weaknesses &amp; Open Questions</a:t>
            </a:r>
            <a:endParaRPr lang="en-US" sz="1500" dirty="0"/>
          </a:p>
        </p:txBody>
      </p:sp>
      <p:sp>
        <p:nvSpPr>
          <p:cNvPr id="9" name="Text 7"/>
          <p:cNvSpPr/>
          <p:nvPr/>
        </p:nvSpPr>
        <p:spPr>
          <a:xfrm>
            <a:off x="6446520" y="2103120"/>
            <a:ext cx="4983480" cy="3840480"/>
          </a:xfrm>
          <a:prstGeom prst="rect">
            <a:avLst/>
          </a:prstGeom>
          <a:noFill/>
          <a:ln/>
        </p:spPr>
        <p:txBody>
          <a:bodyPr wrap="square" lIns="0" tIns="0" rIns="0" bIns="0" rtlCol="0" anchor="ctr"/>
          <a:lstStyle/>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XGBoost underperformed simpler models — likely needs its own tuning, not just default-ish settings.</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Country/iso_code one-hot features may inflate Ridge's R² via per-country memorization rather than causal learning.</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The notebook's reported feature count (354 columns) doesn't match what its visible code would produce — a reproducibility gap, likely stale/out-of-order cell execution.</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No cross-validation was run, so these single-split results could shift somewhat with a different random seed.</a:t>
            </a:r>
            <a:endParaRPr lang="en-US" sz="1030" dirty="0"/>
          </a:p>
          <a:p>
            <a:pPr marL="342900" indent="-342900">
              <a:spcAft>
                <a:spcPts val="800"/>
              </a:spcAft>
              <a:buSzPct val="100000"/>
              <a:buChar char="✦"/>
            </a:pPr>
            <a:r>
              <a:rPr lang="en-US" sz="1030" dirty="0">
                <a:solidFill>
                  <a:srgbClr val="17261F"/>
                </a:solidFill>
                <a:latin typeface="Calibri" pitchFamily="34" charset="0"/>
                <a:ea typeface="Calibri" pitchFamily="34" charset="-122"/>
                <a:cs typeface="Calibri" pitchFamily="34" charset="-120"/>
              </a:rPr>
              <a:t>No confusion matrix, residual plot, or per-country error breakdown exists for the regression task in the provided files.</a:t>
            </a:r>
            <a:endParaRPr lang="en-US" sz="1030" dirty="0"/>
          </a:p>
        </p:txBody>
      </p:sp>
      <p:sp>
        <p:nvSpPr>
          <p:cNvPr id="10" name="Text 8"/>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8. EVALUATION  ·  III OF III</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Waste Image Classifier — Training &amp; Validation</a:t>
            </a:r>
            <a:endParaRPr lang="en-US" sz="3000" dirty="0"/>
          </a:p>
        </p:txBody>
      </p:sp>
      <p:pic>
        <p:nvPicPr>
          <p:cNvPr id="4" name="Image 0" descr="/home/claude/greencycle_deck2/assets/wc_cell15_1.png">    </p:cNvPr>
          <p:cNvPicPr>
            <a:picLocks noChangeAspect="1"/>
          </p:cNvPicPr>
          <p:nvPr/>
        </p:nvPicPr>
        <p:blipFill>
          <a:blip r:embed="rId1"/>
          <a:stretch>
            <a:fillRect/>
          </a:stretch>
        </p:blipFill>
        <p:spPr>
          <a:xfrm>
            <a:off x="502920" y="1463040"/>
            <a:ext cx="6675120" cy="2194560"/>
          </a:xfrm>
          <a:prstGeom prst="rect">
            <a:avLst/>
          </a:prstGeom>
        </p:spPr>
      </p:pic>
      <p:sp>
        <p:nvSpPr>
          <p:cNvPr id="5" name="Text 2"/>
          <p:cNvSpPr/>
          <p:nvPr/>
        </p:nvSpPr>
        <p:spPr>
          <a:xfrm>
            <a:off x="502920" y="3703320"/>
            <a:ext cx="6675120" cy="320040"/>
          </a:xfrm>
          <a:prstGeom prst="rect">
            <a:avLst/>
          </a:prstGeom>
          <a:noFill/>
          <a:ln/>
        </p:spPr>
        <p:txBody>
          <a:bodyPr wrap="square" lIns="0" tIns="0" rIns="0" bIns="0" rtlCol="0" anchor="ctr"/>
          <a:lstStyle/>
          <a:p>
            <a:pPr indent="0" marL="0">
              <a:buNone/>
            </a:pPr>
            <a:r>
              <a:rPr lang="en-US" sz="1000" i="1" dirty="0">
                <a:solidFill>
                  <a:srgbClr val="5B6F65"/>
                </a:solidFill>
                <a:latin typeface="Calibri" pitchFamily="34" charset="0"/>
                <a:ea typeface="Calibri" pitchFamily="34" charset="-122"/>
                <a:cs typeface="Calibri" pitchFamily="34" charset="-120"/>
              </a:rPr>
              <a:t>Training loss and accuracy across 10 epochs.</a:t>
            </a:r>
            <a:endParaRPr lang="en-US" sz="1000" dirty="0"/>
          </a:p>
        </p:txBody>
      </p:sp>
      <p:sp>
        <p:nvSpPr>
          <p:cNvPr id="6" name="Text 3"/>
          <p:cNvSpPr/>
          <p:nvPr/>
        </p:nvSpPr>
        <p:spPr>
          <a:xfrm>
            <a:off x="502920" y="4114800"/>
            <a:ext cx="6675120" cy="192024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17261F"/>
                </a:solidFill>
                <a:latin typeface="Calibri" pitchFamily="34" charset="0"/>
                <a:ea typeface="Calibri" pitchFamily="34" charset="-122"/>
                <a:cs typeface="Calibri" pitchFamily="34" charset="-120"/>
              </a:rPr>
              <a:t>Training accuracy climbed from 75.6% (epoch 1) to a peak of 93.5% (epoch 9), settling at 93.2% by epoch 10.</a:t>
            </a:r>
            <a:endParaRPr lang="en-US" sz="1050" dirty="0"/>
          </a:p>
          <a:p>
            <a:pPr marL="342900" indent="-342900">
              <a:spcAft>
                <a:spcPts val="800"/>
              </a:spcAft>
              <a:buSzPct val="100000"/>
              <a:buChar char="✦"/>
            </a:pPr>
            <a:r>
              <a:rPr lang="en-US" sz="1050" dirty="0">
                <a:solidFill>
                  <a:srgbClr val="17261F"/>
                </a:solidFill>
                <a:latin typeface="Calibri" pitchFamily="34" charset="0"/>
                <a:ea typeface="Calibri" pitchFamily="34" charset="-122"/>
                <a:cs typeface="Calibri" pitchFamily="34" charset="-120"/>
              </a:rPr>
              <a:t>Final validation accuracy: 87.89% on 2,452 held-out images — a real, but expected, gap below training accuracy.</a:t>
            </a:r>
            <a:endParaRPr lang="en-US" sz="1050" dirty="0"/>
          </a:p>
          <a:p>
            <a:pPr marL="342900" indent="-342900">
              <a:spcAft>
                <a:spcPts val="800"/>
              </a:spcAft>
              <a:buSzPct val="100000"/>
              <a:buChar char="✦"/>
            </a:pPr>
            <a:r>
              <a:rPr lang="en-US" sz="1050" dirty="0">
                <a:solidFill>
                  <a:srgbClr val="17261F"/>
                </a:solidFill>
                <a:latin typeface="Calibri" pitchFamily="34" charset="0"/>
                <a:ea typeface="Calibri" pitchFamily="34" charset="-122"/>
                <a:cs typeface="Calibri" pitchFamily="34" charset="-120"/>
              </a:rPr>
              <a:t>The ~5-point train/validation gap is consistent with the lack of data augmentation noted in preprocessing.</a:t>
            </a:r>
            <a:endParaRPr lang="en-US" sz="1050" dirty="0"/>
          </a:p>
        </p:txBody>
      </p:sp>
      <p:sp>
        <p:nvSpPr>
          <p:cNvPr id="7" name="Shape 4"/>
          <p:cNvSpPr/>
          <p:nvPr/>
        </p:nvSpPr>
        <p:spPr>
          <a:xfrm>
            <a:off x="7452360" y="1463040"/>
            <a:ext cx="4251960" cy="2377440"/>
          </a:xfrm>
          <a:prstGeom prst="roundRect">
            <a:avLst>
              <a:gd name="adj" fmla="val 3077"/>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8" name="Text 5"/>
          <p:cNvSpPr/>
          <p:nvPr/>
        </p:nvSpPr>
        <p:spPr>
          <a:xfrm>
            <a:off x="7589520" y="1691640"/>
            <a:ext cx="3977640" cy="566928"/>
          </a:xfrm>
          <a:prstGeom prst="rect">
            <a:avLst/>
          </a:prstGeom>
          <a:noFill/>
          <a:ln/>
        </p:spPr>
        <p:txBody>
          <a:bodyPr wrap="square" lIns="0" tIns="0" rIns="0" bIns="0" rtlCol="0" anchor="ctr"/>
          <a:lstStyle/>
          <a:p>
            <a:pPr algn="ctr" indent="0" marL="0">
              <a:buNone/>
            </a:pPr>
            <a:r>
              <a:rPr lang="en-US" sz="3200" b="1" dirty="0">
                <a:solidFill>
                  <a:srgbClr val="1B5E42"/>
                </a:solidFill>
                <a:latin typeface="Cambria" pitchFamily="34" charset="0"/>
                <a:ea typeface="Cambria" pitchFamily="34" charset="-122"/>
                <a:cs typeface="Cambria" pitchFamily="34" charset="-120"/>
              </a:rPr>
              <a:t>87.89%</a:t>
            </a:r>
            <a:endParaRPr lang="en-US" sz="3200" dirty="0"/>
          </a:p>
        </p:txBody>
      </p:sp>
      <p:sp>
        <p:nvSpPr>
          <p:cNvPr id="9" name="Text 6"/>
          <p:cNvSpPr/>
          <p:nvPr/>
        </p:nvSpPr>
        <p:spPr>
          <a:xfrm>
            <a:off x="7589520" y="2240280"/>
            <a:ext cx="3977640" cy="502920"/>
          </a:xfrm>
          <a:prstGeom prst="rect">
            <a:avLst/>
          </a:prstGeom>
          <a:noFill/>
          <a:ln/>
        </p:spPr>
        <p:txBody>
          <a:bodyPr wrap="square" lIns="0" tIns="0" rIns="0" bIns="0" rtlCol="0" anchor="ctr"/>
          <a:lstStyle/>
          <a:p>
            <a:pPr algn="ctr" indent="0" marL="0">
              <a:buNone/>
            </a:pPr>
            <a:r>
              <a:rPr lang="en-US" sz="1050" dirty="0">
                <a:solidFill>
                  <a:srgbClr val="5B6F65"/>
                </a:solidFill>
                <a:latin typeface="Calibri" pitchFamily="34" charset="0"/>
                <a:ea typeface="Calibri" pitchFamily="34" charset="-122"/>
                <a:cs typeface="Calibri" pitchFamily="34" charset="-120"/>
              </a:rPr>
              <a:t>Validation accuracy across 2,452 held-out images, 10 classes</a:t>
            </a:r>
            <a:endParaRPr lang="en-US" sz="1050" dirty="0"/>
          </a:p>
        </p:txBody>
      </p:sp>
      <p:sp>
        <p:nvSpPr>
          <p:cNvPr id="10" name="Shape 7"/>
          <p:cNvSpPr/>
          <p:nvPr/>
        </p:nvSpPr>
        <p:spPr>
          <a:xfrm>
            <a:off x="7452360" y="4023360"/>
            <a:ext cx="4251960" cy="2011680"/>
          </a:xfrm>
          <a:prstGeom prst="roundRect">
            <a:avLst>
              <a:gd name="adj" fmla="val 3636"/>
            </a:avLst>
          </a:prstGeom>
          <a:solidFill>
            <a:srgbClr val="FFF6E9"/>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1" name="Shape 8"/>
          <p:cNvSpPr/>
          <p:nvPr/>
        </p:nvSpPr>
        <p:spPr>
          <a:xfrm>
            <a:off x="7680960" y="4206240"/>
            <a:ext cx="457200" cy="457200"/>
          </a:xfrm>
          <a:prstGeom prst="ellipse">
            <a:avLst/>
          </a:prstGeom>
          <a:solidFill>
            <a:srgbClr val="C9861A"/>
          </a:solidFill>
          <a:ln/>
        </p:spPr>
      </p:sp>
      <p:pic>
        <p:nvPicPr>
          <p:cNvPr id="12" name="Image 1" descr="/home/claude/greencycle_deck2/assets/FaExclamationTriangle_coral.png">    </p:cNvPr>
          <p:cNvPicPr>
            <a:picLocks noChangeAspect="1"/>
          </p:cNvPicPr>
          <p:nvPr/>
        </p:nvPicPr>
        <p:blipFill>
          <a:blip r:embed="rId2"/>
          <a:stretch>
            <a:fillRect/>
          </a:stretch>
        </p:blipFill>
        <p:spPr>
          <a:xfrm>
            <a:off x="7740396" y="4265676"/>
            <a:ext cx="338328" cy="338328"/>
          </a:xfrm>
          <a:prstGeom prst="rect">
            <a:avLst/>
          </a:prstGeom>
        </p:spPr>
      </p:pic>
      <p:sp>
        <p:nvSpPr>
          <p:cNvPr id="13" name="Text 9"/>
          <p:cNvSpPr/>
          <p:nvPr/>
        </p:nvSpPr>
        <p:spPr>
          <a:xfrm>
            <a:off x="8275320" y="4206240"/>
            <a:ext cx="3246120" cy="1737360"/>
          </a:xfrm>
          <a:prstGeom prst="rect">
            <a:avLst/>
          </a:prstGeom>
          <a:noFill/>
          <a:ln/>
        </p:spPr>
        <p:txBody>
          <a:bodyPr wrap="square" lIns="0" tIns="0" rIns="0" bIns="0" rtlCol="0" anchor="ctr"/>
          <a:lstStyle/>
          <a:p>
            <a:pPr indent="0" marL="0">
              <a:buNone/>
            </a:pPr>
            <a:r>
              <a:rPr lang="en-US" sz="950" i="1" dirty="0">
                <a:solidFill>
                  <a:srgbClr val="17261F"/>
                </a:solidFill>
                <a:latin typeface="Calibri" pitchFamily="34" charset="0"/>
                <a:ea typeface="Calibri" pitchFamily="34" charset="-122"/>
                <a:cs typeface="Calibri" pitchFamily="34" charset="-120"/>
              </a:rPr>
              <a:t>A real limitation, shown transparently: a single-image sanity check misclassified a metal item as "battery" at 0.56 confidence. No confusion matrix or per-class accuracy breakdown exists in the provided files.</a:t>
            </a:r>
            <a:endParaRPr lang="en-US" sz="950" dirty="0"/>
          </a:p>
        </p:txBody>
      </p:sp>
      <p:sp>
        <p:nvSpPr>
          <p:cNvPr id="14" name="Text 10"/>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9. DEPLOYMENT</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Containerized API, Live Today</a:t>
            </a:r>
            <a:endParaRPr lang="en-US" sz="3000" dirty="0"/>
          </a:p>
        </p:txBody>
      </p:sp>
      <p:sp>
        <p:nvSpPr>
          <p:cNvPr id="4" name="Shape 2"/>
          <p:cNvSpPr/>
          <p:nvPr/>
        </p:nvSpPr>
        <p:spPr>
          <a:xfrm>
            <a:off x="333756" y="1508760"/>
            <a:ext cx="1783080" cy="1371600"/>
          </a:xfrm>
          <a:prstGeom prst="roundRect">
            <a:avLst>
              <a:gd name="adj" fmla="val 6000"/>
            </a:avLst>
          </a:prstGeom>
          <a:solidFill>
            <a:srgbClr val="1B5E42"/>
          </a:solidFill>
          <a:ln/>
        </p:spPr>
      </p:sp>
      <p:sp>
        <p:nvSpPr>
          <p:cNvPr id="5" name="Shape 3"/>
          <p:cNvSpPr/>
          <p:nvPr/>
        </p:nvSpPr>
        <p:spPr>
          <a:xfrm>
            <a:off x="1005840" y="1673352"/>
            <a:ext cx="438912" cy="438912"/>
          </a:xfrm>
          <a:prstGeom prst="ellipse">
            <a:avLst/>
          </a:prstGeom>
          <a:solidFill>
            <a:srgbClr val="2E7D5B"/>
          </a:solidFill>
          <a:ln/>
        </p:spPr>
      </p:sp>
      <p:pic>
        <p:nvPicPr>
          <p:cNvPr id="6" name="Image 0" descr="/home/claude/greencycle_deck2/assets/FaUsers_white.png">    </p:cNvPr>
          <p:cNvPicPr>
            <a:picLocks noChangeAspect="1"/>
          </p:cNvPicPr>
          <p:nvPr/>
        </p:nvPicPr>
        <p:blipFill>
          <a:blip r:embed="rId1"/>
          <a:stretch>
            <a:fillRect/>
          </a:stretch>
        </p:blipFill>
        <p:spPr>
          <a:xfrm>
            <a:off x="1062899" y="1730411"/>
            <a:ext cx="324795" cy="324795"/>
          </a:xfrm>
          <a:prstGeom prst="rect">
            <a:avLst/>
          </a:prstGeom>
        </p:spPr>
      </p:pic>
      <p:sp>
        <p:nvSpPr>
          <p:cNvPr id="7" name="Text 4"/>
          <p:cNvSpPr/>
          <p:nvPr/>
        </p:nvSpPr>
        <p:spPr>
          <a:xfrm>
            <a:off x="388620" y="2258568"/>
            <a:ext cx="1673352"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User</a:t>
            </a:r>
            <a:endParaRPr lang="en-US" sz="1000" dirty="0"/>
          </a:p>
        </p:txBody>
      </p:sp>
      <p:pic>
        <p:nvPicPr>
          <p:cNvPr id="8" name="Image 1" descr="/home/claude/greencycle_deck2/assets/FaArrowRight_dark.png">    </p:cNvPr>
          <p:cNvPicPr>
            <a:picLocks noChangeAspect="1"/>
          </p:cNvPicPr>
          <p:nvPr/>
        </p:nvPicPr>
        <p:blipFill>
          <a:blip r:embed="rId2"/>
          <a:stretch>
            <a:fillRect/>
          </a:stretch>
        </p:blipFill>
        <p:spPr>
          <a:xfrm>
            <a:off x="2121408" y="2057400"/>
            <a:ext cx="201168" cy="201168"/>
          </a:xfrm>
          <a:prstGeom prst="rect">
            <a:avLst/>
          </a:prstGeom>
        </p:spPr>
      </p:pic>
      <p:sp>
        <p:nvSpPr>
          <p:cNvPr id="9" name="Shape 5"/>
          <p:cNvSpPr/>
          <p:nvPr/>
        </p:nvSpPr>
        <p:spPr>
          <a:xfrm>
            <a:off x="2281428" y="1508760"/>
            <a:ext cx="1783080" cy="1371600"/>
          </a:xfrm>
          <a:prstGeom prst="roundRect">
            <a:avLst>
              <a:gd name="adj" fmla="val 6000"/>
            </a:avLst>
          </a:prstGeom>
          <a:solidFill>
            <a:srgbClr val="1B5E42"/>
          </a:solidFill>
          <a:ln/>
        </p:spPr>
      </p:sp>
      <p:sp>
        <p:nvSpPr>
          <p:cNvPr id="10" name="Shape 6"/>
          <p:cNvSpPr/>
          <p:nvPr/>
        </p:nvSpPr>
        <p:spPr>
          <a:xfrm>
            <a:off x="2953512" y="1673352"/>
            <a:ext cx="438912" cy="438912"/>
          </a:xfrm>
          <a:prstGeom prst="ellipse">
            <a:avLst/>
          </a:prstGeom>
          <a:solidFill>
            <a:srgbClr val="2E7D5B"/>
          </a:solidFill>
          <a:ln/>
        </p:spPr>
      </p:sp>
      <p:pic>
        <p:nvPicPr>
          <p:cNvPr id="11" name="Image 2" descr="/home/claude/greencycle_deck2/assets/FaGlobeAmericas_white.png">    </p:cNvPr>
          <p:cNvPicPr>
            <a:picLocks noChangeAspect="1"/>
          </p:cNvPicPr>
          <p:nvPr/>
        </p:nvPicPr>
        <p:blipFill>
          <a:blip r:embed="rId3"/>
          <a:stretch>
            <a:fillRect/>
          </a:stretch>
        </p:blipFill>
        <p:spPr>
          <a:xfrm>
            <a:off x="3010571" y="1730411"/>
            <a:ext cx="324795" cy="324795"/>
          </a:xfrm>
          <a:prstGeom prst="rect">
            <a:avLst/>
          </a:prstGeom>
        </p:spPr>
      </p:pic>
      <p:sp>
        <p:nvSpPr>
          <p:cNvPr id="12" name="Text 7"/>
          <p:cNvSpPr/>
          <p:nvPr/>
        </p:nvSpPr>
        <p:spPr>
          <a:xfrm>
            <a:off x="2336292" y="2258568"/>
            <a:ext cx="1673352"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Frontend / Application</a:t>
            </a:r>
            <a:endParaRPr lang="en-US" sz="1000" dirty="0"/>
          </a:p>
        </p:txBody>
      </p:sp>
      <p:pic>
        <p:nvPicPr>
          <p:cNvPr id="13" name="Image 3" descr="/home/claude/greencycle_deck2/assets/FaArrowRight_dark.png">    </p:cNvPr>
          <p:cNvPicPr>
            <a:picLocks noChangeAspect="1"/>
          </p:cNvPicPr>
          <p:nvPr/>
        </p:nvPicPr>
        <p:blipFill>
          <a:blip r:embed="rId4"/>
          <a:stretch>
            <a:fillRect/>
          </a:stretch>
        </p:blipFill>
        <p:spPr>
          <a:xfrm>
            <a:off x="4069080" y="2057400"/>
            <a:ext cx="201168" cy="201168"/>
          </a:xfrm>
          <a:prstGeom prst="rect">
            <a:avLst/>
          </a:prstGeom>
        </p:spPr>
      </p:pic>
      <p:sp>
        <p:nvSpPr>
          <p:cNvPr id="14" name="Shape 8"/>
          <p:cNvSpPr/>
          <p:nvPr/>
        </p:nvSpPr>
        <p:spPr>
          <a:xfrm>
            <a:off x="4229100" y="1508760"/>
            <a:ext cx="1783080" cy="1371600"/>
          </a:xfrm>
          <a:prstGeom prst="roundRect">
            <a:avLst>
              <a:gd name="adj" fmla="val 6000"/>
            </a:avLst>
          </a:prstGeom>
          <a:solidFill>
            <a:srgbClr val="1B5E42"/>
          </a:solidFill>
          <a:ln/>
        </p:spPr>
      </p:sp>
      <p:sp>
        <p:nvSpPr>
          <p:cNvPr id="15" name="Shape 9"/>
          <p:cNvSpPr/>
          <p:nvPr/>
        </p:nvSpPr>
        <p:spPr>
          <a:xfrm>
            <a:off x="4901184" y="1673352"/>
            <a:ext cx="438912" cy="438912"/>
          </a:xfrm>
          <a:prstGeom prst="ellipse">
            <a:avLst/>
          </a:prstGeom>
          <a:solidFill>
            <a:srgbClr val="2E7D5B"/>
          </a:solidFill>
          <a:ln/>
        </p:spPr>
      </p:sp>
      <p:pic>
        <p:nvPicPr>
          <p:cNvPr id="16" name="Image 4" descr="/home/claude/greencycle_deck2/assets/FaServer_white.png">    </p:cNvPr>
          <p:cNvPicPr>
            <a:picLocks noChangeAspect="1"/>
          </p:cNvPicPr>
          <p:nvPr/>
        </p:nvPicPr>
        <p:blipFill>
          <a:blip r:embed="rId5"/>
          <a:stretch>
            <a:fillRect/>
          </a:stretch>
        </p:blipFill>
        <p:spPr>
          <a:xfrm>
            <a:off x="4958243" y="1730411"/>
            <a:ext cx="324795" cy="324795"/>
          </a:xfrm>
          <a:prstGeom prst="rect">
            <a:avLst/>
          </a:prstGeom>
        </p:spPr>
      </p:pic>
      <p:sp>
        <p:nvSpPr>
          <p:cNvPr id="17" name="Text 10"/>
          <p:cNvSpPr/>
          <p:nvPr/>
        </p:nvSpPr>
        <p:spPr>
          <a:xfrm>
            <a:off x="4283964" y="2258568"/>
            <a:ext cx="1673352"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API</a:t>
            </a:r>
            <a:endParaRPr lang="en-US" sz="1000" dirty="0"/>
          </a:p>
        </p:txBody>
      </p:sp>
      <p:pic>
        <p:nvPicPr>
          <p:cNvPr id="18" name="Image 5" descr="/home/claude/greencycle_deck2/assets/FaArrowRight_dark.png">    </p:cNvPr>
          <p:cNvPicPr>
            <a:picLocks noChangeAspect="1"/>
          </p:cNvPicPr>
          <p:nvPr/>
        </p:nvPicPr>
        <p:blipFill>
          <a:blip r:embed="rId6"/>
          <a:stretch>
            <a:fillRect/>
          </a:stretch>
        </p:blipFill>
        <p:spPr>
          <a:xfrm>
            <a:off x="6016752" y="2057400"/>
            <a:ext cx="201168" cy="201168"/>
          </a:xfrm>
          <a:prstGeom prst="rect">
            <a:avLst/>
          </a:prstGeom>
        </p:spPr>
      </p:pic>
      <p:sp>
        <p:nvSpPr>
          <p:cNvPr id="19" name="Shape 11"/>
          <p:cNvSpPr/>
          <p:nvPr/>
        </p:nvSpPr>
        <p:spPr>
          <a:xfrm>
            <a:off x="6176772" y="1508760"/>
            <a:ext cx="1783080" cy="1371600"/>
          </a:xfrm>
          <a:prstGeom prst="roundRect">
            <a:avLst>
              <a:gd name="adj" fmla="val 6000"/>
            </a:avLst>
          </a:prstGeom>
          <a:solidFill>
            <a:srgbClr val="8FD9B6"/>
          </a:solidFill>
          <a:ln/>
        </p:spPr>
      </p:sp>
      <p:sp>
        <p:nvSpPr>
          <p:cNvPr id="20" name="Shape 12"/>
          <p:cNvSpPr/>
          <p:nvPr/>
        </p:nvSpPr>
        <p:spPr>
          <a:xfrm>
            <a:off x="6848856" y="1673352"/>
            <a:ext cx="438912" cy="438912"/>
          </a:xfrm>
          <a:prstGeom prst="ellipse">
            <a:avLst/>
          </a:prstGeom>
          <a:solidFill>
            <a:srgbClr val="1B5E42"/>
          </a:solidFill>
          <a:ln/>
        </p:spPr>
      </p:sp>
      <p:pic>
        <p:nvPicPr>
          <p:cNvPr id="21" name="Image 6" descr="/home/claude/greencycle_deck2/assets/FaBoxes_dark.png">    </p:cNvPr>
          <p:cNvPicPr>
            <a:picLocks noChangeAspect="1"/>
          </p:cNvPicPr>
          <p:nvPr/>
        </p:nvPicPr>
        <p:blipFill>
          <a:blip r:embed="rId7"/>
          <a:stretch>
            <a:fillRect/>
          </a:stretch>
        </p:blipFill>
        <p:spPr>
          <a:xfrm>
            <a:off x="6905915" y="1730411"/>
            <a:ext cx="324795" cy="324795"/>
          </a:xfrm>
          <a:prstGeom prst="rect">
            <a:avLst/>
          </a:prstGeom>
        </p:spPr>
      </p:pic>
      <p:sp>
        <p:nvSpPr>
          <p:cNvPr id="22" name="Text 13"/>
          <p:cNvSpPr/>
          <p:nvPr/>
        </p:nvSpPr>
        <p:spPr>
          <a:xfrm>
            <a:off x="6231636" y="2258568"/>
            <a:ext cx="1673352" cy="548640"/>
          </a:xfrm>
          <a:prstGeom prst="rect">
            <a:avLst/>
          </a:prstGeom>
          <a:noFill/>
          <a:ln/>
        </p:spPr>
        <p:txBody>
          <a:bodyPr wrap="square" lIns="0" tIns="0" rIns="0" bIns="0" rtlCol="0" anchor="ctr"/>
          <a:lstStyle/>
          <a:p>
            <a:pPr algn="ctr" indent="0" marL="0">
              <a:buNone/>
            </a:pPr>
            <a:r>
              <a:rPr lang="en-US" sz="1000" b="1" dirty="0">
                <a:solidFill>
                  <a:srgbClr val="0F3D2E"/>
                </a:solidFill>
                <a:latin typeface="Cambria" pitchFamily="34" charset="0"/>
                <a:ea typeface="Cambria" pitchFamily="34" charset="-122"/>
                <a:cs typeface="Cambria" pitchFamily="34" charset="-120"/>
              </a:rPr>
              <a:t>Docker Container</a:t>
            </a:r>
            <a:endParaRPr lang="en-US" sz="1000" dirty="0"/>
          </a:p>
        </p:txBody>
      </p:sp>
      <p:pic>
        <p:nvPicPr>
          <p:cNvPr id="23" name="Image 7" descr="/home/claude/greencycle_deck2/assets/FaArrowRight_dark.png">    </p:cNvPr>
          <p:cNvPicPr>
            <a:picLocks noChangeAspect="1"/>
          </p:cNvPicPr>
          <p:nvPr/>
        </p:nvPicPr>
        <p:blipFill>
          <a:blip r:embed="rId8"/>
          <a:stretch>
            <a:fillRect/>
          </a:stretch>
        </p:blipFill>
        <p:spPr>
          <a:xfrm>
            <a:off x="7964424" y="2057400"/>
            <a:ext cx="201168" cy="201168"/>
          </a:xfrm>
          <a:prstGeom prst="rect">
            <a:avLst/>
          </a:prstGeom>
        </p:spPr>
      </p:pic>
      <p:sp>
        <p:nvSpPr>
          <p:cNvPr id="24" name="Shape 14"/>
          <p:cNvSpPr/>
          <p:nvPr/>
        </p:nvSpPr>
        <p:spPr>
          <a:xfrm>
            <a:off x="8124444" y="1508760"/>
            <a:ext cx="1783080" cy="1371600"/>
          </a:xfrm>
          <a:prstGeom prst="roundRect">
            <a:avLst>
              <a:gd name="adj" fmla="val 6000"/>
            </a:avLst>
          </a:prstGeom>
          <a:solidFill>
            <a:srgbClr val="1B5E42"/>
          </a:solidFill>
          <a:ln/>
        </p:spPr>
      </p:sp>
      <p:sp>
        <p:nvSpPr>
          <p:cNvPr id="25" name="Shape 15"/>
          <p:cNvSpPr/>
          <p:nvPr/>
        </p:nvSpPr>
        <p:spPr>
          <a:xfrm>
            <a:off x="8796528" y="1673352"/>
            <a:ext cx="438912" cy="438912"/>
          </a:xfrm>
          <a:prstGeom prst="ellipse">
            <a:avLst/>
          </a:prstGeom>
          <a:solidFill>
            <a:srgbClr val="2E7D5B"/>
          </a:solidFill>
          <a:ln/>
        </p:spPr>
      </p:sp>
      <p:pic>
        <p:nvPicPr>
          <p:cNvPr id="26" name="Image 8" descr="/home/claude/greencycle_deck2/assets/FaBrain_white.png">    </p:cNvPr>
          <p:cNvPicPr>
            <a:picLocks noChangeAspect="1"/>
          </p:cNvPicPr>
          <p:nvPr/>
        </p:nvPicPr>
        <p:blipFill>
          <a:blip r:embed="rId9"/>
          <a:stretch>
            <a:fillRect/>
          </a:stretch>
        </p:blipFill>
        <p:spPr>
          <a:xfrm>
            <a:off x="8853587" y="1730411"/>
            <a:ext cx="324795" cy="324795"/>
          </a:xfrm>
          <a:prstGeom prst="rect">
            <a:avLst/>
          </a:prstGeom>
        </p:spPr>
      </p:pic>
      <p:sp>
        <p:nvSpPr>
          <p:cNvPr id="27" name="Text 16"/>
          <p:cNvSpPr/>
          <p:nvPr/>
        </p:nvSpPr>
        <p:spPr>
          <a:xfrm>
            <a:off x="8179308" y="2258568"/>
            <a:ext cx="1673352"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ML Model</a:t>
            </a:r>
            <a:endParaRPr lang="en-US" sz="1000" dirty="0"/>
          </a:p>
        </p:txBody>
      </p:sp>
      <p:pic>
        <p:nvPicPr>
          <p:cNvPr id="28" name="Image 9" descr="/home/claude/greencycle_deck2/assets/FaArrowRight_dark.png">    </p:cNvPr>
          <p:cNvPicPr>
            <a:picLocks noChangeAspect="1"/>
          </p:cNvPicPr>
          <p:nvPr/>
        </p:nvPicPr>
        <p:blipFill>
          <a:blip r:embed="rId10"/>
          <a:stretch>
            <a:fillRect/>
          </a:stretch>
        </p:blipFill>
        <p:spPr>
          <a:xfrm>
            <a:off x="9912096" y="2057400"/>
            <a:ext cx="201168" cy="201168"/>
          </a:xfrm>
          <a:prstGeom prst="rect">
            <a:avLst/>
          </a:prstGeom>
        </p:spPr>
      </p:pic>
      <p:sp>
        <p:nvSpPr>
          <p:cNvPr id="29" name="Shape 17"/>
          <p:cNvSpPr/>
          <p:nvPr/>
        </p:nvSpPr>
        <p:spPr>
          <a:xfrm>
            <a:off x="10072116" y="1508760"/>
            <a:ext cx="1783080" cy="1371600"/>
          </a:xfrm>
          <a:prstGeom prst="roundRect">
            <a:avLst>
              <a:gd name="adj" fmla="val 6000"/>
            </a:avLst>
          </a:prstGeom>
          <a:solidFill>
            <a:srgbClr val="1B5E42"/>
          </a:solidFill>
          <a:ln/>
        </p:spPr>
      </p:sp>
      <p:sp>
        <p:nvSpPr>
          <p:cNvPr id="30" name="Shape 18"/>
          <p:cNvSpPr/>
          <p:nvPr/>
        </p:nvSpPr>
        <p:spPr>
          <a:xfrm>
            <a:off x="10744200" y="1673352"/>
            <a:ext cx="438912" cy="438912"/>
          </a:xfrm>
          <a:prstGeom prst="ellipse">
            <a:avLst/>
          </a:prstGeom>
          <a:solidFill>
            <a:srgbClr val="2E7D5B"/>
          </a:solidFill>
          <a:ln/>
        </p:spPr>
      </p:sp>
      <p:pic>
        <p:nvPicPr>
          <p:cNvPr id="31" name="Image 10" descr="/home/claude/greencycle_deck2/assets/FaCheckCircle_white.png">    </p:cNvPr>
          <p:cNvPicPr>
            <a:picLocks noChangeAspect="1"/>
          </p:cNvPicPr>
          <p:nvPr/>
        </p:nvPicPr>
        <p:blipFill>
          <a:blip r:embed="rId11"/>
          <a:stretch>
            <a:fillRect/>
          </a:stretch>
        </p:blipFill>
        <p:spPr>
          <a:xfrm>
            <a:off x="10801259" y="1730411"/>
            <a:ext cx="324795" cy="324795"/>
          </a:xfrm>
          <a:prstGeom prst="rect">
            <a:avLst/>
          </a:prstGeom>
        </p:spPr>
      </p:pic>
      <p:sp>
        <p:nvSpPr>
          <p:cNvPr id="32" name="Text 19"/>
          <p:cNvSpPr/>
          <p:nvPr/>
        </p:nvSpPr>
        <p:spPr>
          <a:xfrm>
            <a:off x="10126980" y="2258568"/>
            <a:ext cx="1673352"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Prediction Result</a:t>
            </a:r>
            <a:endParaRPr lang="en-US" sz="1000" dirty="0"/>
          </a:p>
        </p:txBody>
      </p:sp>
      <p:sp>
        <p:nvSpPr>
          <p:cNvPr id="33" name="Shape 20"/>
          <p:cNvSpPr/>
          <p:nvPr/>
        </p:nvSpPr>
        <p:spPr>
          <a:xfrm>
            <a:off x="502920" y="3200400"/>
            <a:ext cx="5486400" cy="3108960"/>
          </a:xfrm>
          <a:prstGeom prst="roundRect">
            <a:avLst>
              <a:gd name="adj" fmla="val 2353"/>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34" name="Text 21"/>
          <p:cNvSpPr/>
          <p:nvPr/>
        </p:nvSpPr>
        <p:spPr>
          <a:xfrm>
            <a:off x="777240" y="3383280"/>
            <a:ext cx="4937760" cy="365760"/>
          </a:xfrm>
          <a:prstGeom prst="rect">
            <a:avLst/>
          </a:prstGeom>
          <a:noFill/>
          <a:ln/>
        </p:spPr>
        <p:txBody>
          <a:bodyPr wrap="square" lIns="0" tIns="0" rIns="0" bIns="0" rtlCol="0" anchor="ctr"/>
          <a:lstStyle/>
          <a:p>
            <a:pPr indent="0" marL="0">
              <a:buNone/>
            </a:pPr>
            <a:r>
              <a:rPr lang="en-US" sz="1300" b="1" dirty="0">
                <a:solidFill>
                  <a:srgbClr val="17261F"/>
                </a:solidFill>
                <a:latin typeface="Cambria" pitchFamily="34" charset="0"/>
                <a:ea typeface="Cambria" pitchFamily="34" charset="-122"/>
                <a:cs typeface="Cambria" pitchFamily="34" charset="-120"/>
              </a:rPr>
              <a:t>Confirmed from the provided Dockerfile</a:t>
            </a:r>
            <a:endParaRPr lang="en-US" sz="1300" dirty="0"/>
          </a:p>
        </p:txBody>
      </p:sp>
      <p:sp>
        <p:nvSpPr>
          <p:cNvPr id="35" name="Text 22"/>
          <p:cNvSpPr/>
          <p:nvPr/>
        </p:nvSpPr>
        <p:spPr>
          <a:xfrm>
            <a:off x="777240" y="3749040"/>
            <a:ext cx="5029200" cy="2468880"/>
          </a:xfrm>
          <a:prstGeom prst="rect">
            <a:avLst/>
          </a:prstGeom>
          <a:noFill/>
          <a:ln/>
        </p:spPr>
        <p:txBody>
          <a:bodyPr wrap="square" lIns="0" tIns="0" rIns="0" bIns="0" rtlCol="0" anchor="ctr"/>
          <a:lstStyle/>
          <a:p>
            <a:pPr marL="342900" indent="-342900">
              <a:spcAft>
                <a:spcPts val="700"/>
              </a:spcAft>
              <a:buSzPct val="100000"/>
              <a:buChar char="✦"/>
            </a:pPr>
            <a:r>
              <a:rPr lang="en-US" sz="980" dirty="0">
                <a:solidFill>
                  <a:srgbClr val="17261F"/>
                </a:solidFill>
                <a:latin typeface="Calibri" pitchFamily="34" charset="0"/>
                <a:ea typeface="Calibri" pitchFamily="34" charset="-122"/>
                <a:cs typeface="Calibri" pitchFamily="34" charset="-120"/>
              </a:rPr>
              <a:t>The FastAPI app (main.py) is containerized and served via uvicorn on port 7860.</a:t>
            </a:r>
            <a:endParaRPr lang="en-US" sz="980" dirty="0"/>
          </a:p>
          <a:p>
            <a:pPr marL="342900" indent="-342900">
              <a:spcAft>
                <a:spcPts val="700"/>
              </a:spcAft>
              <a:buSzPct val="100000"/>
              <a:buChar char="✦"/>
            </a:pPr>
            <a:r>
              <a:rPr lang="en-US" sz="980" dirty="0">
                <a:solidFill>
                  <a:srgbClr val="17261F"/>
                </a:solidFill>
                <a:latin typeface="Calibri" pitchFamily="34" charset="0"/>
                <a:ea typeface="Calibri" pitchFamily="34" charset="-122"/>
                <a:cs typeface="Calibri" pitchFamily="34" charset="-120"/>
              </a:rPr>
              <a:t>4 working endpoints are live: /api/chat, /api/simulate-city, /api/analyze-pollution, /api/analyze-recycling.</a:t>
            </a:r>
            <a:endParaRPr lang="en-US" sz="980" dirty="0"/>
          </a:p>
          <a:p>
            <a:pPr marL="342900" indent="-342900">
              <a:spcAft>
                <a:spcPts val="700"/>
              </a:spcAft>
              <a:buSzPct val="100000"/>
              <a:buChar char="✦"/>
            </a:pPr>
            <a:r>
              <a:rPr lang="en-US" sz="980" dirty="0">
                <a:solidFill>
                  <a:srgbClr val="17261F"/>
                </a:solidFill>
                <a:latin typeface="Calibri" pitchFamily="34" charset="0"/>
                <a:ea typeface="Calibri" pitchFamily="34" charset="-122"/>
                <a:cs typeface="Calibri" pitchFamily="34" charset="-120"/>
              </a:rPr>
              <a:t>CORS is configured to allow all origins/methods/headers, so the frontend can call the API directly.</a:t>
            </a:r>
            <a:endParaRPr lang="en-US" sz="980" dirty="0"/>
          </a:p>
          <a:p>
            <a:pPr marL="342900" indent="-342900">
              <a:spcAft>
                <a:spcPts val="700"/>
              </a:spcAft>
              <a:buSzPct val="100000"/>
              <a:buChar char="✦"/>
            </a:pPr>
            <a:r>
              <a:rPr lang="en-US" sz="980" dirty="0">
                <a:solidFill>
                  <a:srgbClr val="17261F"/>
                </a:solidFill>
                <a:latin typeface="Calibri" pitchFamily="34" charset="0"/>
                <a:ea typeface="Calibri" pitchFamily="34" charset="-122"/>
                <a:cs typeface="Calibri" pitchFamily="34" charset="-120"/>
              </a:rPr>
              <a:t>The chat, simulation, and vision endpoints call Groq-hosted LLMs (llama-3.3-70b-versatile and llama-4-scout-17b vision) rather than serving the trained CO2/CV models directly.</a:t>
            </a:r>
            <a:endParaRPr lang="en-US" sz="980" dirty="0"/>
          </a:p>
        </p:txBody>
      </p:sp>
      <p:sp>
        <p:nvSpPr>
          <p:cNvPr id="36" name="Shape 23"/>
          <p:cNvSpPr/>
          <p:nvPr/>
        </p:nvSpPr>
        <p:spPr>
          <a:xfrm>
            <a:off x="6217920" y="3200400"/>
            <a:ext cx="5486400" cy="3108960"/>
          </a:xfrm>
          <a:prstGeom prst="roundRect">
            <a:avLst>
              <a:gd name="adj" fmla="val 2353"/>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37" name="Text 24"/>
          <p:cNvSpPr/>
          <p:nvPr/>
        </p:nvSpPr>
        <p:spPr>
          <a:xfrm>
            <a:off x="6492240" y="3383280"/>
            <a:ext cx="4937760" cy="365760"/>
          </a:xfrm>
          <a:prstGeom prst="rect">
            <a:avLst/>
          </a:prstGeom>
          <a:noFill/>
          <a:ln/>
        </p:spPr>
        <p:txBody>
          <a:bodyPr wrap="square" lIns="0" tIns="0" rIns="0" bIns="0" rtlCol="0" anchor="ctr"/>
          <a:lstStyle/>
          <a:p>
            <a:pPr indent="0" marL="0">
              <a:buNone/>
            </a:pPr>
            <a:r>
              <a:rPr lang="en-US" sz="1300" b="1" dirty="0">
                <a:solidFill>
                  <a:srgbClr val="17261F"/>
                </a:solidFill>
                <a:latin typeface="Cambria" pitchFamily="34" charset="0"/>
                <a:ea typeface="Cambria" pitchFamily="34" charset="-122"/>
                <a:cs typeface="Cambria" pitchFamily="34" charset="-120"/>
              </a:rPr>
              <a:t>Not yet connected</a:t>
            </a:r>
            <a:endParaRPr lang="en-US" sz="1300" dirty="0"/>
          </a:p>
        </p:txBody>
      </p:sp>
      <p:sp>
        <p:nvSpPr>
          <p:cNvPr id="38" name="Text 25"/>
          <p:cNvSpPr/>
          <p:nvPr/>
        </p:nvSpPr>
        <p:spPr>
          <a:xfrm>
            <a:off x="6492240" y="3749040"/>
            <a:ext cx="4937760" cy="2468880"/>
          </a:xfrm>
          <a:prstGeom prst="rect">
            <a:avLst/>
          </a:prstGeom>
          <a:noFill/>
          <a:ln/>
        </p:spPr>
        <p:txBody>
          <a:bodyPr wrap="square" lIns="0" tIns="0" rIns="0" bIns="0" rtlCol="0" anchor="ctr"/>
          <a:lstStyle/>
          <a:p>
            <a:pPr marL="342900" indent="-342900">
              <a:spcAft>
                <a:spcPts val="700"/>
              </a:spcAft>
              <a:buSzPct val="100000"/>
              <a:buChar char="✦"/>
            </a:pPr>
            <a:r>
              <a:rPr lang="en-US" sz="980" dirty="0">
                <a:solidFill>
                  <a:srgbClr val="17261F"/>
                </a:solidFill>
                <a:latin typeface="Calibri" pitchFamily="34" charset="0"/>
                <a:ea typeface="Calibri" pitchFamily="34" charset="-122"/>
                <a:cs typeface="Calibri" pitchFamily="34" charset="-120"/>
              </a:rPr>
              <a:t>The trained CO2 regression model (best_model.pkl) and the CV classifier (waste_model.pth) are not currently wired into the live API — the deployed endpoints use hosted LLMs instead.</a:t>
            </a:r>
            <a:endParaRPr lang="en-US" sz="980" dirty="0"/>
          </a:p>
          <a:p>
            <a:pPr marL="342900" indent="-342900">
              <a:spcAft>
                <a:spcPts val="700"/>
              </a:spcAft>
              <a:buSzPct val="100000"/>
              <a:buChar char="✦"/>
            </a:pPr>
            <a:r>
              <a:rPr lang="en-US" sz="980" dirty="0">
                <a:solidFill>
                  <a:srgbClr val="17261F"/>
                </a:solidFill>
                <a:latin typeface="Calibri" pitchFamily="34" charset="0"/>
                <a:ea typeface="Calibri" pitchFamily="34" charset="-122"/>
                <a:cs typeface="Calibri" pitchFamily="34" charset="-120"/>
              </a:rPr>
              <a:t>No model-serving route (e.g. a dedicated /predict endpoint loading the .pkl or .pth file) exists yet in the provided route files.</a:t>
            </a:r>
            <a:endParaRPr lang="en-US" sz="980" dirty="0"/>
          </a:p>
          <a:p>
            <a:pPr marL="342900" indent="-342900">
              <a:spcAft>
                <a:spcPts val="700"/>
              </a:spcAft>
              <a:buSzPct val="100000"/>
              <a:buChar char="✦"/>
            </a:pPr>
            <a:r>
              <a:rPr lang="en-US" sz="980" dirty="0">
                <a:solidFill>
                  <a:srgbClr val="17261F"/>
                </a:solidFill>
                <a:latin typeface="Calibri" pitchFamily="34" charset="0"/>
                <a:ea typeface="Calibri" pitchFamily="34" charset="-122"/>
                <a:cs typeface="Calibri" pitchFamily="34" charset="-120"/>
              </a:rPr>
              <a:t>No CI/CD pipeline was found alongside the Dockerfile.</a:t>
            </a:r>
            <a:endParaRPr lang="en-US" sz="980" dirty="0"/>
          </a:p>
        </p:txBody>
      </p:sp>
      <p:sp>
        <p:nvSpPr>
          <p:cNvPr id="39" name="Text 26"/>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10. RESULTS &amp; CONCLUSION</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What the Project Achieved</a:t>
            </a:r>
            <a:endParaRPr lang="en-US" sz="3000" dirty="0"/>
          </a:p>
        </p:txBody>
      </p:sp>
      <p:sp>
        <p:nvSpPr>
          <p:cNvPr id="4" name="Shape 2"/>
          <p:cNvSpPr/>
          <p:nvPr/>
        </p:nvSpPr>
        <p:spPr>
          <a:xfrm>
            <a:off x="502920" y="1463040"/>
            <a:ext cx="2606040" cy="1371600"/>
          </a:xfrm>
          <a:prstGeom prst="roundRect">
            <a:avLst>
              <a:gd name="adj" fmla="val 5333"/>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Text 3"/>
          <p:cNvSpPr/>
          <p:nvPr/>
        </p:nvSpPr>
        <p:spPr>
          <a:xfrm>
            <a:off x="502920" y="1600200"/>
            <a:ext cx="2606040" cy="548640"/>
          </a:xfrm>
          <a:prstGeom prst="rect">
            <a:avLst/>
          </a:prstGeom>
          <a:noFill/>
          <a:ln/>
        </p:spPr>
        <p:txBody>
          <a:bodyPr wrap="square" lIns="0" tIns="0" rIns="0" bIns="0" rtlCol="0" anchor="ctr"/>
          <a:lstStyle/>
          <a:p>
            <a:pPr algn="ctr" indent="0" marL="0">
              <a:buNone/>
            </a:pPr>
            <a:r>
              <a:rPr lang="en-US" sz="2500" b="1" dirty="0">
                <a:solidFill>
                  <a:srgbClr val="1B5E42"/>
                </a:solidFill>
                <a:latin typeface="Cambria" pitchFamily="34" charset="0"/>
                <a:ea typeface="Cambria" pitchFamily="34" charset="-122"/>
                <a:cs typeface="Cambria" pitchFamily="34" charset="-120"/>
              </a:rPr>
              <a:t>0.99 R²</a:t>
            </a:r>
            <a:endParaRPr lang="en-US" sz="2500" dirty="0"/>
          </a:p>
        </p:txBody>
      </p:sp>
      <p:sp>
        <p:nvSpPr>
          <p:cNvPr id="6" name="Text 4"/>
          <p:cNvSpPr/>
          <p:nvPr/>
        </p:nvSpPr>
        <p:spPr>
          <a:xfrm>
            <a:off x="640080" y="2194560"/>
            <a:ext cx="2331720" cy="548640"/>
          </a:xfrm>
          <a:prstGeom prst="rect">
            <a:avLst/>
          </a:prstGeom>
          <a:noFill/>
          <a:ln/>
        </p:spPr>
        <p:txBody>
          <a:bodyPr wrap="square" lIns="0" tIns="0" rIns="0" bIns="0" rtlCol="0" anchor="ctr"/>
          <a:lstStyle/>
          <a:p>
            <a:pPr algn="ctr" indent="0" marL="0">
              <a:buNone/>
            </a:pPr>
            <a:r>
              <a:rPr lang="en-US" sz="900" dirty="0">
                <a:solidFill>
                  <a:srgbClr val="5B6F65"/>
                </a:solidFill>
                <a:latin typeface="Calibri" pitchFamily="34" charset="0"/>
                <a:ea typeface="Calibri" pitchFamily="34" charset="-122"/>
                <a:cs typeface="Calibri" pitchFamily="34" charset="-120"/>
              </a:rPr>
              <a:t>Ridge Regression — best CO2 model (with the caveat on slide 19)</a:t>
            </a:r>
            <a:endParaRPr lang="en-US" sz="900" dirty="0"/>
          </a:p>
        </p:txBody>
      </p:sp>
      <p:sp>
        <p:nvSpPr>
          <p:cNvPr id="7" name="Shape 5"/>
          <p:cNvSpPr/>
          <p:nvPr/>
        </p:nvSpPr>
        <p:spPr>
          <a:xfrm>
            <a:off x="3291840" y="1463040"/>
            <a:ext cx="2606040" cy="1371600"/>
          </a:xfrm>
          <a:prstGeom prst="roundRect">
            <a:avLst>
              <a:gd name="adj" fmla="val 5333"/>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8" name="Text 6"/>
          <p:cNvSpPr/>
          <p:nvPr/>
        </p:nvSpPr>
        <p:spPr>
          <a:xfrm>
            <a:off x="3291840" y="1600200"/>
            <a:ext cx="2606040" cy="548640"/>
          </a:xfrm>
          <a:prstGeom prst="rect">
            <a:avLst/>
          </a:prstGeom>
          <a:noFill/>
          <a:ln/>
        </p:spPr>
        <p:txBody>
          <a:bodyPr wrap="square" lIns="0" tIns="0" rIns="0" bIns="0" rtlCol="0" anchor="ctr"/>
          <a:lstStyle/>
          <a:p>
            <a:pPr algn="ctr" indent="0" marL="0">
              <a:buNone/>
            </a:pPr>
            <a:r>
              <a:rPr lang="en-US" sz="2500" b="1" dirty="0">
                <a:solidFill>
                  <a:srgbClr val="1B5E42"/>
                </a:solidFill>
                <a:latin typeface="Cambria" pitchFamily="34" charset="0"/>
                <a:ea typeface="Cambria" pitchFamily="34" charset="-122"/>
                <a:cs typeface="Cambria" pitchFamily="34" charset="-120"/>
              </a:rPr>
              <a:t>87.9%</a:t>
            </a:r>
            <a:endParaRPr lang="en-US" sz="2500" dirty="0"/>
          </a:p>
        </p:txBody>
      </p:sp>
      <p:sp>
        <p:nvSpPr>
          <p:cNvPr id="9" name="Text 7"/>
          <p:cNvSpPr/>
          <p:nvPr/>
        </p:nvSpPr>
        <p:spPr>
          <a:xfrm>
            <a:off x="3429000" y="2194560"/>
            <a:ext cx="2331720" cy="548640"/>
          </a:xfrm>
          <a:prstGeom prst="rect">
            <a:avLst/>
          </a:prstGeom>
          <a:noFill/>
          <a:ln/>
        </p:spPr>
        <p:txBody>
          <a:bodyPr wrap="square" lIns="0" tIns="0" rIns="0" bIns="0" rtlCol="0" anchor="ctr"/>
          <a:lstStyle/>
          <a:p>
            <a:pPr algn="ctr" indent="0" marL="0">
              <a:buNone/>
            </a:pPr>
            <a:r>
              <a:rPr lang="en-US" sz="900" dirty="0">
                <a:solidFill>
                  <a:srgbClr val="5B6F65"/>
                </a:solidFill>
                <a:latin typeface="Calibri" pitchFamily="34" charset="0"/>
                <a:ea typeface="Calibri" pitchFamily="34" charset="-122"/>
                <a:cs typeface="Calibri" pitchFamily="34" charset="-120"/>
              </a:rPr>
              <a:t>Waste image classifier validation accuracy</a:t>
            </a:r>
            <a:endParaRPr lang="en-US" sz="900" dirty="0"/>
          </a:p>
        </p:txBody>
      </p:sp>
      <p:sp>
        <p:nvSpPr>
          <p:cNvPr id="10" name="Shape 8"/>
          <p:cNvSpPr/>
          <p:nvPr/>
        </p:nvSpPr>
        <p:spPr>
          <a:xfrm>
            <a:off x="6080760" y="1463040"/>
            <a:ext cx="2606040" cy="1371600"/>
          </a:xfrm>
          <a:prstGeom prst="roundRect">
            <a:avLst>
              <a:gd name="adj" fmla="val 5333"/>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1" name="Text 9"/>
          <p:cNvSpPr/>
          <p:nvPr/>
        </p:nvSpPr>
        <p:spPr>
          <a:xfrm>
            <a:off x="6080760" y="1600200"/>
            <a:ext cx="2606040" cy="548640"/>
          </a:xfrm>
          <a:prstGeom prst="rect">
            <a:avLst/>
          </a:prstGeom>
          <a:noFill/>
          <a:ln/>
        </p:spPr>
        <p:txBody>
          <a:bodyPr wrap="square" lIns="0" tIns="0" rIns="0" bIns="0" rtlCol="0" anchor="ctr"/>
          <a:lstStyle/>
          <a:p>
            <a:pPr algn="ctr" indent="0" marL="0">
              <a:buNone/>
            </a:pPr>
            <a:r>
              <a:rPr lang="en-US" sz="2500" b="1" dirty="0">
                <a:solidFill>
                  <a:srgbClr val="2E7D5B"/>
                </a:solidFill>
                <a:latin typeface="Cambria" pitchFamily="34" charset="0"/>
                <a:ea typeface="Cambria" pitchFamily="34" charset="-122"/>
                <a:cs typeface="Cambria" pitchFamily="34" charset="-120"/>
              </a:rPr>
              <a:t>6</a:t>
            </a:r>
            <a:endParaRPr lang="en-US" sz="2500" dirty="0"/>
          </a:p>
        </p:txBody>
      </p:sp>
      <p:sp>
        <p:nvSpPr>
          <p:cNvPr id="12" name="Text 10"/>
          <p:cNvSpPr/>
          <p:nvPr/>
        </p:nvSpPr>
        <p:spPr>
          <a:xfrm>
            <a:off x="6217920" y="2194560"/>
            <a:ext cx="2331720" cy="548640"/>
          </a:xfrm>
          <a:prstGeom prst="rect">
            <a:avLst/>
          </a:prstGeom>
          <a:noFill/>
          <a:ln/>
        </p:spPr>
        <p:txBody>
          <a:bodyPr wrap="square" lIns="0" tIns="0" rIns="0" bIns="0" rtlCol="0" anchor="ctr"/>
          <a:lstStyle/>
          <a:p>
            <a:pPr algn="ctr" indent="0" marL="0">
              <a:buNone/>
            </a:pPr>
            <a:r>
              <a:rPr lang="en-US" sz="900" dirty="0">
                <a:solidFill>
                  <a:srgbClr val="5B6F65"/>
                </a:solidFill>
                <a:latin typeface="Calibri" pitchFamily="34" charset="0"/>
                <a:ea typeface="Calibri" pitchFamily="34" charset="-122"/>
                <a:cs typeface="Calibri" pitchFamily="34" charset="-120"/>
              </a:rPr>
              <a:t>Real-world datasets cleaned &amp; analyzed</a:t>
            </a:r>
            <a:endParaRPr lang="en-US" sz="900" dirty="0"/>
          </a:p>
        </p:txBody>
      </p:sp>
      <p:sp>
        <p:nvSpPr>
          <p:cNvPr id="13" name="Shape 11"/>
          <p:cNvSpPr/>
          <p:nvPr/>
        </p:nvSpPr>
        <p:spPr>
          <a:xfrm>
            <a:off x="8869680" y="1463040"/>
            <a:ext cx="2606040" cy="1371600"/>
          </a:xfrm>
          <a:prstGeom prst="roundRect">
            <a:avLst>
              <a:gd name="adj" fmla="val 5333"/>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4" name="Text 12"/>
          <p:cNvSpPr/>
          <p:nvPr/>
        </p:nvSpPr>
        <p:spPr>
          <a:xfrm>
            <a:off x="8869680" y="1600200"/>
            <a:ext cx="2606040" cy="548640"/>
          </a:xfrm>
          <a:prstGeom prst="rect">
            <a:avLst/>
          </a:prstGeom>
          <a:noFill/>
          <a:ln/>
        </p:spPr>
        <p:txBody>
          <a:bodyPr wrap="square" lIns="0" tIns="0" rIns="0" bIns="0" rtlCol="0" anchor="ctr"/>
          <a:lstStyle/>
          <a:p>
            <a:pPr algn="ctr" indent="0" marL="0">
              <a:buNone/>
            </a:pPr>
            <a:r>
              <a:rPr lang="en-US" sz="2500" b="1" dirty="0">
                <a:solidFill>
                  <a:srgbClr val="2E7D5B"/>
                </a:solidFill>
                <a:latin typeface="Cambria" pitchFamily="34" charset="0"/>
                <a:ea typeface="Cambria" pitchFamily="34" charset="-122"/>
                <a:cs typeface="Cambria" pitchFamily="34" charset="-120"/>
              </a:rPr>
              <a:t>4</a:t>
            </a:r>
            <a:endParaRPr lang="en-US" sz="2500" dirty="0"/>
          </a:p>
        </p:txBody>
      </p:sp>
      <p:sp>
        <p:nvSpPr>
          <p:cNvPr id="15" name="Text 13"/>
          <p:cNvSpPr/>
          <p:nvPr/>
        </p:nvSpPr>
        <p:spPr>
          <a:xfrm>
            <a:off x="9006840" y="2194560"/>
            <a:ext cx="2331720" cy="548640"/>
          </a:xfrm>
          <a:prstGeom prst="rect">
            <a:avLst/>
          </a:prstGeom>
          <a:noFill/>
          <a:ln/>
        </p:spPr>
        <p:txBody>
          <a:bodyPr wrap="square" lIns="0" tIns="0" rIns="0" bIns="0" rtlCol="0" anchor="ctr"/>
          <a:lstStyle/>
          <a:p>
            <a:pPr algn="ctr" indent="0" marL="0">
              <a:buNone/>
            </a:pPr>
            <a:r>
              <a:rPr lang="en-US" sz="900" dirty="0">
                <a:solidFill>
                  <a:srgbClr val="5B6F65"/>
                </a:solidFill>
                <a:latin typeface="Calibri" pitchFamily="34" charset="0"/>
                <a:ea typeface="Calibri" pitchFamily="34" charset="-122"/>
                <a:cs typeface="Calibri" pitchFamily="34" charset="-120"/>
              </a:rPr>
              <a:t>Live API endpoints + a full web frontend in production</a:t>
            </a:r>
            <a:endParaRPr lang="en-US" sz="900" dirty="0"/>
          </a:p>
        </p:txBody>
      </p:sp>
      <p:sp>
        <p:nvSpPr>
          <p:cNvPr id="16" name="Shape 14"/>
          <p:cNvSpPr/>
          <p:nvPr/>
        </p:nvSpPr>
        <p:spPr>
          <a:xfrm>
            <a:off x="502920" y="3154680"/>
            <a:ext cx="3611880" cy="3063240"/>
          </a:xfrm>
          <a:prstGeom prst="roundRect">
            <a:avLst>
              <a:gd name="adj" fmla="val 2388"/>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7" name="Shape 15"/>
          <p:cNvSpPr/>
          <p:nvPr/>
        </p:nvSpPr>
        <p:spPr>
          <a:xfrm>
            <a:off x="704088" y="3355848"/>
            <a:ext cx="502920" cy="502920"/>
          </a:xfrm>
          <a:prstGeom prst="ellipse">
            <a:avLst/>
          </a:prstGeom>
          <a:solidFill>
            <a:srgbClr val="2E7D5B"/>
          </a:solidFill>
          <a:ln/>
        </p:spPr>
      </p:sp>
      <p:pic>
        <p:nvPicPr>
          <p:cNvPr id="18" name="Image 0" descr="/home/claude/greencycle_deck2/assets/FaLightbulb_white.png">    </p:cNvPr>
          <p:cNvPicPr>
            <a:picLocks noChangeAspect="1"/>
          </p:cNvPicPr>
          <p:nvPr/>
        </p:nvPicPr>
        <p:blipFill>
          <a:blip r:embed="rId1"/>
          <a:stretch>
            <a:fillRect/>
          </a:stretch>
        </p:blipFill>
        <p:spPr>
          <a:xfrm>
            <a:off x="769468" y="3421228"/>
            <a:ext cx="372161" cy="372161"/>
          </a:xfrm>
          <a:prstGeom prst="rect">
            <a:avLst/>
          </a:prstGeom>
        </p:spPr>
      </p:pic>
      <p:sp>
        <p:nvSpPr>
          <p:cNvPr id="19" name="Text 16"/>
          <p:cNvSpPr/>
          <p:nvPr/>
        </p:nvSpPr>
        <p:spPr>
          <a:xfrm>
            <a:off x="1325880" y="3337560"/>
            <a:ext cx="265176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Main Findings</a:t>
            </a:r>
            <a:endParaRPr lang="en-US" sz="1250" dirty="0"/>
          </a:p>
        </p:txBody>
      </p:sp>
      <p:sp>
        <p:nvSpPr>
          <p:cNvPr id="20" name="Text 17"/>
          <p:cNvSpPr/>
          <p:nvPr/>
        </p:nvSpPr>
        <p:spPr>
          <a:xfrm>
            <a:off x="704088" y="4023360"/>
            <a:ext cx="3209544" cy="2103120"/>
          </a:xfrm>
          <a:prstGeom prst="rect">
            <a:avLst/>
          </a:prstGeom>
          <a:noFill/>
          <a:ln/>
        </p:spPr>
        <p:txBody>
          <a:bodyPr wrap="square" lIns="0" tIns="0" rIns="0" bIns="0" rtlCol="0" anchor="ctr"/>
          <a:lstStyle/>
          <a:p>
            <a:pPr indent="0" marL="0">
              <a:buNone/>
            </a:pPr>
            <a:r>
              <a:rPr lang="en-US" sz="980" dirty="0">
                <a:solidFill>
                  <a:srgbClr val="5B6F65"/>
                </a:solidFill>
                <a:latin typeface="Calibri" pitchFamily="34" charset="0"/>
                <a:ea typeface="Calibri" pitchFamily="34" charset="-122"/>
                <a:cs typeface="Calibri" pitchFamily="34" charset="-120"/>
              </a:rPr>
              <a:t>Waste is dominated globally by open dumping, not recycling. Disposal method correlates measurably with air/water quality. Country identity is a very strong predictor of CO2 per capita — strong enough that it may be doing more work than the engineered features.</a:t>
            </a:r>
            <a:endParaRPr lang="en-US" sz="980" dirty="0"/>
          </a:p>
        </p:txBody>
      </p:sp>
      <p:sp>
        <p:nvSpPr>
          <p:cNvPr id="21" name="Shape 18"/>
          <p:cNvSpPr/>
          <p:nvPr/>
        </p:nvSpPr>
        <p:spPr>
          <a:xfrm>
            <a:off x="4334256" y="3154680"/>
            <a:ext cx="3611880" cy="3063240"/>
          </a:xfrm>
          <a:prstGeom prst="roundRect">
            <a:avLst>
              <a:gd name="adj" fmla="val 2388"/>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2" name="Shape 19"/>
          <p:cNvSpPr/>
          <p:nvPr/>
        </p:nvSpPr>
        <p:spPr>
          <a:xfrm>
            <a:off x="4535424" y="3355848"/>
            <a:ext cx="502920" cy="502920"/>
          </a:xfrm>
          <a:prstGeom prst="ellipse">
            <a:avLst/>
          </a:prstGeom>
          <a:solidFill>
            <a:srgbClr val="2E7D5B"/>
          </a:solidFill>
          <a:ln/>
        </p:spPr>
      </p:sp>
      <p:pic>
        <p:nvPicPr>
          <p:cNvPr id="23" name="Image 1" descr="/home/claude/greencycle_deck2/assets/FaFlagCheckered_white.png">    </p:cNvPr>
          <p:cNvPicPr>
            <a:picLocks noChangeAspect="1"/>
          </p:cNvPicPr>
          <p:nvPr/>
        </p:nvPicPr>
        <p:blipFill>
          <a:blip r:embed="rId2"/>
          <a:stretch>
            <a:fillRect/>
          </a:stretch>
        </p:blipFill>
        <p:spPr>
          <a:xfrm>
            <a:off x="4600804" y="3421228"/>
            <a:ext cx="372161" cy="372161"/>
          </a:xfrm>
          <a:prstGeom prst="rect">
            <a:avLst/>
          </a:prstGeom>
        </p:spPr>
      </p:pic>
      <p:sp>
        <p:nvSpPr>
          <p:cNvPr id="24" name="Text 20"/>
          <p:cNvSpPr/>
          <p:nvPr/>
        </p:nvSpPr>
        <p:spPr>
          <a:xfrm>
            <a:off x="5157216" y="3337560"/>
            <a:ext cx="265176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Selected Models &amp; Why</a:t>
            </a:r>
            <a:endParaRPr lang="en-US" sz="1250" dirty="0"/>
          </a:p>
        </p:txBody>
      </p:sp>
      <p:sp>
        <p:nvSpPr>
          <p:cNvPr id="25" name="Text 21"/>
          <p:cNvSpPr/>
          <p:nvPr/>
        </p:nvSpPr>
        <p:spPr>
          <a:xfrm>
            <a:off x="4535424" y="4023360"/>
            <a:ext cx="3209544" cy="2103120"/>
          </a:xfrm>
          <a:prstGeom prst="rect">
            <a:avLst/>
          </a:prstGeom>
          <a:noFill/>
          <a:ln/>
        </p:spPr>
        <p:txBody>
          <a:bodyPr wrap="square" lIns="0" tIns="0" rIns="0" bIns="0" rtlCol="0" anchor="ctr"/>
          <a:lstStyle/>
          <a:p>
            <a:pPr indent="0" marL="0">
              <a:buNone/>
            </a:pPr>
            <a:r>
              <a:rPr lang="en-US" sz="980" dirty="0">
                <a:solidFill>
                  <a:srgbClr val="5B6F65"/>
                </a:solidFill>
                <a:latin typeface="Calibri" pitchFamily="34" charset="0"/>
                <a:ea typeface="Calibri" pitchFamily="34" charset="-122"/>
                <a:cs typeface="Calibri" pitchFamily="34" charset="-120"/>
              </a:rPr>
              <a:t>Ridge Regression for CO2 (highest test R²); MobileNetV2 for image classification (practical CPU training, strong accuracy for a 10-class problem).</a:t>
            </a:r>
            <a:endParaRPr lang="en-US" sz="980" dirty="0"/>
          </a:p>
        </p:txBody>
      </p:sp>
      <p:sp>
        <p:nvSpPr>
          <p:cNvPr id="26" name="Shape 22"/>
          <p:cNvSpPr/>
          <p:nvPr/>
        </p:nvSpPr>
        <p:spPr>
          <a:xfrm>
            <a:off x="8165592" y="3154680"/>
            <a:ext cx="3611880" cy="3063240"/>
          </a:xfrm>
          <a:prstGeom prst="roundRect">
            <a:avLst>
              <a:gd name="adj" fmla="val 2388"/>
            </a:avLst>
          </a:prstGeom>
          <a:solidFill>
            <a:srgbClr val="FFFFFF"/>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7" name="Shape 23"/>
          <p:cNvSpPr/>
          <p:nvPr/>
        </p:nvSpPr>
        <p:spPr>
          <a:xfrm>
            <a:off x="8366760" y="3355848"/>
            <a:ext cx="502920" cy="502920"/>
          </a:xfrm>
          <a:prstGeom prst="ellipse">
            <a:avLst/>
          </a:prstGeom>
          <a:solidFill>
            <a:srgbClr val="2E7D5B"/>
          </a:solidFill>
          <a:ln/>
        </p:spPr>
      </p:sp>
      <p:pic>
        <p:nvPicPr>
          <p:cNvPr id="28" name="Image 2" descr="/home/claude/greencycle_deck2/assets/FaGlobeAmericas_white.png">    </p:cNvPr>
          <p:cNvPicPr>
            <a:picLocks noChangeAspect="1"/>
          </p:cNvPicPr>
          <p:nvPr/>
        </p:nvPicPr>
        <p:blipFill>
          <a:blip r:embed="rId3"/>
          <a:stretch>
            <a:fillRect/>
          </a:stretch>
        </p:blipFill>
        <p:spPr>
          <a:xfrm>
            <a:off x="8432140" y="3421228"/>
            <a:ext cx="372161" cy="372161"/>
          </a:xfrm>
          <a:prstGeom prst="rect">
            <a:avLst/>
          </a:prstGeom>
        </p:spPr>
      </p:pic>
      <p:sp>
        <p:nvSpPr>
          <p:cNvPr id="29" name="Text 24"/>
          <p:cNvSpPr/>
          <p:nvPr/>
        </p:nvSpPr>
        <p:spPr>
          <a:xfrm>
            <a:off x="8988552" y="3337560"/>
            <a:ext cx="265176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Impact &amp; Lessons Learned</a:t>
            </a:r>
            <a:endParaRPr lang="en-US" sz="1250" dirty="0"/>
          </a:p>
        </p:txBody>
      </p:sp>
      <p:sp>
        <p:nvSpPr>
          <p:cNvPr id="30" name="Text 25"/>
          <p:cNvSpPr/>
          <p:nvPr/>
        </p:nvSpPr>
        <p:spPr>
          <a:xfrm>
            <a:off x="8366760" y="4023360"/>
            <a:ext cx="3209544" cy="2103120"/>
          </a:xfrm>
          <a:prstGeom prst="rect">
            <a:avLst/>
          </a:prstGeom>
          <a:noFill/>
          <a:ln/>
        </p:spPr>
        <p:txBody>
          <a:bodyPr wrap="square" lIns="0" tIns="0" rIns="0" bIns="0" rtlCol="0" anchor="ctr"/>
          <a:lstStyle/>
          <a:p>
            <a:pPr indent="0" marL="0">
              <a:buNone/>
            </a:pPr>
            <a:r>
              <a:rPr lang="en-US" sz="980" dirty="0">
                <a:solidFill>
                  <a:srgbClr val="5B6F65"/>
                </a:solidFill>
                <a:latin typeface="Calibri" pitchFamily="34" charset="0"/>
                <a:ea typeface="Calibri" pitchFamily="34" charset="-122"/>
                <a:cs typeface="Calibri" pitchFamily="34" charset="-120"/>
              </a:rPr>
              <a:t>The live API and frontend already answer real environmental questions. Key lesson: a working demo and a trained model are not automatically the same system — connecting them is its own engineering task.</a:t>
            </a:r>
            <a:endParaRPr lang="en-US" sz="980" dirty="0"/>
          </a:p>
        </p:txBody>
      </p:sp>
      <p:sp>
        <p:nvSpPr>
          <p:cNvPr id="31" name="Text 26"/>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3D2E"/>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8FD9B6"/>
                </a:solidFill>
                <a:latin typeface="Calibri" pitchFamily="34" charset="0"/>
                <a:ea typeface="Calibri" pitchFamily="34" charset="-122"/>
                <a:cs typeface="Calibri" pitchFamily="34" charset="-120"/>
              </a:rPr>
              <a:t>11. LIVE DEMO</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See It Work, End to End</a:t>
            </a:r>
            <a:endParaRPr lang="en-US" sz="3000" dirty="0"/>
          </a:p>
        </p:txBody>
      </p:sp>
      <p:sp>
        <p:nvSpPr>
          <p:cNvPr id="4" name="Shape 2"/>
          <p:cNvSpPr/>
          <p:nvPr/>
        </p:nvSpPr>
        <p:spPr>
          <a:xfrm>
            <a:off x="516636" y="1508760"/>
            <a:ext cx="2514600" cy="1554480"/>
          </a:xfrm>
          <a:prstGeom prst="roundRect">
            <a:avLst>
              <a:gd name="adj" fmla="val 5294"/>
            </a:avLst>
          </a:prstGeom>
          <a:solidFill>
            <a:srgbClr val="16493A"/>
          </a:solidFill>
          <a:ln/>
        </p:spPr>
      </p:sp>
      <p:sp>
        <p:nvSpPr>
          <p:cNvPr id="5" name="Shape 3"/>
          <p:cNvSpPr/>
          <p:nvPr/>
        </p:nvSpPr>
        <p:spPr>
          <a:xfrm>
            <a:off x="1522476" y="1691640"/>
            <a:ext cx="502920" cy="502920"/>
          </a:xfrm>
          <a:prstGeom prst="ellipse">
            <a:avLst/>
          </a:prstGeom>
          <a:solidFill>
            <a:srgbClr val="2E7D5B"/>
          </a:solidFill>
          <a:ln/>
        </p:spPr>
      </p:sp>
      <p:pic>
        <p:nvPicPr>
          <p:cNvPr id="6" name="Image 0" descr="/home/claude/greencycle_deck2/assets/FaUsers_white.png">    </p:cNvPr>
          <p:cNvPicPr>
            <a:picLocks noChangeAspect="1"/>
          </p:cNvPicPr>
          <p:nvPr/>
        </p:nvPicPr>
        <p:blipFill>
          <a:blip r:embed="rId1"/>
          <a:stretch>
            <a:fillRect/>
          </a:stretch>
        </p:blipFill>
        <p:spPr>
          <a:xfrm>
            <a:off x="1587856" y="1757020"/>
            <a:ext cx="372161" cy="372161"/>
          </a:xfrm>
          <a:prstGeom prst="rect">
            <a:avLst/>
          </a:prstGeom>
        </p:spPr>
      </p:pic>
      <p:sp>
        <p:nvSpPr>
          <p:cNvPr id="7" name="Text 4"/>
          <p:cNvSpPr/>
          <p:nvPr/>
        </p:nvSpPr>
        <p:spPr>
          <a:xfrm>
            <a:off x="626364" y="2313432"/>
            <a:ext cx="229514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User Input</a:t>
            </a:r>
            <a:endParaRPr lang="en-US" sz="1200" dirty="0"/>
          </a:p>
        </p:txBody>
      </p:sp>
      <p:sp>
        <p:nvSpPr>
          <p:cNvPr id="8" name="Text 5"/>
          <p:cNvSpPr/>
          <p:nvPr/>
        </p:nvSpPr>
        <p:spPr>
          <a:xfrm>
            <a:off x="653796" y="2660904"/>
            <a:ext cx="2240280" cy="365760"/>
          </a:xfrm>
          <a:prstGeom prst="rect">
            <a:avLst/>
          </a:prstGeom>
          <a:noFill/>
          <a:ln/>
        </p:spPr>
        <p:txBody>
          <a:bodyPr wrap="square" lIns="0" tIns="0" rIns="0" bIns="0" rtlCol="0" anchor="ctr"/>
          <a:lstStyle/>
          <a:p>
            <a:pPr algn="ctr" indent="0" marL="0">
              <a:buNone/>
            </a:pPr>
            <a:r>
              <a:rPr lang="en-US" sz="850" dirty="0">
                <a:solidFill>
                  <a:srgbClr val="9FC9B3"/>
                </a:solidFill>
                <a:latin typeface="Calibri" pitchFamily="34" charset="0"/>
                <a:ea typeface="Calibri" pitchFamily="34" charset="-122"/>
                <a:cs typeface="Calibri" pitchFamily="34" charset="-120"/>
              </a:rPr>
              <a:t>Photo, city stats, or a question</a:t>
            </a:r>
            <a:endParaRPr lang="en-US" sz="850" dirty="0"/>
          </a:p>
        </p:txBody>
      </p:sp>
      <p:pic>
        <p:nvPicPr>
          <p:cNvPr id="9" name="Image 1" descr="/home/claude/greencycle_deck2/assets/FaArrowRight_mint.png">    </p:cNvPr>
          <p:cNvPicPr>
            <a:picLocks noChangeAspect="1"/>
          </p:cNvPicPr>
          <p:nvPr/>
        </p:nvPicPr>
        <p:blipFill>
          <a:blip r:embed="rId2"/>
          <a:stretch>
            <a:fillRect/>
          </a:stretch>
        </p:blipFill>
        <p:spPr>
          <a:xfrm>
            <a:off x="3076956" y="2167128"/>
            <a:ext cx="256032" cy="256032"/>
          </a:xfrm>
          <a:prstGeom prst="rect">
            <a:avLst/>
          </a:prstGeom>
        </p:spPr>
      </p:pic>
      <p:sp>
        <p:nvSpPr>
          <p:cNvPr id="10" name="Shape 6"/>
          <p:cNvSpPr/>
          <p:nvPr/>
        </p:nvSpPr>
        <p:spPr>
          <a:xfrm>
            <a:off x="3396996" y="1508760"/>
            <a:ext cx="2514600" cy="1554480"/>
          </a:xfrm>
          <a:prstGeom prst="roundRect">
            <a:avLst>
              <a:gd name="adj" fmla="val 5294"/>
            </a:avLst>
          </a:prstGeom>
          <a:solidFill>
            <a:srgbClr val="16493A"/>
          </a:solidFill>
          <a:ln/>
        </p:spPr>
      </p:sp>
      <p:sp>
        <p:nvSpPr>
          <p:cNvPr id="11" name="Shape 7"/>
          <p:cNvSpPr/>
          <p:nvPr/>
        </p:nvSpPr>
        <p:spPr>
          <a:xfrm>
            <a:off x="4402836" y="1691640"/>
            <a:ext cx="502920" cy="502920"/>
          </a:xfrm>
          <a:prstGeom prst="ellipse">
            <a:avLst/>
          </a:prstGeom>
          <a:solidFill>
            <a:srgbClr val="2E7D5B"/>
          </a:solidFill>
          <a:ln/>
        </p:spPr>
      </p:sp>
      <p:pic>
        <p:nvPicPr>
          <p:cNvPr id="12" name="Image 2" descr="/home/claude/greencycle_deck2/assets/FaNetworkWired_white.png">    </p:cNvPr>
          <p:cNvPicPr>
            <a:picLocks noChangeAspect="1"/>
          </p:cNvPicPr>
          <p:nvPr/>
        </p:nvPicPr>
        <p:blipFill>
          <a:blip r:embed="rId3"/>
          <a:stretch>
            <a:fillRect/>
          </a:stretch>
        </p:blipFill>
        <p:spPr>
          <a:xfrm>
            <a:off x="4468216" y="1757020"/>
            <a:ext cx="372161" cy="372161"/>
          </a:xfrm>
          <a:prstGeom prst="rect">
            <a:avLst/>
          </a:prstGeom>
        </p:spPr>
      </p:pic>
      <p:sp>
        <p:nvSpPr>
          <p:cNvPr id="13" name="Text 8"/>
          <p:cNvSpPr/>
          <p:nvPr/>
        </p:nvSpPr>
        <p:spPr>
          <a:xfrm>
            <a:off x="3506724" y="2313432"/>
            <a:ext cx="229514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API Request</a:t>
            </a:r>
            <a:endParaRPr lang="en-US" sz="1200" dirty="0"/>
          </a:p>
        </p:txBody>
      </p:sp>
      <p:sp>
        <p:nvSpPr>
          <p:cNvPr id="14" name="Text 9"/>
          <p:cNvSpPr/>
          <p:nvPr/>
        </p:nvSpPr>
        <p:spPr>
          <a:xfrm>
            <a:off x="3534156" y="2660904"/>
            <a:ext cx="2240280" cy="365760"/>
          </a:xfrm>
          <a:prstGeom prst="rect">
            <a:avLst/>
          </a:prstGeom>
          <a:noFill/>
          <a:ln/>
        </p:spPr>
        <p:txBody>
          <a:bodyPr wrap="square" lIns="0" tIns="0" rIns="0" bIns="0" rtlCol="0" anchor="ctr"/>
          <a:lstStyle/>
          <a:p>
            <a:pPr algn="ctr" indent="0" marL="0">
              <a:buNone/>
            </a:pPr>
            <a:r>
              <a:rPr lang="en-US" sz="850" dirty="0">
                <a:solidFill>
                  <a:srgbClr val="9FC9B3"/>
                </a:solidFill>
                <a:latin typeface="Calibri" pitchFamily="34" charset="0"/>
                <a:ea typeface="Calibri" pitchFamily="34" charset="-122"/>
                <a:cs typeface="Calibri" pitchFamily="34" charset="-120"/>
              </a:rPr>
              <a:t>Sent from the Next.js frontend to FastAPI</a:t>
            </a:r>
            <a:endParaRPr lang="en-US" sz="850" dirty="0"/>
          </a:p>
        </p:txBody>
      </p:sp>
      <p:pic>
        <p:nvPicPr>
          <p:cNvPr id="15" name="Image 3" descr="/home/claude/greencycle_deck2/assets/FaArrowRight_mint.png">    </p:cNvPr>
          <p:cNvPicPr>
            <a:picLocks noChangeAspect="1"/>
          </p:cNvPicPr>
          <p:nvPr/>
        </p:nvPicPr>
        <p:blipFill>
          <a:blip r:embed="rId4"/>
          <a:stretch>
            <a:fillRect/>
          </a:stretch>
        </p:blipFill>
        <p:spPr>
          <a:xfrm>
            <a:off x="5957316" y="2167128"/>
            <a:ext cx="256032" cy="256032"/>
          </a:xfrm>
          <a:prstGeom prst="rect">
            <a:avLst/>
          </a:prstGeom>
        </p:spPr>
      </p:pic>
      <p:sp>
        <p:nvSpPr>
          <p:cNvPr id="16" name="Shape 10"/>
          <p:cNvSpPr/>
          <p:nvPr/>
        </p:nvSpPr>
        <p:spPr>
          <a:xfrm>
            <a:off x="6277356" y="1508760"/>
            <a:ext cx="2514600" cy="1554480"/>
          </a:xfrm>
          <a:prstGeom prst="roundRect">
            <a:avLst>
              <a:gd name="adj" fmla="val 5294"/>
            </a:avLst>
          </a:prstGeom>
          <a:solidFill>
            <a:srgbClr val="16493A"/>
          </a:solidFill>
          <a:ln/>
        </p:spPr>
      </p:sp>
      <p:sp>
        <p:nvSpPr>
          <p:cNvPr id="17" name="Shape 11"/>
          <p:cNvSpPr/>
          <p:nvPr/>
        </p:nvSpPr>
        <p:spPr>
          <a:xfrm>
            <a:off x="7283196" y="1691640"/>
            <a:ext cx="502920" cy="502920"/>
          </a:xfrm>
          <a:prstGeom prst="ellipse">
            <a:avLst/>
          </a:prstGeom>
          <a:solidFill>
            <a:srgbClr val="2E7D5B"/>
          </a:solidFill>
          <a:ln/>
        </p:spPr>
      </p:sp>
      <p:pic>
        <p:nvPicPr>
          <p:cNvPr id="18" name="Image 4" descr="/home/claude/greencycle_deck2/assets/FaBrain_white.png">    </p:cNvPr>
          <p:cNvPicPr>
            <a:picLocks noChangeAspect="1"/>
          </p:cNvPicPr>
          <p:nvPr/>
        </p:nvPicPr>
        <p:blipFill>
          <a:blip r:embed="rId5"/>
          <a:stretch>
            <a:fillRect/>
          </a:stretch>
        </p:blipFill>
        <p:spPr>
          <a:xfrm>
            <a:off x="7348576" y="1757020"/>
            <a:ext cx="372161" cy="372161"/>
          </a:xfrm>
          <a:prstGeom prst="rect">
            <a:avLst/>
          </a:prstGeom>
        </p:spPr>
      </p:pic>
      <p:sp>
        <p:nvSpPr>
          <p:cNvPr id="19" name="Text 12"/>
          <p:cNvSpPr/>
          <p:nvPr/>
        </p:nvSpPr>
        <p:spPr>
          <a:xfrm>
            <a:off x="6387084" y="2313432"/>
            <a:ext cx="229514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Model / LLM Response</a:t>
            </a:r>
            <a:endParaRPr lang="en-US" sz="1200" dirty="0"/>
          </a:p>
        </p:txBody>
      </p:sp>
      <p:sp>
        <p:nvSpPr>
          <p:cNvPr id="20" name="Text 13"/>
          <p:cNvSpPr/>
          <p:nvPr/>
        </p:nvSpPr>
        <p:spPr>
          <a:xfrm>
            <a:off x="6414516" y="2660904"/>
            <a:ext cx="2240280" cy="365760"/>
          </a:xfrm>
          <a:prstGeom prst="rect">
            <a:avLst/>
          </a:prstGeom>
          <a:noFill/>
          <a:ln/>
        </p:spPr>
        <p:txBody>
          <a:bodyPr wrap="square" lIns="0" tIns="0" rIns="0" bIns="0" rtlCol="0" anchor="ctr"/>
          <a:lstStyle/>
          <a:p>
            <a:pPr algn="ctr" indent="0" marL="0">
              <a:buNone/>
            </a:pPr>
            <a:r>
              <a:rPr lang="en-US" sz="850" dirty="0">
                <a:solidFill>
                  <a:srgbClr val="9FC9B3"/>
                </a:solidFill>
                <a:latin typeface="Calibri" pitchFamily="34" charset="0"/>
                <a:ea typeface="Calibri" pitchFamily="34" charset="-122"/>
                <a:cs typeface="Calibri" pitchFamily="34" charset="-120"/>
              </a:rPr>
              <a:t>Groq LLM replies (see Deployment slide)</a:t>
            </a:r>
            <a:endParaRPr lang="en-US" sz="850" dirty="0"/>
          </a:p>
        </p:txBody>
      </p:sp>
      <p:pic>
        <p:nvPicPr>
          <p:cNvPr id="21" name="Image 5" descr="/home/claude/greencycle_deck2/assets/FaArrowRight_mint.png">    </p:cNvPr>
          <p:cNvPicPr>
            <a:picLocks noChangeAspect="1"/>
          </p:cNvPicPr>
          <p:nvPr/>
        </p:nvPicPr>
        <p:blipFill>
          <a:blip r:embed="rId6"/>
          <a:stretch>
            <a:fillRect/>
          </a:stretch>
        </p:blipFill>
        <p:spPr>
          <a:xfrm>
            <a:off x="8837676" y="2167128"/>
            <a:ext cx="256032" cy="256032"/>
          </a:xfrm>
          <a:prstGeom prst="rect">
            <a:avLst/>
          </a:prstGeom>
        </p:spPr>
      </p:pic>
      <p:sp>
        <p:nvSpPr>
          <p:cNvPr id="22" name="Shape 14"/>
          <p:cNvSpPr/>
          <p:nvPr/>
        </p:nvSpPr>
        <p:spPr>
          <a:xfrm>
            <a:off x="9157716" y="1508760"/>
            <a:ext cx="2514600" cy="1554480"/>
          </a:xfrm>
          <a:prstGeom prst="roundRect">
            <a:avLst>
              <a:gd name="adj" fmla="val 5294"/>
            </a:avLst>
          </a:prstGeom>
          <a:solidFill>
            <a:srgbClr val="16493A"/>
          </a:solidFill>
          <a:ln/>
        </p:spPr>
      </p:sp>
      <p:sp>
        <p:nvSpPr>
          <p:cNvPr id="23" name="Shape 15"/>
          <p:cNvSpPr/>
          <p:nvPr/>
        </p:nvSpPr>
        <p:spPr>
          <a:xfrm>
            <a:off x="10163556" y="1691640"/>
            <a:ext cx="502920" cy="502920"/>
          </a:xfrm>
          <a:prstGeom prst="ellipse">
            <a:avLst/>
          </a:prstGeom>
          <a:solidFill>
            <a:srgbClr val="2E7D5B"/>
          </a:solidFill>
          <a:ln/>
        </p:spPr>
      </p:sp>
      <p:pic>
        <p:nvPicPr>
          <p:cNvPr id="24" name="Image 6" descr="/home/claude/greencycle_deck2/assets/FaCheckCircle_white.png">    </p:cNvPr>
          <p:cNvPicPr>
            <a:picLocks noChangeAspect="1"/>
          </p:cNvPicPr>
          <p:nvPr/>
        </p:nvPicPr>
        <p:blipFill>
          <a:blip r:embed="rId7"/>
          <a:stretch>
            <a:fillRect/>
          </a:stretch>
        </p:blipFill>
        <p:spPr>
          <a:xfrm>
            <a:off x="10228936" y="1757020"/>
            <a:ext cx="372161" cy="372161"/>
          </a:xfrm>
          <a:prstGeom prst="rect">
            <a:avLst/>
          </a:prstGeom>
        </p:spPr>
      </p:pic>
      <p:sp>
        <p:nvSpPr>
          <p:cNvPr id="25" name="Text 16"/>
          <p:cNvSpPr/>
          <p:nvPr/>
        </p:nvSpPr>
        <p:spPr>
          <a:xfrm>
            <a:off x="9267444" y="2313432"/>
            <a:ext cx="229514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Displayed Result</a:t>
            </a:r>
            <a:endParaRPr lang="en-US" sz="1200" dirty="0"/>
          </a:p>
        </p:txBody>
      </p:sp>
      <p:sp>
        <p:nvSpPr>
          <p:cNvPr id="26" name="Text 17"/>
          <p:cNvSpPr/>
          <p:nvPr/>
        </p:nvSpPr>
        <p:spPr>
          <a:xfrm>
            <a:off x="9294876" y="2660904"/>
            <a:ext cx="2240280" cy="365760"/>
          </a:xfrm>
          <a:prstGeom prst="rect">
            <a:avLst/>
          </a:prstGeom>
          <a:noFill/>
          <a:ln/>
        </p:spPr>
        <p:txBody>
          <a:bodyPr wrap="square" lIns="0" tIns="0" rIns="0" bIns="0" rtlCol="0" anchor="ctr"/>
          <a:lstStyle/>
          <a:p>
            <a:pPr algn="ctr" indent="0" marL="0">
              <a:buNone/>
            </a:pPr>
            <a:r>
              <a:rPr lang="en-US" sz="850" dirty="0">
                <a:solidFill>
                  <a:srgbClr val="9FC9B3"/>
                </a:solidFill>
                <a:latin typeface="Calibri" pitchFamily="34" charset="0"/>
                <a:ea typeface="Calibri" pitchFamily="34" charset="-122"/>
                <a:cs typeface="Calibri" pitchFamily="34" charset="-120"/>
              </a:rPr>
              <a:t>Rendered instantly in the web app</a:t>
            </a:r>
            <a:endParaRPr lang="en-US" sz="850" dirty="0"/>
          </a:p>
        </p:txBody>
      </p:sp>
      <p:sp>
        <p:nvSpPr>
          <p:cNvPr id="27" name="Shape 18"/>
          <p:cNvSpPr/>
          <p:nvPr/>
        </p:nvSpPr>
        <p:spPr>
          <a:xfrm>
            <a:off x="502920" y="3429000"/>
            <a:ext cx="11201400" cy="2743200"/>
          </a:xfrm>
          <a:prstGeom prst="roundRect">
            <a:avLst>
              <a:gd name="adj" fmla="val 2667"/>
            </a:avLst>
          </a:prstGeom>
          <a:solidFill>
            <a:srgbClr val="16493A"/>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8" name="Text 19"/>
          <p:cNvSpPr/>
          <p:nvPr/>
        </p:nvSpPr>
        <p:spPr>
          <a:xfrm>
            <a:off x="777240" y="3611880"/>
            <a:ext cx="9144000" cy="365760"/>
          </a:xfrm>
          <a:prstGeom prst="rect">
            <a:avLst/>
          </a:prstGeom>
          <a:noFill/>
          <a:ln/>
        </p:spPr>
        <p:txBody>
          <a:bodyPr wrap="square" lIns="0" tIns="0" rIns="0" bIns="0" rtlCol="0" anchor="ctr"/>
          <a:lstStyle/>
          <a:p>
            <a:pPr indent="0" marL="0">
              <a:buNone/>
            </a:pPr>
            <a:r>
              <a:rPr lang="en-US" sz="1350" b="1" dirty="0">
                <a:solidFill>
                  <a:srgbClr val="8FD9B6"/>
                </a:solidFill>
                <a:latin typeface="Cambria" pitchFamily="34" charset="0"/>
                <a:ea typeface="Cambria" pitchFamily="34" charset="-122"/>
                <a:cs typeface="Cambria" pitchFamily="34" charset="-120"/>
              </a:rPr>
              <a:t>The application: 7 connected pages, built and verified in this project</a:t>
            </a:r>
            <a:endParaRPr lang="en-US" sz="1350" dirty="0"/>
          </a:p>
        </p:txBody>
      </p:sp>
      <p:sp>
        <p:nvSpPr>
          <p:cNvPr id="29" name="Text 20"/>
          <p:cNvSpPr/>
          <p:nvPr/>
        </p:nvSpPr>
        <p:spPr>
          <a:xfrm>
            <a:off x="777240" y="4114800"/>
            <a:ext cx="3520440" cy="868680"/>
          </a:xfrm>
          <a:prstGeom prst="rect">
            <a:avLst/>
          </a:prstGeom>
          <a:noFill/>
          <a:ln/>
        </p:spPr>
        <p:txBody>
          <a:bodyPr wrap="square" lIns="0" tIns="0" rIns="0" bIns="0" rtlCol="0" anchor="t"/>
          <a:lstStyle/>
          <a:p>
            <a:pPr indent="0" marL="0">
              <a:buNone/>
            </a:pPr>
            <a:r>
              <a:rPr lang="en-US" sz="1150" b="1" dirty="0">
                <a:solidFill>
                  <a:srgbClr val="8FD9B6"/>
                </a:solidFill>
                <a:latin typeface="Calibri" pitchFamily="34" charset="0"/>
                <a:ea typeface="Calibri" pitchFamily="34" charset="-122"/>
                <a:cs typeface="Calibri" pitchFamily="34" charset="-120"/>
              </a:rPr>
              <a:t>Landing + Dashboard
</a:t>
            </a:r>
            <a:endParaRPr lang="en-US" sz="1150" dirty="0"/>
          </a:p>
          <a:p>
            <a:pPr indent="0" marL="0">
              <a:buNone/>
            </a:pPr>
            <a:r>
              <a:rPr lang="en-US" sz="930" dirty="0">
                <a:solidFill>
                  <a:srgbClr val="D7ECE1"/>
                </a:solidFill>
                <a:latin typeface="Calibri" pitchFamily="34" charset="0"/>
                <a:ea typeface="Calibri" pitchFamily="34" charset="-122"/>
                <a:cs typeface="Calibri" pitchFamily="34" charset="-120"/>
              </a:rPr>
              <a:t>Brand-matched homepage and a central hub linking to all 3 AI tools</a:t>
            </a:r>
            <a:endParaRPr lang="en-US" sz="1150" dirty="0"/>
          </a:p>
        </p:txBody>
      </p:sp>
      <p:sp>
        <p:nvSpPr>
          <p:cNvPr id="30" name="Text 21"/>
          <p:cNvSpPr/>
          <p:nvPr/>
        </p:nvSpPr>
        <p:spPr>
          <a:xfrm>
            <a:off x="4480560" y="4114800"/>
            <a:ext cx="3520440" cy="868680"/>
          </a:xfrm>
          <a:prstGeom prst="rect">
            <a:avLst/>
          </a:prstGeom>
          <a:noFill/>
          <a:ln/>
        </p:spPr>
        <p:txBody>
          <a:bodyPr wrap="square" lIns="0" tIns="0" rIns="0" bIns="0" rtlCol="0" anchor="t"/>
          <a:lstStyle/>
          <a:p>
            <a:pPr indent="0" marL="0">
              <a:buNone/>
            </a:pPr>
            <a:r>
              <a:rPr lang="en-US" sz="1150" b="1" dirty="0">
                <a:solidFill>
                  <a:srgbClr val="8FD9B6"/>
                </a:solidFill>
                <a:latin typeface="Calibri" pitchFamily="34" charset="0"/>
                <a:ea typeface="Calibri" pitchFamily="34" charset="-122"/>
                <a:cs typeface="Calibri" pitchFamily="34" charset="-120"/>
              </a:rPr>
              <a:t>City Simulator
</a:t>
            </a:r>
            <a:endParaRPr lang="en-US" sz="1150" dirty="0"/>
          </a:p>
          <a:p>
            <a:pPr indent="0" marL="0">
              <a:buNone/>
            </a:pPr>
            <a:r>
              <a:rPr lang="en-US" sz="930" dirty="0">
                <a:solidFill>
                  <a:srgbClr val="D7ECE1"/>
                </a:solidFill>
                <a:latin typeface="Calibri" pitchFamily="34" charset="0"/>
                <a:ea typeface="Calibri" pitchFamily="34" charset="-122"/>
                <a:cs typeface="Calibri" pitchFamily="34" charset="-120"/>
              </a:rPr>
              <a:t>5-field form → live CO2/AQI simulation via /api/simulate-city</a:t>
            </a:r>
            <a:endParaRPr lang="en-US" sz="1150" dirty="0"/>
          </a:p>
        </p:txBody>
      </p:sp>
      <p:sp>
        <p:nvSpPr>
          <p:cNvPr id="31" name="Text 22"/>
          <p:cNvSpPr/>
          <p:nvPr/>
        </p:nvSpPr>
        <p:spPr>
          <a:xfrm>
            <a:off x="8183880" y="4114800"/>
            <a:ext cx="3520440" cy="868680"/>
          </a:xfrm>
          <a:prstGeom prst="rect">
            <a:avLst/>
          </a:prstGeom>
          <a:noFill/>
          <a:ln/>
        </p:spPr>
        <p:txBody>
          <a:bodyPr wrap="square" lIns="0" tIns="0" rIns="0" bIns="0" rtlCol="0" anchor="t"/>
          <a:lstStyle/>
          <a:p>
            <a:pPr indent="0" marL="0">
              <a:buNone/>
            </a:pPr>
            <a:r>
              <a:rPr lang="en-US" sz="1150" b="1" dirty="0">
                <a:solidFill>
                  <a:srgbClr val="8FD9B6"/>
                </a:solidFill>
                <a:latin typeface="Calibri" pitchFamily="34" charset="0"/>
                <a:ea typeface="Calibri" pitchFamily="34" charset="-122"/>
                <a:cs typeface="Calibri" pitchFamily="34" charset="-120"/>
              </a:rPr>
              <a:t>Vision Lab
</a:t>
            </a:r>
            <a:endParaRPr lang="en-US" sz="1150" dirty="0"/>
          </a:p>
          <a:p>
            <a:pPr indent="0" marL="0">
              <a:buNone/>
            </a:pPr>
            <a:r>
              <a:rPr lang="en-US" sz="930" dirty="0">
                <a:solidFill>
                  <a:srgbClr val="D7ECE1"/>
                </a:solidFill>
                <a:latin typeface="Calibri" pitchFamily="34" charset="0"/>
                <a:ea typeface="Calibri" pitchFamily="34" charset="-122"/>
                <a:cs typeface="Calibri" pitchFamily="34" charset="-120"/>
              </a:rPr>
              <a:t>Upload/capture a photo → pollution or recycling analysis (2 tabs, 2 endpoints)</a:t>
            </a:r>
            <a:endParaRPr lang="en-US" sz="1150" dirty="0"/>
          </a:p>
        </p:txBody>
      </p:sp>
      <p:sp>
        <p:nvSpPr>
          <p:cNvPr id="32" name="Text 23"/>
          <p:cNvSpPr/>
          <p:nvPr/>
        </p:nvSpPr>
        <p:spPr>
          <a:xfrm>
            <a:off x="777240" y="5029200"/>
            <a:ext cx="3520440" cy="868680"/>
          </a:xfrm>
          <a:prstGeom prst="rect">
            <a:avLst/>
          </a:prstGeom>
          <a:noFill/>
          <a:ln/>
        </p:spPr>
        <p:txBody>
          <a:bodyPr wrap="square" lIns="0" tIns="0" rIns="0" bIns="0" rtlCol="0" anchor="t"/>
          <a:lstStyle/>
          <a:p>
            <a:pPr indent="0" marL="0">
              <a:buNone/>
            </a:pPr>
            <a:r>
              <a:rPr lang="en-US" sz="1150" b="1" dirty="0">
                <a:solidFill>
                  <a:srgbClr val="8FD9B6"/>
                </a:solidFill>
                <a:latin typeface="Calibri" pitchFamily="34" charset="0"/>
                <a:ea typeface="Calibri" pitchFamily="34" charset="-122"/>
                <a:cs typeface="Calibri" pitchFamily="34" charset="-120"/>
              </a:rPr>
              <a:t>AI Chatbot
</a:t>
            </a:r>
            <a:endParaRPr lang="en-US" sz="1150" dirty="0"/>
          </a:p>
          <a:p>
            <a:pPr indent="0" marL="0">
              <a:buNone/>
            </a:pPr>
            <a:r>
              <a:rPr lang="en-US" sz="930" dirty="0">
                <a:solidFill>
                  <a:srgbClr val="D7ECE1"/>
                </a:solidFill>
                <a:latin typeface="Calibri" pitchFamily="34" charset="0"/>
                <a:ea typeface="Calibri" pitchFamily="34" charset="-122"/>
                <a:cs typeface="Calibri" pitchFamily="34" charset="-120"/>
              </a:rPr>
              <a:t>Free-form eco question → grounded answer via /api/chat</a:t>
            </a:r>
            <a:endParaRPr lang="en-US" sz="1150" dirty="0"/>
          </a:p>
        </p:txBody>
      </p:sp>
      <p:sp>
        <p:nvSpPr>
          <p:cNvPr id="33" name="Text 24"/>
          <p:cNvSpPr/>
          <p:nvPr/>
        </p:nvSpPr>
        <p:spPr>
          <a:xfrm>
            <a:off x="4480560" y="5029200"/>
            <a:ext cx="3520440" cy="868680"/>
          </a:xfrm>
          <a:prstGeom prst="rect">
            <a:avLst/>
          </a:prstGeom>
          <a:noFill/>
          <a:ln/>
        </p:spPr>
        <p:txBody>
          <a:bodyPr wrap="square" lIns="0" tIns="0" rIns="0" bIns="0" rtlCol="0" anchor="t"/>
          <a:lstStyle/>
          <a:p>
            <a:pPr indent="0" marL="0">
              <a:buNone/>
            </a:pPr>
            <a:r>
              <a:rPr lang="en-US" sz="1150" b="1" dirty="0">
                <a:solidFill>
                  <a:srgbClr val="8FD9B6"/>
                </a:solidFill>
                <a:latin typeface="Calibri" pitchFamily="34" charset="0"/>
                <a:ea typeface="Calibri" pitchFamily="34" charset="-122"/>
                <a:cs typeface="Calibri" pitchFamily="34" charset="-120"/>
              </a:rPr>
              <a:t>About, Contact, 404
</a:t>
            </a:r>
            <a:endParaRPr lang="en-US" sz="1150" dirty="0"/>
          </a:p>
          <a:p>
            <a:pPr indent="0" marL="0">
              <a:buNone/>
            </a:pPr>
            <a:r>
              <a:rPr lang="en-US" sz="930" dirty="0">
                <a:solidFill>
                  <a:srgbClr val="D7ECE1"/>
                </a:solidFill>
                <a:latin typeface="Calibri" pitchFamily="34" charset="0"/>
                <a:ea typeface="Calibri" pitchFamily="34" charset="-122"/>
                <a:cs typeface="Calibri" pitchFamily="34" charset="-120"/>
              </a:rPr>
              <a:t>Supporting pages, fully responsive, with loading/error states throughout</a:t>
            </a:r>
            <a:endParaRPr lang="en-US" sz="1150" dirty="0"/>
          </a:p>
        </p:txBody>
      </p:sp>
      <p:sp>
        <p:nvSpPr>
          <p:cNvPr id="34" name="Text 25"/>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9FC9B3"/>
                </a:solidFill>
                <a:latin typeface="Calibri" pitchFamily="34" charset="0"/>
                <a:ea typeface="Calibri" pitchFamily="34" charset="-122"/>
                <a:cs typeface="Calibri" pitchFamily="34" charset="-120"/>
              </a:rPr>
              <a:t>GreenCycle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250" b="1" spc="200" kern="0" dirty="0">
                <a:solidFill>
                  <a:srgbClr val="2E7D5B"/>
                </a:solidFill>
                <a:latin typeface="Calibri" pitchFamily="34" charset="0"/>
                <a:ea typeface="Calibri" pitchFamily="34" charset="-122"/>
                <a:cs typeface="Calibri" pitchFamily="34" charset="-120"/>
              </a:rPr>
              <a:t>FINAL DELIVERABLES</a:t>
            </a:r>
            <a:endParaRPr lang="en-US" sz="1250" dirty="0"/>
          </a:p>
        </p:txBody>
      </p:sp>
      <p:sp>
        <p:nvSpPr>
          <p:cNvPr id="3" name="Text 1"/>
          <p:cNvSpPr/>
          <p:nvPr/>
        </p:nvSpPr>
        <p:spPr>
          <a:xfrm>
            <a:off x="548640" y="658368"/>
            <a:ext cx="10881360" cy="822960"/>
          </a:xfrm>
          <a:prstGeom prst="rect">
            <a:avLst/>
          </a:prstGeom>
          <a:noFill/>
          <a:ln/>
        </p:spPr>
        <p:txBody>
          <a:bodyPr wrap="square" lIns="0" tIns="0" rIns="0" bIns="0" rtlCol="0" anchor="ctr"/>
          <a:lstStyle/>
          <a:p>
            <a:pPr indent="0" marL="0">
              <a:buNone/>
            </a:pPr>
            <a:r>
              <a:rPr lang="en-US" sz="3000" b="1" dirty="0">
                <a:solidFill>
                  <a:srgbClr val="17261F"/>
                </a:solidFill>
                <a:latin typeface="Cambria" pitchFamily="34" charset="0"/>
                <a:ea typeface="Cambria" pitchFamily="34" charset="-122"/>
                <a:cs typeface="Cambria" pitchFamily="34" charset="-120"/>
              </a:rPr>
              <a:t>What's Delivered — and What's Still Missing</a:t>
            </a:r>
            <a:endParaRPr lang="en-US" sz="3000" dirty="0"/>
          </a:p>
        </p:txBody>
      </p:sp>
      <p:sp>
        <p:nvSpPr>
          <p:cNvPr id="4" name="Shape 2"/>
          <p:cNvSpPr/>
          <p:nvPr/>
        </p:nvSpPr>
        <p:spPr>
          <a:xfrm>
            <a:off x="502920" y="1371600"/>
            <a:ext cx="3611880" cy="1965960"/>
          </a:xfrm>
          <a:prstGeom prst="roundRect">
            <a:avLst>
              <a:gd name="adj" fmla="val 3721"/>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5" name="Shape 3"/>
          <p:cNvSpPr/>
          <p:nvPr/>
        </p:nvSpPr>
        <p:spPr>
          <a:xfrm>
            <a:off x="704088" y="1554480"/>
            <a:ext cx="502920" cy="502920"/>
          </a:xfrm>
          <a:prstGeom prst="ellipse">
            <a:avLst/>
          </a:prstGeom>
          <a:solidFill>
            <a:srgbClr val="1B5E42"/>
          </a:solidFill>
          <a:ln/>
        </p:spPr>
      </p:sp>
      <p:pic>
        <p:nvPicPr>
          <p:cNvPr id="6" name="Image 0" descr="/home/claude/greencycle_deck2/assets/FaCheckCircle_white.png">    </p:cNvPr>
          <p:cNvPicPr>
            <a:picLocks noChangeAspect="1"/>
          </p:cNvPicPr>
          <p:nvPr/>
        </p:nvPicPr>
        <p:blipFill>
          <a:blip r:embed="rId1"/>
          <a:stretch>
            <a:fillRect/>
          </a:stretch>
        </p:blipFill>
        <p:spPr>
          <a:xfrm>
            <a:off x="769468" y="1619860"/>
            <a:ext cx="372161" cy="372161"/>
          </a:xfrm>
          <a:prstGeom prst="rect">
            <a:avLst/>
          </a:prstGeom>
        </p:spPr>
      </p:pic>
      <p:sp>
        <p:nvSpPr>
          <p:cNvPr id="7" name="Text 4"/>
          <p:cNvSpPr/>
          <p:nvPr/>
        </p:nvSpPr>
        <p:spPr>
          <a:xfrm>
            <a:off x="1325880" y="1536192"/>
            <a:ext cx="260604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Working API</a:t>
            </a:r>
            <a:endParaRPr lang="en-US" sz="1250" dirty="0"/>
          </a:p>
        </p:txBody>
      </p:sp>
      <p:sp>
        <p:nvSpPr>
          <p:cNvPr id="8" name="Text 5"/>
          <p:cNvSpPr/>
          <p:nvPr/>
        </p:nvSpPr>
        <p:spPr>
          <a:xfrm>
            <a:off x="704088" y="2212848"/>
            <a:ext cx="3209544" cy="1005840"/>
          </a:xfrm>
          <a:prstGeom prst="rect">
            <a:avLst/>
          </a:prstGeom>
          <a:noFill/>
          <a:ln/>
        </p:spPr>
        <p:txBody>
          <a:bodyPr wrap="square" lIns="0" tIns="0" rIns="0" bIns="0" rtlCol="0" anchor="ctr"/>
          <a:lstStyle/>
          <a:p>
            <a:pPr indent="0" marL="0">
              <a:buNone/>
            </a:pPr>
            <a:r>
              <a:rPr lang="en-US" sz="930" dirty="0">
                <a:solidFill>
                  <a:srgbClr val="5B6F65"/>
                </a:solidFill>
                <a:latin typeface="Calibri" pitchFamily="34" charset="0"/>
                <a:ea typeface="Calibri" pitchFamily="34" charset="-122"/>
                <a:cs typeface="Calibri" pitchFamily="34" charset="-120"/>
              </a:rPr>
              <a:t>4 live FastAPI endpoints (chat, city simulation, pollution &amp; recycling vision analysis), Docker-containerized.</a:t>
            </a:r>
            <a:endParaRPr lang="en-US" sz="930" dirty="0"/>
          </a:p>
        </p:txBody>
      </p:sp>
      <p:sp>
        <p:nvSpPr>
          <p:cNvPr id="9" name="Shape 6"/>
          <p:cNvSpPr/>
          <p:nvPr/>
        </p:nvSpPr>
        <p:spPr>
          <a:xfrm>
            <a:off x="4334256" y="1371600"/>
            <a:ext cx="3611880" cy="1965960"/>
          </a:xfrm>
          <a:prstGeom prst="roundRect">
            <a:avLst>
              <a:gd name="adj" fmla="val 3721"/>
            </a:avLst>
          </a:prstGeom>
          <a:solidFill>
            <a:srgbClr val="FCEAE5"/>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0" name="Shape 7"/>
          <p:cNvSpPr/>
          <p:nvPr/>
        </p:nvSpPr>
        <p:spPr>
          <a:xfrm>
            <a:off x="4535424" y="1554480"/>
            <a:ext cx="502920" cy="502920"/>
          </a:xfrm>
          <a:prstGeom prst="ellipse">
            <a:avLst/>
          </a:prstGeom>
          <a:solidFill>
            <a:srgbClr val="E76F51"/>
          </a:solidFill>
          <a:ln/>
        </p:spPr>
      </p:sp>
      <p:pic>
        <p:nvPicPr>
          <p:cNvPr id="11" name="Image 1" descr="/home/claude/greencycle_deck2/assets/FaTimesCircle_white.png">    </p:cNvPr>
          <p:cNvPicPr>
            <a:picLocks noChangeAspect="1"/>
          </p:cNvPicPr>
          <p:nvPr/>
        </p:nvPicPr>
        <p:blipFill>
          <a:blip r:embed="rId2"/>
          <a:stretch>
            <a:fillRect/>
          </a:stretch>
        </p:blipFill>
        <p:spPr>
          <a:xfrm>
            <a:off x="4600804" y="1619860"/>
            <a:ext cx="372161" cy="372161"/>
          </a:xfrm>
          <a:prstGeom prst="rect">
            <a:avLst/>
          </a:prstGeom>
        </p:spPr>
      </p:pic>
      <p:sp>
        <p:nvSpPr>
          <p:cNvPr id="12" name="Text 8"/>
          <p:cNvSpPr/>
          <p:nvPr/>
        </p:nvSpPr>
        <p:spPr>
          <a:xfrm>
            <a:off x="5157216" y="1536192"/>
            <a:ext cx="260604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GitHub Repository</a:t>
            </a:r>
            <a:endParaRPr lang="en-US" sz="1250" dirty="0"/>
          </a:p>
        </p:txBody>
      </p:sp>
      <p:sp>
        <p:nvSpPr>
          <p:cNvPr id="13" name="Text 9"/>
          <p:cNvSpPr/>
          <p:nvPr/>
        </p:nvSpPr>
        <p:spPr>
          <a:xfrm>
            <a:off x="4535424" y="2212848"/>
            <a:ext cx="3209544" cy="1005840"/>
          </a:xfrm>
          <a:prstGeom prst="rect">
            <a:avLst/>
          </a:prstGeom>
          <a:noFill/>
          <a:ln/>
        </p:spPr>
        <p:txBody>
          <a:bodyPr wrap="square" lIns="0" tIns="0" rIns="0" bIns="0" rtlCol="0" anchor="ctr"/>
          <a:lstStyle/>
          <a:p>
            <a:pPr indent="0" marL="0">
              <a:buNone/>
            </a:pPr>
            <a:r>
              <a:rPr lang="en-US" sz="930" dirty="0">
                <a:solidFill>
                  <a:srgbClr val="5B6F65"/>
                </a:solidFill>
                <a:latin typeface="Calibri" pitchFamily="34" charset="0"/>
                <a:ea typeface="Calibri" pitchFamily="34" charset="-122"/>
                <a:cs typeface="Calibri" pitchFamily="34" charset="-120"/>
              </a:rPr>
              <a:t>No repository URL was included in the provided files — not shown in this deck.</a:t>
            </a:r>
            <a:endParaRPr lang="en-US" sz="930" dirty="0"/>
          </a:p>
        </p:txBody>
      </p:sp>
      <p:sp>
        <p:nvSpPr>
          <p:cNvPr id="14" name="Shape 10"/>
          <p:cNvSpPr/>
          <p:nvPr/>
        </p:nvSpPr>
        <p:spPr>
          <a:xfrm>
            <a:off x="8165592" y="1371600"/>
            <a:ext cx="3611880" cy="1965960"/>
          </a:xfrm>
          <a:prstGeom prst="roundRect">
            <a:avLst>
              <a:gd name="adj" fmla="val 3721"/>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15" name="Shape 11"/>
          <p:cNvSpPr/>
          <p:nvPr/>
        </p:nvSpPr>
        <p:spPr>
          <a:xfrm>
            <a:off x="8366760" y="1554480"/>
            <a:ext cx="502920" cy="502920"/>
          </a:xfrm>
          <a:prstGeom prst="ellipse">
            <a:avLst/>
          </a:prstGeom>
          <a:solidFill>
            <a:srgbClr val="1B5E42"/>
          </a:solidFill>
          <a:ln/>
        </p:spPr>
      </p:sp>
      <p:pic>
        <p:nvPicPr>
          <p:cNvPr id="16" name="Image 2" descr="/home/claude/greencycle_deck2/assets/FaCheckCircle_white.png">    </p:cNvPr>
          <p:cNvPicPr>
            <a:picLocks noChangeAspect="1"/>
          </p:cNvPicPr>
          <p:nvPr/>
        </p:nvPicPr>
        <p:blipFill>
          <a:blip r:embed="rId3"/>
          <a:stretch>
            <a:fillRect/>
          </a:stretch>
        </p:blipFill>
        <p:spPr>
          <a:xfrm>
            <a:off x="8432140" y="1619860"/>
            <a:ext cx="372161" cy="372161"/>
          </a:xfrm>
          <a:prstGeom prst="rect">
            <a:avLst/>
          </a:prstGeom>
        </p:spPr>
      </p:pic>
      <p:sp>
        <p:nvSpPr>
          <p:cNvPr id="17" name="Text 12"/>
          <p:cNvSpPr/>
          <p:nvPr/>
        </p:nvSpPr>
        <p:spPr>
          <a:xfrm>
            <a:off x="8988552" y="1536192"/>
            <a:ext cx="260604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Trained Model(s)</a:t>
            </a:r>
            <a:endParaRPr lang="en-US" sz="1250" dirty="0"/>
          </a:p>
        </p:txBody>
      </p:sp>
      <p:sp>
        <p:nvSpPr>
          <p:cNvPr id="18" name="Text 13"/>
          <p:cNvSpPr/>
          <p:nvPr/>
        </p:nvSpPr>
        <p:spPr>
          <a:xfrm>
            <a:off x="8366760" y="2212848"/>
            <a:ext cx="3209544" cy="1005840"/>
          </a:xfrm>
          <a:prstGeom prst="rect">
            <a:avLst/>
          </a:prstGeom>
          <a:noFill/>
          <a:ln/>
        </p:spPr>
        <p:txBody>
          <a:bodyPr wrap="square" lIns="0" tIns="0" rIns="0" bIns="0" rtlCol="0" anchor="ctr"/>
          <a:lstStyle/>
          <a:p>
            <a:pPr indent="0" marL="0">
              <a:buNone/>
            </a:pPr>
            <a:r>
              <a:rPr lang="en-US" sz="930" dirty="0">
                <a:solidFill>
                  <a:srgbClr val="5B6F65"/>
                </a:solidFill>
                <a:latin typeface="Calibri" pitchFamily="34" charset="0"/>
                <a:ea typeface="Calibri" pitchFamily="34" charset="-122"/>
                <a:cs typeface="Calibri" pitchFamily="34" charset="-120"/>
              </a:rPr>
              <a:t>best_model.pkl + scaler.pkl (Ridge CO2 regressor) and waste_model.pth (MobileNetV2 classifier) — both saved as artifacts.</a:t>
            </a:r>
            <a:endParaRPr lang="en-US" sz="930" dirty="0"/>
          </a:p>
        </p:txBody>
      </p:sp>
      <p:sp>
        <p:nvSpPr>
          <p:cNvPr id="19" name="Shape 14"/>
          <p:cNvSpPr/>
          <p:nvPr/>
        </p:nvSpPr>
        <p:spPr>
          <a:xfrm>
            <a:off x="502920" y="3593592"/>
            <a:ext cx="3611880" cy="1965960"/>
          </a:xfrm>
          <a:prstGeom prst="roundRect">
            <a:avLst>
              <a:gd name="adj" fmla="val 3721"/>
            </a:avLst>
          </a:prstGeom>
          <a:solidFill>
            <a:srgbClr val="FFF6E9"/>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0" name="Shape 15"/>
          <p:cNvSpPr/>
          <p:nvPr/>
        </p:nvSpPr>
        <p:spPr>
          <a:xfrm>
            <a:off x="704088" y="3776472"/>
            <a:ext cx="502920" cy="502920"/>
          </a:xfrm>
          <a:prstGeom prst="ellipse">
            <a:avLst/>
          </a:prstGeom>
          <a:solidFill>
            <a:srgbClr val="C9861A"/>
          </a:solidFill>
          <a:ln/>
        </p:spPr>
      </p:sp>
      <p:pic>
        <p:nvPicPr>
          <p:cNvPr id="21" name="Image 3" descr="/home/claude/greencycle_deck2/assets/FaCogs_white.png">    </p:cNvPr>
          <p:cNvPicPr>
            <a:picLocks noChangeAspect="1"/>
          </p:cNvPicPr>
          <p:nvPr/>
        </p:nvPicPr>
        <p:blipFill>
          <a:blip r:embed="rId4"/>
          <a:stretch>
            <a:fillRect/>
          </a:stretch>
        </p:blipFill>
        <p:spPr>
          <a:xfrm>
            <a:off x="769468" y="3841852"/>
            <a:ext cx="372161" cy="372161"/>
          </a:xfrm>
          <a:prstGeom prst="rect">
            <a:avLst/>
          </a:prstGeom>
        </p:spPr>
      </p:pic>
      <p:sp>
        <p:nvSpPr>
          <p:cNvPr id="22" name="Text 16"/>
          <p:cNvSpPr/>
          <p:nvPr/>
        </p:nvSpPr>
        <p:spPr>
          <a:xfrm>
            <a:off x="1325880" y="3758184"/>
            <a:ext cx="260604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MLOps Tool Used</a:t>
            </a:r>
            <a:endParaRPr lang="en-US" sz="1250" dirty="0"/>
          </a:p>
        </p:txBody>
      </p:sp>
      <p:sp>
        <p:nvSpPr>
          <p:cNvPr id="23" name="Text 17"/>
          <p:cNvSpPr/>
          <p:nvPr/>
        </p:nvSpPr>
        <p:spPr>
          <a:xfrm>
            <a:off x="704088" y="4434840"/>
            <a:ext cx="3209544" cy="1005840"/>
          </a:xfrm>
          <a:prstGeom prst="rect">
            <a:avLst/>
          </a:prstGeom>
          <a:noFill/>
          <a:ln/>
        </p:spPr>
        <p:txBody>
          <a:bodyPr wrap="square" lIns="0" tIns="0" rIns="0" bIns="0" rtlCol="0" anchor="ctr"/>
          <a:lstStyle/>
          <a:p>
            <a:pPr indent="0" marL="0">
              <a:buNone/>
            </a:pPr>
            <a:r>
              <a:rPr lang="en-US" sz="930" dirty="0">
                <a:solidFill>
                  <a:srgbClr val="5B6F65"/>
                </a:solidFill>
                <a:latin typeface="Calibri" pitchFamily="34" charset="0"/>
                <a:ea typeface="Calibri" pitchFamily="34" charset="-122"/>
                <a:cs typeface="Calibri" pitchFamily="34" charset="-120"/>
              </a:rPr>
              <a:t>Docker confirmed (Dockerfile provided). No MLflow or other experiment-tracking tool found in any provided file.</a:t>
            </a:r>
            <a:endParaRPr lang="en-US" sz="930" dirty="0"/>
          </a:p>
        </p:txBody>
      </p:sp>
      <p:sp>
        <p:nvSpPr>
          <p:cNvPr id="24" name="Shape 18"/>
          <p:cNvSpPr/>
          <p:nvPr/>
        </p:nvSpPr>
        <p:spPr>
          <a:xfrm>
            <a:off x="4334256" y="3593592"/>
            <a:ext cx="3611880" cy="1965960"/>
          </a:xfrm>
          <a:prstGeom prst="roundRect">
            <a:avLst>
              <a:gd name="adj" fmla="val 3721"/>
            </a:avLst>
          </a:prstGeom>
          <a:solidFill>
            <a:srgbClr val="FFF6E9"/>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25" name="Shape 19"/>
          <p:cNvSpPr/>
          <p:nvPr/>
        </p:nvSpPr>
        <p:spPr>
          <a:xfrm>
            <a:off x="4535424" y="3776472"/>
            <a:ext cx="502920" cy="502920"/>
          </a:xfrm>
          <a:prstGeom prst="ellipse">
            <a:avLst/>
          </a:prstGeom>
          <a:solidFill>
            <a:srgbClr val="C9861A"/>
          </a:solidFill>
          <a:ln/>
        </p:spPr>
      </p:sp>
      <p:pic>
        <p:nvPicPr>
          <p:cNvPr id="26" name="Image 4" descr="/home/claude/greencycle_deck2/assets/FaCheckCircle_white.png">    </p:cNvPr>
          <p:cNvPicPr>
            <a:picLocks noChangeAspect="1"/>
          </p:cNvPicPr>
          <p:nvPr/>
        </p:nvPicPr>
        <p:blipFill>
          <a:blip r:embed="rId5"/>
          <a:stretch>
            <a:fillRect/>
          </a:stretch>
        </p:blipFill>
        <p:spPr>
          <a:xfrm>
            <a:off x="4600804" y="3841852"/>
            <a:ext cx="372161" cy="372161"/>
          </a:xfrm>
          <a:prstGeom prst="rect">
            <a:avLst/>
          </a:prstGeom>
        </p:spPr>
      </p:pic>
      <p:sp>
        <p:nvSpPr>
          <p:cNvPr id="27" name="Text 20"/>
          <p:cNvSpPr/>
          <p:nvPr/>
        </p:nvSpPr>
        <p:spPr>
          <a:xfrm>
            <a:off x="5157216" y="3758184"/>
            <a:ext cx="260604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Dataset Access URL</a:t>
            </a:r>
            <a:endParaRPr lang="en-US" sz="1250" dirty="0"/>
          </a:p>
        </p:txBody>
      </p:sp>
      <p:sp>
        <p:nvSpPr>
          <p:cNvPr id="28" name="Text 21"/>
          <p:cNvSpPr/>
          <p:nvPr/>
        </p:nvSpPr>
        <p:spPr>
          <a:xfrm>
            <a:off x="4535424" y="4434840"/>
            <a:ext cx="3209544" cy="1005840"/>
          </a:xfrm>
          <a:prstGeom prst="rect">
            <a:avLst/>
          </a:prstGeom>
          <a:noFill/>
          <a:ln/>
        </p:spPr>
        <p:txBody>
          <a:bodyPr wrap="square" lIns="0" tIns="0" rIns="0" bIns="0" rtlCol="0" anchor="ctr"/>
          <a:lstStyle/>
          <a:p>
            <a:pPr indent="0" marL="0">
              <a:buNone/>
            </a:pPr>
            <a:r>
              <a:rPr lang="en-US" sz="930" dirty="0">
                <a:solidFill>
                  <a:srgbClr val="5B6F65"/>
                </a:solidFill>
                <a:latin typeface="Calibri" pitchFamily="34" charset="0"/>
                <a:ea typeface="Calibri" pitchFamily="34" charset="-122"/>
                <a:cs typeface="Calibri" pitchFamily="34" charset="-120"/>
              </a:rPr>
              <a:t>OWID CO2 dataset (public) + mismanaged-plastic-waste-per-capita (OWID, confirmed). Other dataset origins are unconfirmed (see slide 4-5).</a:t>
            </a:r>
            <a:endParaRPr lang="en-US" sz="930" dirty="0"/>
          </a:p>
        </p:txBody>
      </p:sp>
      <p:sp>
        <p:nvSpPr>
          <p:cNvPr id="29" name="Shape 22"/>
          <p:cNvSpPr/>
          <p:nvPr/>
        </p:nvSpPr>
        <p:spPr>
          <a:xfrm>
            <a:off x="8165592" y="3593592"/>
            <a:ext cx="3611880" cy="1965960"/>
          </a:xfrm>
          <a:prstGeom prst="roundRect">
            <a:avLst>
              <a:gd name="adj" fmla="val 3721"/>
            </a:avLst>
          </a:prstGeom>
          <a:solidFill>
            <a:srgbClr val="FCEAE5"/>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30" name="Shape 23"/>
          <p:cNvSpPr/>
          <p:nvPr/>
        </p:nvSpPr>
        <p:spPr>
          <a:xfrm>
            <a:off x="8366760" y="3776472"/>
            <a:ext cx="502920" cy="502920"/>
          </a:xfrm>
          <a:prstGeom prst="ellipse">
            <a:avLst/>
          </a:prstGeom>
          <a:solidFill>
            <a:srgbClr val="E76F51"/>
          </a:solidFill>
          <a:ln/>
        </p:spPr>
      </p:sp>
      <p:pic>
        <p:nvPicPr>
          <p:cNvPr id="31" name="Image 5" descr="/home/claude/greencycle_deck2/assets/FaTimesCircle_white.png">    </p:cNvPr>
          <p:cNvPicPr>
            <a:picLocks noChangeAspect="1"/>
          </p:cNvPicPr>
          <p:nvPr/>
        </p:nvPicPr>
        <p:blipFill>
          <a:blip r:embed="rId6"/>
          <a:stretch>
            <a:fillRect/>
          </a:stretch>
        </p:blipFill>
        <p:spPr>
          <a:xfrm>
            <a:off x="8432140" y="3841852"/>
            <a:ext cx="372161" cy="372161"/>
          </a:xfrm>
          <a:prstGeom prst="rect">
            <a:avLst/>
          </a:prstGeom>
        </p:spPr>
      </p:pic>
      <p:sp>
        <p:nvSpPr>
          <p:cNvPr id="32" name="Text 24"/>
          <p:cNvSpPr/>
          <p:nvPr/>
        </p:nvSpPr>
        <p:spPr>
          <a:xfrm>
            <a:off x="8988552" y="3758184"/>
            <a:ext cx="2606040" cy="594360"/>
          </a:xfrm>
          <a:prstGeom prst="rect">
            <a:avLst/>
          </a:prstGeom>
          <a:noFill/>
          <a:ln/>
        </p:spPr>
        <p:txBody>
          <a:bodyPr wrap="square" lIns="0" tIns="0" rIns="0" bIns="0" rtlCol="0" anchor="ctr"/>
          <a:lstStyle/>
          <a:p>
            <a:pPr indent="0" marL="0">
              <a:buNone/>
            </a:pPr>
            <a:r>
              <a:rPr lang="en-US" sz="1250" b="1" dirty="0">
                <a:solidFill>
                  <a:srgbClr val="17261F"/>
                </a:solidFill>
                <a:latin typeface="Cambria" pitchFamily="34" charset="0"/>
                <a:ea typeface="Cambria" pitchFamily="34" charset="-122"/>
                <a:cs typeface="Cambria" pitchFamily="34" charset="-120"/>
              </a:rPr>
              <a:t>Final Report / Documentation</a:t>
            </a:r>
            <a:endParaRPr lang="en-US" sz="1250" dirty="0"/>
          </a:p>
        </p:txBody>
      </p:sp>
      <p:sp>
        <p:nvSpPr>
          <p:cNvPr id="33" name="Text 25"/>
          <p:cNvSpPr/>
          <p:nvPr/>
        </p:nvSpPr>
        <p:spPr>
          <a:xfrm>
            <a:off x="8366760" y="4434840"/>
            <a:ext cx="3209544" cy="1005840"/>
          </a:xfrm>
          <a:prstGeom prst="rect">
            <a:avLst/>
          </a:prstGeom>
          <a:noFill/>
          <a:ln/>
        </p:spPr>
        <p:txBody>
          <a:bodyPr wrap="square" lIns="0" tIns="0" rIns="0" bIns="0" rtlCol="0" anchor="ctr"/>
          <a:lstStyle/>
          <a:p>
            <a:pPr indent="0" marL="0">
              <a:buNone/>
            </a:pPr>
            <a:r>
              <a:rPr lang="en-US" sz="930" dirty="0">
                <a:solidFill>
                  <a:srgbClr val="5B6F65"/>
                </a:solidFill>
                <a:latin typeface="Calibri" pitchFamily="34" charset="0"/>
                <a:ea typeface="Calibri" pitchFamily="34" charset="-122"/>
                <a:cs typeface="Calibri" pitchFamily="34" charset="-120"/>
              </a:rPr>
              <a:t>No standalone project report or documentation file was included — this deck is the primary technical summary available.</a:t>
            </a:r>
            <a:endParaRPr lang="en-US" sz="930" dirty="0"/>
          </a:p>
        </p:txBody>
      </p:sp>
      <p:sp>
        <p:nvSpPr>
          <p:cNvPr id="34" name="Shape 26"/>
          <p:cNvSpPr/>
          <p:nvPr/>
        </p:nvSpPr>
        <p:spPr>
          <a:xfrm>
            <a:off x="502920" y="5486400"/>
            <a:ext cx="11201400" cy="960120"/>
          </a:xfrm>
          <a:prstGeom prst="roundRect">
            <a:avLst>
              <a:gd name="adj" fmla="val 7619"/>
            </a:avLst>
          </a:prstGeom>
          <a:solidFill>
            <a:srgbClr val="EAF5EE"/>
          </a:solidFill>
          <a:ln w="9525">
            <a:solidFill>
              <a:srgbClr val="DCE8E1"/>
            </a:solidFill>
            <a:prstDash val="solid"/>
          </a:ln>
          <a:effectLst>
            <a:outerShdw sx="100000" sy="100000" kx="0" ky="0" algn="bl" rotWithShape="0" blurRad="101600" dist="38100" dir="5400000">
              <a:srgbClr val="0F3D2E">
                <a:alpha val="12000"/>
              </a:srgbClr>
            </a:outerShdw>
          </a:effectLst>
        </p:spPr>
      </p:sp>
      <p:sp>
        <p:nvSpPr>
          <p:cNvPr id="35" name="Text 27"/>
          <p:cNvSpPr/>
          <p:nvPr/>
        </p:nvSpPr>
        <p:spPr>
          <a:xfrm>
            <a:off x="777240" y="5650992"/>
            <a:ext cx="10607040" cy="640080"/>
          </a:xfrm>
          <a:prstGeom prst="rect">
            <a:avLst/>
          </a:prstGeom>
          <a:noFill/>
          <a:ln/>
        </p:spPr>
        <p:txBody>
          <a:bodyPr wrap="square" lIns="0" tIns="0" rIns="0" bIns="0" rtlCol="0" anchor="ctr"/>
          <a:lstStyle/>
          <a:p>
            <a:pPr indent="0" marL="0">
              <a:buNone/>
            </a:pPr>
            <a:r>
              <a:rPr lang="en-US" sz="1030" i="1" dirty="0">
                <a:solidFill>
                  <a:srgbClr val="17261F"/>
                </a:solidFill>
                <a:latin typeface="Calibri" pitchFamily="34" charset="0"/>
                <a:ea typeface="Calibri" pitchFamily="34" charset="-122"/>
                <a:cs typeface="Calibri" pitchFamily="34" charset="-120"/>
              </a:rPr>
              <a:t>Bonus deliverable (beyond the required list): a complete Next.js frontend — 7 connected pages, wired to all 4 live API endpoints, verified to build and run without errors.</a:t>
            </a:r>
            <a:endParaRPr lang="en-US" sz="1030" dirty="0"/>
          </a:p>
        </p:txBody>
      </p:sp>
      <p:sp>
        <p:nvSpPr>
          <p:cNvPr id="36" name="Text 28"/>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5B6F65"/>
                </a:solidFill>
                <a:latin typeface="Calibri" pitchFamily="34" charset="0"/>
                <a:ea typeface="Calibri" pitchFamily="34" charset="-122"/>
                <a:cs typeface="Calibri" pitchFamily="34" charset="-120"/>
              </a:rPr>
              <a:t>GreenCycle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3D2E"/>
        </a:solidFill>
      </p:bgPr>
    </p:bg>
    <p:spTree>
      <p:nvGrpSpPr>
        <p:cNvPr id="1" name=""/>
        <p:cNvGrpSpPr/>
        <p:nvPr/>
      </p:nvGrpSpPr>
      <p:grpSpPr>
        <a:xfrm>
          <a:off x="0" y="0"/>
          <a:ext cx="0" cy="0"/>
          <a:chOff x="0" y="0"/>
          <a:chExt cx="0" cy="0"/>
        </a:xfrm>
      </p:grpSpPr>
      <p:sp>
        <p:nvSpPr>
          <p:cNvPr id="2" name="Shape 0"/>
          <p:cNvSpPr/>
          <p:nvPr/>
        </p:nvSpPr>
        <p:spPr>
          <a:xfrm>
            <a:off x="8778240" y="-2103120"/>
            <a:ext cx="5943600" cy="5943600"/>
          </a:xfrm>
          <a:prstGeom prst="ellipse">
            <a:avLst/>
          </a:prstGeom>
          <a:solidFill>
            <a:srgbClr val="2E7D5B">
              <a:alpha val="22000"/>
            </a:srgbClr>
          </a:solidFill>
          <a:ln/>
        </p:spPr>
      </p:sp>
      <p:sp>
        <p:nvSpPr>
          <p:cNvPr id="3" name="Shape 1"/>
          <p:cNvSpPr/>
          <p:nvPr/>
        </p:nvSpPr>
        <p:spPr>
          <a:xfrm>
            <a:off x="-2377440" y="3840480"/>
            <a:ext cx="5120640" cy="5120640"/>
          </a:xfrm>
          <a:prstGeom prst="ellipse">
            <a:avLst/>
          </a:prstGeom>
          <a:solidFill>
            <a:srgbClr val="8FD9B6">
              <a:alpha val="12000"/>
            </a:srgbClr>
          </a:solidFill>
          <a:ln/>
        </p:spPr>
      </p:sp>
      <p:sp>
        <p:nvSpPr>
          <p:cNvPr id="4" name="Shape 2"/>
          <p:cNvSpPr/>
          <p:nvPr/>
        </p:nvSpPr>
        <p:spPr>
          <a:xfrm>
            <a:off x="5591556" y="1737360"/>
            <a:ext cx="1005840" cy="1005840"/>
          </a:xfrm>
          <a:prstGeom prst="ellipse">
            <a:avLst/>
          </a:prstGeom>
          <a:solidFill>
            <a:srgbClr val="1B5E42"/>
          </a:solidFill>
          <a:ln/>
        </p:spPr>
      </p:sp>
      <p:pic>
        <p:nvPicPr>
          <p:cNvPr id="5" name="Image 0" descr="/home/claude/greencycle_deck2/assets/FaQuestionCircle_white.png">    </p:cNvPr>
          <p:cNvPicPr>
            <a:picLocks noChangeAspect="1"/>
          </p:cNvPicPr>
          <p:nvPr/>
        </p:nvPicPr>
        <p:blipFill>
          <a:blip r:embed="rId1"/>
          <a:stretch>
            <a:fillRect/>
          </a:stretch>
        </p:blipFill>
        <p:spPr>
          <a:xfrm>
            <a:off x="5722315" y="1868119"/>
            <a:ext cx="744322" cy="744322"/>
          </a:xfrm>
          <a:prstGeom prst="rect">
            <a:avLst/>
          </a:prstGeom>
        </p:spPr>
      </p:pic>
      <p:sp>
        <p:nvSpPr>
          <p:cNvPr id="6" name="Text 3"/>
          <p:cNvSpPr/>
          <p:nvPr/>
        </p:nvSpPr>
        <p:spPr>
          <a:xfrm>
            <a:off x="0" y="2971800"/>
            <a:ext cx="12188952"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7" name="Text 4"/>
          <p:cNvSpPr/>
          <p:nvPr/>
        </p:nvSpPr>
        <p:spPr>
          <a:xfrm>
            <a:off x="0" y="3794760"/>
            <a:ext cx="12188952" cy="457200"/>
          </a:xfrm>
          <a:prstGeom prst="rect">
            <a:avLst/>
          </a:prstGeom>
          <a:noFill/>
          <a:ln/>
        </p:spPr>
        <p:txBody>
          <a:bodyPr wrap="square" lIns="0" tIns="0" rIns="0" bIns="0" rtlCol="0" anchor="ctr"/>
          <a:lstStyle/>
          <a:p>
            <a:pPr algn="ctr" indent="0" marL="0">
              <a:buNone/>
            </a:pPr>
            <a:r>
              <a:rPr lang="en-US" sz="1800" i="1" dirty="0">
                <a:solidFill>
                  <a:srgbClr val="8FD9B6"/>
                </a:solidFill>
                <a:latin typeface="Calibri" pitchFamily="34" charset="0"/>
                <a:ea typeface="Calibri" pitchFamily="34" charset="-122"/>
                <a:cs typeface="Calibri" pitchFamily="34" charset="-120"/>
              </a:rPr>
              <a:t>Questions &amp; Discussion</a:t>
            </a:r>
            <a:endParaRPr lang="en-US" sz="1800" dirty="0"/>
          </a:p>
        </p:txBody>
      </p:sp>
      <p:sp>
        <p:nvSpPr>
          <p:cNvPr id="8" name="Text 5"/>
          <p:cNvSpPr/>
          <p:nvPr/>
        </p:nvSpPr>
        <p:spPr>
          <a:xfrm>
            <a:off x="548640" y="6263640"/>
            <a:ext cx="11064240" cy="365760"/>
          </a:xfrm>
          <a:prstGeom prst="rect">
            <a:avLst/>
          </a:prstGeom>
          <a:noFill/>
          <a:ln/>
        </p:spPr>
        <p:txBody>
          <a:bodyPr wrap="square" lIns="0" tIns="0" rIns="0" bIns="0" rtlCol="0" anchor="ctr"/>
          <a:lstStyle/>
          <a:p>
            <a:pPr algn="ctr" indent="0" marL="0">
              <a:buNone/>
            </a:pPr>
            <a:r>
              <a:rPr lang="en-US" sz="1050" dirty="0">
                <a:solidFill>
                  <a:srgbClr val="7FAF98"/>
                </a:solidFill>
                <a:latin typeface="Calibri" pitchFamily="34" charset="0"/>
                <a:ea typeface="Calibri" pitchFamily="34" charset="-122"/>
                <a:cs typeface="Calibri" pitchFamily="34" charset="-120"/>
              </a:rPr>
              <a:t>GreenCycle  ·  Ziad Omran · Abdelrahman Kewan · Mostafa Shalan · Mahmoud Amer · Sohila Ihab · Shaza Beder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GreenCycle — Technical Project Review</dc:title>
  <dc:subject>PptxGenJS Presentation</dc:subject>
  <dc:creator>GreenCycle Team</dc:creator>
  <cp:lastModifiedBy>GreenCycle Team</cp:lastModifiedBy>
  <cp:revision>1</cp:revision>
  <dcterms:created xsi:type="dcterms:W3CDTF">2026-07-10T21:25:58Z</dcterms:created>
  <dcterms:modified xsi:type="dcterms:W3CDTF">2026-07-10T21:25:58Z</dcterms:modified>
</cp:coreProperties>
</file>